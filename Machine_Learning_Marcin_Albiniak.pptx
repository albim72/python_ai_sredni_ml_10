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3.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4.xml" ContentType="application/vnd.openxmlformats-officedocument.drawingml.chart+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5.xml" ContentType="application/vnd.openxmlformats-officedocument.drawingml.chart+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harts/chart6.xml" ContentType="application/vnd.openxmlformats-officedocument.drawingml.chart+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rts/chart7.xml" ContentType="application/vnd.openxmlformats-officedocument.drawingml.chart+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pl-PL"/>
  <c:roundedCorners val="1"/>
  <c:style val="2"/>
  <c:chart>
    <c:autoTitleDeleted val="1"/>
    <c:plotArea>
      <c:layout/>
      <c:lineChart>
        <c:grouping val="standard"/>
        <c:varyColors val="0"/>
        <c:ser>
          <c:idx val="0"/>
          <c:order val="0"/>
          <c:tx>
            <c:v>p(y = 1)</c:v>
          </c:tx>
          <c:spPr>
            <a:ln w="28575">
              <a:solidFill>
                <a:srgbClr val="007F7A"/>
              </a:solidFill>
            </a:ln>
          </c:spPr>
          <c:marker>
            <c:symbol val="circle"/>
            <c:size val="5"/>
          </c:marker>
          <c:cat>
            <c:numRef>
              <c:f>'Chart Data'!$A$2:$A$14</c:f>
              <c:numCache>
                <c:formatCode>General</c:formatCode>
                <c:ptCount val="13"/>
                <c:pt idx="0">
                  <c:v>-6</c:v>
                </c:pt>
                <c:pt idx="1">
                  <c:v>-5</c:v>
                </c:pt>
                <c:pt idx="2">
                  <c:v>-4</c:v>
                </c:pt>
                <c:pt idx="3">
                  <c:v>-3</c:v>
                </c:pt>
                <c:pt idx="4">
                  <c:v>-2</c:v>
                </c:pt>
                <c:pt idx="5">
                  <c:v>-1</c:v>
                </c:pt>
                <c:pt idx="6">
                  <c:v>0</c:v>
                </c:pt>
                <c:pt idx="7">
                  <c:v>1</c:v>
                </c:pt>
                <c:pt idx="8">
                  <c:v>2</c:v>
                </c:pt>
                <c:pt idx="9">
                  <c:v>3</c:v>
                </c:pt>
                <c:pt idx="10">
                  <c:v>4</c:v>
                </c:pt>
                <c:pt idx="11">
                  <c:v>5</c:v>
                </c:pt>
                <c:pt idx="12">
                  <c:v>6</c:v>
                </c:pt>
              </c:numCache>
            </c:numRef>
          </c:cat>
          <c:val>
            <c:numRef>
              <c:f>'Chart Data'!$B$2:$B$14</c:f>
              <c:numCache>
                <c:formatCode>0.0</c:formatCode>
                <c:ptCount val="13"/>
                <c:pt idx="0">
                  <c:v>2.5000000000000001E-3</c:v>
                </c:pt>
                <c:pt idx="1">
                  <c:v>6.7000000000000002E-3</c:v>
                </c:pt>
                <c:pt idx="2">
                  <c:v>1.7999999999999999E-2</c:v>
                </c:pt>
                <c:pt idx="3">
                  <c:v>4.7399999999999998E-2</c:v>
                </c:pt>
                <c:pt idx="4">
                  <c:v>0.1192</c:v>
                </c:pt>
                <c:pt idx="5">
                  <c:v>0.26889999999999997</c:v>
                </c:pt>
                <c:pt idx="6">
                  <c:v>0.5</c:v>
                </c:pt>
                <c:pt idx="7">
                  <c:v>0.73109999999999997</c:v>
                </c:pt>
                <c:pt idx="8">
                  <c:v>0.88080000000000003</c:v>
                </c:pt>
                <c:pt idx="9">
                  <c:v>0.9526</c:v>
                </c:pt>
                <c:pt idx="10">
                  <c:v>0.98199999999999998</c:v>
                </c:pt>
                <c:pt idx="11">
                  <c:v>0.99329999999999996</c:v>
                </c:pt>
                <c:pt idx="12">
                  <c:v>0.99750000000000005</c:v>
                </c:pt>
              </c:numCache>
            </c:numRef>
          </c:val>
          <c:smooth val="0"/>
          <c:extLst>
            <c:ext xmlns:c16="http://schemas.microsoft.com/office/drawing/2014/chart" uri="{C3380CC4-5D6E-409C-BE32-E72D297353CC}">
              <c16:uniqueId val="{00000000-F9E9-474A-96AB-7CC3359D425C}"/>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a:latin typeface="Nimbus Sans"/>
                    <a:ea typeface="Nimbus Sans"/>
                    <a:cs typeface="Nimbus Sans"/>
                  </a:rPr>
                  <a:t>Wynik liniowy z</a:t>
                </a:r>
              </a:p>
            </c:rich>
          </c:tx>
          <c:overlay val="0"/>
        </c:title>
        <c:numFmt formatCode="General" sourceLinked="1"/>
        <c:majorTickMark val="none"/>
        <c:minorTickMark val="none"/>
        <c:tickLblPos val="nextTo"/>
        <c:spPr>
          <a:ln w="9525">
            <a:solidFill>
              <a:srgbClr val="DCE3E4"/>
            </a:solidFill>
          </a:ln>
        </c:spPr>
        <c:txPr>
          <a:bodyPr anchorCtr="1"/>
          <a:lstStyle/>
          <a:p>
            <a:pPr>
              <a:defRPr sz="1275">
                <a:solidFill>
                  <a:srgbClr val="586779"/>
                </a:solidFill>
                <a:latin typeface="Nimbus Sans"/>
                <a:ea typeface="Nimbus Sans"/>
                <a:cs typeface="Nimbus Sans"/>
              </a:defRPr>
            </a:pPr>
            <a:endParaRPr lang="pl-PL"/>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CE3E4"/>
              </a:solidFill>
            </a:ln>
          </c:spPr>
        </c:majorGridlines>
        <c:title>
          <c:tx>
            <c:rich>
              <a:bodyPr/>
              <a:lstStyle/>
              <a:p>
                <a:r>
                  <a:rPr>
                    <a:latin typeface="Nimbus Sans"/>
                    <a:ea typeface="Nimbus Sans"/>
                    <a:cs typeface="Nimbus Sans"/>
                  </a:rPr>
                  <a:t>Prawdopodobieństwo</a:t>
                </a:r>
              </a:p>
            </c:rich>
          </c:tx>
          <c:overlay val="0"/>
        </c:title>
        <c:numFmt formatCode="0.0" sourceLinked="1"/>
        <c:majorTickMark val="none"/>
        <c:minorTickMark val="none"/>
        <c:tickLblPos val="nextTo"/>
        <c:spPr>
          <a:ln w="0">
            <a:noFill/>
          </a:ln>
        </c:spPr>
        <c:txPr>
          <a:bodyPr anchorCtr="1"/>
          <a:lstStyle/>
          <a:p>
            <a:pPr>
              <a:defRPr sz="1275">
                <a:solidFill>
                  <a:srgbClr val="586779"/>
                </a:solidFill>
                <a:latin typeface="Nimbus Sans"/>
                <a:ea typeface="Nimbus Sans"/>
                <a:cs typeface="Nimbus Sans"/>
              </a:defRPr>
            </a:pPr>
            <a:endParaRPr lang="pl-PL"/>
          </a:p>
        </c:txPr>
        <c:crossAx val="48650112"/>
        <c:crosses val="autoZero"/>
        <c:crossBetween val="between"/>
      </c:valAx>
      <c:spPr>
        <a:solidFill>
          <a:srgbClr val="F7F8F6"/>
        </a:solidFill>
      </c:spPr>
    </c:plotArea>
    <c:legend>
      <c:legendPos val="b"/>
      <c:overlay val="0"/>
      <c:txPr>
        <a:bodyPr anchorCtr="1"/>
        <a:lstStyle/>
        <a:p>
          <a:pPr>
            <a:defRPr sz="1350">
              <a:solidFill>
                <a:srgbClr val="17243A"/>
              </a:solidFill>
              <a:latin typeface="Nimbus Sans"/>
              <a:ea typeface="Nimbus Sans"/>
              <a:cs typeface="Nimbus Sans"/>
            </a:defRPr>
          </a:pPr>
          <a:endParaRPr lang="pl-PL"/>
        </a:p>
      </c:txPr>
    </c:legend>
    <c:plotVisOnly val="1"/>
    <c:dispBlanksAs val="zero"/>
    <c:showDLblsOverMax val="1"/>
  </c:chart>
  <c:spPr>
    <a:solidFill>
      <a:srgbClr val="F7F8F6"/>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pl-PL"/>
  <c:roundedCorners val="1"/>
  <c:style val="2"/>
  <c:chart>
    <c:autoTitleDeleted val="1"/>
    <c:plotArea>
      <c:layout/>
      <c:lineChart>
        <c:grouping val="standard"/>
        <c:varyColors val="0"/>
        <c:ser>
          <c:idx val="0"/>
          <c:order val="0"/>
          <c:tx>
            <c:v>Inertia</c:v>
          </c:tx>
          <c:spPr>
            <a:ln w="28575">
              <a:solidFill>
                <a:srgbClr val="007F7A"/>
              </a:solidFill>
            </a:ln>
          </c:spPr>
          <c:marker>
            <c:symbol val="circle"/>
            <c:size val="5"/>
          </c:marker>
          <c:cat>
            <c:numRef>
              <c:f>'Chart Data'!$A$2:$A$8</c:f>
              <c:numCache>
                <c:formatCode>General</c:formatCode>
                <c:ptCount val="7"/>
                <c:pt idx="0">
                  <c:v>2</c:v>
                </c:pt>
                <c:pt idx="1">
                  <c:v>3</c:v>
                </c:pt>
                <c:pt idx="2">
                  <c:v>4</c:v>
                </c:pt>
                <c:pt idx="3">
                  <c:v>5</c:v>
                </c:pt>
                <c:pt idx="4">
                  <c:v>6</c:v>
                </c:pt>
                <c:pt idx="5">
                  <c:v>7</c:v>
                </c:pt>
                <c:pt idx="6">
                  <c:v>8</c:v>
                </c:pt>
              </c:numCache>
            </c:numRef>
          </c:cat>
          <c:val>
            <c:numRef>
              <c:f>'Chart Data'!$B$2:$B$8</c:f>
              <c:numCache>
                <c:formatCode>0</c:formatCode>
                <c:ptCount val="7"/>
                <c:pt idx="0">
                  <c:v>880</c:v>
                </c:pt>
                <c:pt idx="1">
                  <c:v>510</c:v>
                </c:pt>
                <c:pt idx="2">
                  <c:v>335</c:v>
                </c:pt>
                <c:pt idx="3">
                  <c:v>285</c:v>
                </c:pt>
                <c:pt idx="4">
                  <c:v>252</c:v>
                </c:pt>
                <c:pt idx="5">
                  <c:v>228</c:v>
                </c:pt>
                <c:pt idx="6">
                  <c:v>210</c:v>
                </c:pt>
              </c:numCache>
            </c:numRef>
          </c:val>
          <c:smooth val="0"/>
          <c:extLst>
            <c:ext xmlns:c16="http://schemas.microsoft.com/office/drawing/2014/chart" uri="{C3380CC4-5D6E-409C-BE32-E72D297353CC}">
              <c16:uniqueId val="{00000000-81C0-43C9-960E-15BBF7BC91D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pl-PL">
                    <a:latin typeface="Nimbus Sans"/>
                    <a:ea typeface="Nimbus Sans"/>
                    <a:cs typeface="Nimbus Sans"/>
                  </a:rPr>
                  <a:t>Liczba klastrów k</a:t>
                </a:r>
              </a:p>
            </c:rich>
          </c:tx>
          <c:overlay val="0"/>
        </c:title>
        <c:numFmt formatCode="General" sourceLinked="1"/>
        <c:majorTickMark val="none"/>
        <c:minorTickMark val="none"/>
        <c:tickLblPos val="nextTo"/>
        <c:spPr>
          <a:ln w="9525">
            <a:solidFill>
              <a:srgbClr val="DCE3E4"/>
            </a:solidFill>
          </a:ln>
        </c:spPr>
        <c:txPr>
          <a:bodyPr anchorCtr="1"/>
          <a:lstStyle/>
          <a:p>
            <a:pPr>
              <a:defRPr sz="1275">
                <a:solidFill>
                  <a:srgbClr val="586779"/>
                </a:solidFill>
                <a:latin typeface="Nimbus Sans"/>
                <a:ea typeface="Nimbus Sans"/>
                <a:cs typeface="Nimbus Sans"/>
              </a:defRPr>
            </a:pPr>
            <a:endParaRPr lang="pl-PL"/>
          </a:p>
        </c:txPr>
        <c:crossAx val="48672768"/>
        <c:crosses val="autoZero"/>
        <c:auto val="1"/>
        <c:lblAlgn val="ctr"/>
        <c:lblOffset val="100"/>
        <c:noMultiLvlLbl val="1"/>
      </c:catAx>
      <c:valAx>
        <c:axId val="48672768"/>
        <c:scaling>
          <c:orientation val="minMax"/>
        </c:scaling>
        <c:delete val="0"/>
        <c:axPos val="l"/>
        <c:majorGridlines>
          <c:spPr>
            <a:ln w="9525">
              <a:solidFill>
                <a:srgbClr val="DCE3E4"/>
              </a:solidFill>
            </a:ln>
          </c:spPr>
        </c:majorGridlines>
        <c:title>
          <c:tx>
            <c:rich>
              <a:bodyPr/>
              <a:lstStyle/>
              <a:p>
                <a:r>
                  <a:rPr lang="pl-PL">
                    <a:latin typeface="Nimbus Sans"/>
                    <a:ea typeface="Nimbus Sans"/>
                    <a:cs typeface="Nimbus Sans"/>
                  </a:rPr>
                  <a:t>Suma kwadratów odległości</a:t>
                </a:r>
              </a:p>
            </c:rich>
          </c:tx>
          <c:overlay val="0"/>
        </c:title>
        <c:numFmt formatCode="0" sourceLinked="1"/>
        <c:majorTickMark val="none"/>
        <c:minorTickMark val="none"/>
        <c:tickLblPos val="nextTo"/>
        <c:spPr>
          <a:ln w="0">
            <a:noFill/>
          </a:ln>
        </c:spPr>
        <c:txPr>
          <a:bodyPr anchorCtr="1"/>
          <a:lstStyle/>
          <a:p>
            <a:pPr>
              <a:defRPr sz="1275">
                <a:solidFill>
                  <a:srgbClr val="586779"/>
                </a:solidFill>
                <a:latin typeface="Nimbus Sans"/>
                <a:ea typeface="Nimbus Sans"/>
                <a:cs typeface="Nimbus Sans"/>
              </a:defRPr>
            </a:pPr>
            <a:endParaRPr lang="pl-PL"/>
          </a:p>
        </c:txPr>
        <c:crossAx val="48650112"/>
        <c:crosses val="autoZero"/>
        <c:crossBetween val="between"/>
      </c:valAx>
      <c:spPr>
        <a:solidFill>
          <a:srgbClr val="F7F8F6"/>
        </a:solidFill>
      </c:spPr>
    </c:plotArea>
    <c:legend>
      <c:legendPos val="b"/>
      <c:overlay val="0"/>
      <c:txPr>
        <a:bodyPr anchorCtr="1"/>
        <a:lstStyle/>
        <a:p>
          <a:pPr>
            <a:defRPr sz="1350">
              <a:solidFill>
                <a:srgbClr val="17243A"/>
              </a:solidFill>
              <a:latin typeface="Nimbus Sans"/>
              <a:ea typeface="Nimbus Sans"/>
              <a:cs typeface="Nimbus Sans"/>
            </a:defRPr>
          </a:pPr>
          <a:endParaRPr lang="pl-PL"/>
        </a:p>
      </c:txPr>
    </c:legend>
    <c:plotVisOnly val="1"/>
    <c:dispBlanksAs val="zero"/>
    <c:showDLblsOverMax val="1"/>
  </c:chart>
  <c:spPr>
    <a:solidFill>
      <a:srgbClr val="F7F8F6"/>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pl-PL"/>
  <c:roundedCorners val="1"/>
  <c:style val="2"/>
  <c:chart>
    <c:autoTitleDeleted val="1"/>
    <c:plotArea>
      <c:layout/>
      <c:lineChart>
        <c:grouping val="standard"/>
        <c:varyColors val="0"/>
        <c:ser>
          <c:idx val="0"/>
          <c:order val="0"/>
          <c:tx>
            <c:v>Trening</c:v>
          </c:tx>
          <c:spPr>
            <a:ln w="28575">
              <a:solidFill>
                <a:srgbClr val="007F7A"/>
              </a:solidFill>
            </a:ln>
          </c:spPr>
          <c:marker>
            <c:symbol val="circle"/>
            <c:size val="5"/>
          </c:marker>
          <c:cat>
            <c:numRef>
              <c:f>'Chart Data'!$A$2:$A$8</c:f>
              <c:numCache>
                <c:formatCode>General</c:formatCode>
                <c:ptCount val="7"/>
                <c:pt idx="0">
                  <c:v>1</c:v>
                </c:pt>
                <c:pt idx="1">
                  <c:v>2</c:v>
                </c:pt>
                <c:pt idx="2">
                  <c:v>3</c:v>
                </c:pt>
                <c:pt idx="3">
                  <c:v>4</c:v>
                </c:pt>
                <c:pt idx="4">
                  <c:v>6</c:v>
                </c:pt>
                <c:pt idx="5">
                  <c:v>8</c:v>
                </c:pt>
                <c:pt idx="6">
                  <c:v>12</c:v>
                </c:pt>
              </c:numCache>
            </c:numRef>
          </c:cat>
          <c:val>
            <c:numRef>
              <c:f>'Chart Data'!$B$2:$B$8</c:f>
              <c:numCache>
                <c:formatCode>0.0</c:formatCode>
                <c:ptCount val="7"/>
                <c:pt idx="0">
                  <c:v>0.68</c:v>
                </c:pt>
                <c:pt idx="1">
                  <c:v>0.76</c:v>
                </c:pt>
                <c:pt idx="2">
                  <c:v>0.83</c:v>
                </c:pt>
                <c:pt idx="3">
                  <c:v>0.88</c:v>
                </c:pt>
                <c:pt idx="4">
                  <c:v>0.94</c:v>
                </c:pt>
                <c:pt idx="5">
                  <c:v>0.98</c:v>
                </c:pt>
                <c:pt idx="6">
                  <c:v>1</c:v>
                </c:pt>
              </c:numCache>
            </c:numRef>
          </c:val>
          <c:smooth val="0"/>
          <c:extLst>
            <c:ext xmlns:c16="http://schemas.microsoft.com/office/drawing/2014/chart" uri="{C3380CC4-5D6E-409C-BE32-E72D297353CC}">
              <c16:uniqueId val="{00000000-1664-42E4-A08B-EDED583D7179}"/>
            </c:ext>
          </c:extLst>
        </c:ser>
        <c:ser>
          <c:idx val="1"/>
          <c:order val="1"/>
          <c:tx>
            <c:v>Walidacja</c:v>
          </c:tx>
          <c:spPr>
            <a:ln w="28575">
              <a:solidFill>
                <a:srgbClr val="CB9B59"/>
              </a:solidFill>
            </a:ln>
          </c:spPr>
          <c:marker>
            <c:symbol val="circle"/>
            <c:size val="5"/>
          </c:marker>
          <c:cat>
            <c:numRef>
              <c:f>'Chart Data'!$C$2:$C$8</c:f>
              <c:numCache>
                <c:formatCode>General</c:formatCode>
                <c:ptCount val="7"/>
                <c:pt idx="0">
                  <c:v>1</c:v>
                </c:pt>
                <c:pt idx="1">
                  <c:v>2</c:v>
                </c:pt>
                <c:pt idx="2">
                  <c:v>3</c:v>
                </c:pt>
                <c:pt idx="3">
                  <c:v>4</c:v>
                </c:pt>
                <c:pt idx="4">
                  <c:v>6</c:v>
                </c:pt>
                <c:pt idx="5">
                  <c:v>8</c:v>
                </c:pt>
                <c:pt idx="6">
                  <c:v>12</c:v>
                </c:pt>
              </c:numCache>
            </c:numRef>
          </c:cat>
          <c:val>
            <c:numRef>
              <c:f>'Chart Data'!$D$2:$D$8</c:f>
              <c:numCache>
                <c:formatCode>0.0</c:formatCode>
                <c:ptCount val="7"/>
                <c:pt idx="0">
                  <c:v>0.66</c:v>
                </c:pt>
                <c:pt idx="1">
                  <c:v>0.73</c:v>
                </c:pt>
                <c:pt idx="2">
                  <c:v>0.79</c:v>
                </c:pt>
                <c:pt idx="3">
                  <c:v>0.82</c:v>
                </c:pt>
                <c:pt idx="4">
                  <c:v>0.81</c:v>
                </c:pt>
                <c:pt idx="5">
                  <c:v>0.78</c:v>
                </c:pt>
                <c:pt idx="6">
                  <c:v>0.76</c:v>
                </c:pt>
              </c:numCache>
            </c:numRef>
          </c:val>
          <c:smooth val="0"/>
          <c:extLst>
            <c:ext xmlns:c16="http://schemas.microsoft.com/office/drawing/2014/chart" uri="{C3380CC4-5D6E-409C-BE32-E72D297353CC}">
              <c16:uniqueId val="{00000001-1664-42E4-A08B-EDED583D7179}"/>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pl-PL">
                    <a:latin typeface="Nimbus Sans"/>
                    <a:ea typeface="Nimbus Sans"/>
                    <a:cs typeface="Nimbus Sans"/>
                  </a:rPr>
                  <a:t>Maksymalna głębokość</a:t>
                </a:r>
              </a:p>
            </c:rich>
          </c:tx>
          <c:overlay val="0"/>
        </c:title>
        <c:numFmt formatCode="General" sourceLinked="1"/>
        <c:majorTickMark val="none"/>
        <c:minorTickMark val="none"/>
        <c:tickLblPos val="nextTo"/>
        <c:spPr>
          <a:ln w="9525">
            <a:solidFill>
              <a:srgbClr val="DCE3E4"/>
            </a:solidFill>
          </a:ln>
        </c:spPr>
        <c:txPr>
          <a:bodyPr anchorCtr="1"/>
          <a:lstStyle/>
          <a:p>
            <a:pPr>
              <a:defRPr sz="1275">
                <a:solidFill>
                  <a:srgbClr val="586779"/>
                </a:solidFill>
                <a:latin typeface="Nimbus Sans"/>
                <a:ea typeface="Nimbus Sans"/>
                <a:cs typeface="Nimbus Sans"/>
              </a:defRPr>
            </a:pPr>
            <a:endParaRPr lang="pl-PL"/>
          </a:p>
        </c:txPr>
        <c:crossAx val="48672768"/>
        <c:crosses val="autoZero"/>
        <c:auto val="1"/>
        <c:lblAlgn val="ctr"/>
        <c:lblOffset val="100"/>
        <c:noMultiLvlLbl val="1"/>
      </c:catAx>
      <c:valAx>
        <c:axId val="48672768"/>
        <c:scaling>
          <c:orientation val="minMax"/>
          <c:max val="1"/>
          <c:min val="0.5"/>
        </c:scaling>
        <c:delete val="0"/>
        <c:axPos val="l"/>
        <c:majorGridlines>
          <c:spPr>
            <a:ln w="9525">
              <a:solidFill>
                <a:srgbClr val="DCE3E4"/>
              </a:solidFill>
            </a:ln>
          </c:spPr>
        </c:majorGridlines>
        <c:title>
          <c:tx>
            <c:rich>
              <a:bodyPr/>
              <a:lstStyle/>
              <a:p>
                <a:r>
                  <a:rPr lang="pl-PL">
                    <a:latin typeface="Nimbus Sans"/>
                    <a:ea typeface="Nimbus Sans"/>
                    <a:cs typeface="Nimbus Sans"/>
                  </a:rPr>
                  <a:t>F1</a:t>
                </a:r>
              </a:p>
            </c:rich>
          </c:tx>
          <c:overlay val="0"/>
        </c:title>
        <c:numFmt formatCode="0.0" sourceLinked="1"/>
        <c:majorTickMark val="none"/>
        <c:minorTickMark val="none"/>
        <c:tickLblPos val="nextTo"/>
        <c:spPr>
          <a:ln w="0">
            <a:noFill/>
          </a:ln>
        </c:spPr>
        <c:txPr>
          <a:bodyPr anchorCtr="1"/>
          <a:lstStyle/>
          <a:p>
            <a:pPr>
              <a:defRPr sz="1275">
                <a:solidFill>
                  <a:srgbClr val="586779"/>
                </a:solidFill>
                <a:latin typeface="Nimbus Sans"/>
                <a:ea typeface="Nimbus Sans"/>
                <a:cs typeface="Nimbus Sans"/>
              </a:defRPr>
            </a:pPr>
            <a:endParaRPr lang="pl-PL"/>
          </a:p>
        </c:txPr>
        <c:crossAx val="48650112"/>
        <c:crosses val="autoZero"/>
        <c:crossBetween val="between"/>
      </c:valAx>
      <c:spPr>
        <a:solidFill>
          <a:srgbClr val="F7F8F6"/>
        </a:solidFill>
      </c:spPr>
    </c:plotArea>
    <c:legend>
      <c:legendPos val="b"/>
      <c:overlay val="0"/>
      <c:txPr>
        <a:bodyPr anchorCtr="1"/>
        <a:lstStyle/>
        <a:p>
          <a:pPr>
            <a:defRPr sz="1350">
              <a:solidFill>
                <a:srgbClr val="17243A"/>
              </a:solidFill>
              <a:latin typeface="Nimbus Sans"/>
              <a:ea typeface="Nimbus Sans"/>
              <a:cs typeface="Nimbus Sans"/>
            </a:defRPr>
          </a:pPr>
          <a:endParaRPr lang="pl-PL"/>
        </a:p>
      </c:txPr>
    </c:legend>
    <c:plotVisOnly val="1"/>
    <c:dispBlanksAs val="zero"/>
    <c:showDLblsOverMax val="1"/>
  </c:chart>
  <c:spPr>
    <a:solidFill>
      <a:srgbClr val="F7F8F6"/>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pl-PL"/>
  <c:roundedCorners val="1"/>
  <c:style val="2"/>
  <c:chart>
    <c:autoTitleDeleted val="1"/>
    <c:plotArea>
      <c:layout/>
      <c:lineChart>
        <c:grouping val="standard"/>
        <c:varyColors val="0"/>
        <c:ser>
          <c:idx val="0"/>
          <c:order val="0"/>
          <c:tx>
            <c:v>Najlepszy koszt</c:v>
          </c:tx>
          <c:spPr>
            <a:ln w="28575">
              <a:solidFill>
                <a:srgbClr val="007F7A"/>
              </a:solidFill>
            </a:ln>
          </c:spPr>
          <c:marker>
            <c:symbol val="circle"/>
            <c:size val="5"/>
          </c:marker>
          <c:cat>
            <c:numRef>
              <c:f>'Chart Data'!$A$2:$A$7</c:f>
              <c:numCache>
                <c:formatCode>General</c:formatCode>
                <c:ptCount val="6"/>
                <c:pt idx="0">
                  <c:v>0</c:v>
                </c:pt>
                <c:pt idx="1">
                  <c:v>10</c:v>
                </c:pt>
                <c:pt idx="2">
                  <c:v>20</c:v>
                </c:pt>
                <c:pt idx="3">
                  <c:v>30</c:v>
                </c:pt>
                <c:pt idx="4">
                  <c:v>40</c:v>
                </c:pt>
                <c:pt idx="5">
                  <c:v>50</c:v>
                </c:pt>
              </c:numCache>
            </c:numRef>
          </c:cat>
          <c:val>
            <c:numRef>
              <c:f>'Chart Data'!$B$2:$B$7</c:f>
              <c:numCache>
                <c:formatCode>0</c:formatCode>
                <c:ptCount val="6"/>
                <c:pt idx="0">
                  <c:v>12</c:v>
                </c:pt>
                <c:pt idx="1">
                  <c:v>4.0999999999999996</c:v>
                </c:pt>
                <c:pt idx="2">
                  <c:v>1.8</c:v>
                </c:pt>
                <c:pt idx="3">
                  <c:v>0.7</c:v>
                </c:pt>
                <c:pt idx="4">
                  <c:v>0.18</c:v>
                </c:pt>
                <c:pt idx="5">
                  <c:v>0.05</c:v>
                </c:pt>
              </c:numCache>
            </c:numRef>
          </c:val>
          <c:smooth val="0"/>
          <c:extLst>
            <c:ext xmlns:c16="http://schemas.microsoft.com/office/drawing/2014/chart" uri="{C3380CC4-5D6E-409C-BE32-E72D297353CC}">
              <c16:uniqueId val="{00000000-717F-4CF8-9075-E2EE5FADA483}"/>
            </c:ext>
          </c:extLst>
        </c:ser>
        <c:ser>
          <c:idx val="1"/>
          <c:order val="1"/>
          <c:tx>
            <c:v>Mediana kosztu</c:v>
          </c:tx>
          <c:spPr>
            <a:ln w="28575">
              <a:solidFill>
                <a:srgbClr val="CB9B59"/>
              </a:solidFill>
            </a:ln>
          </c:spPr>
          <c:marker>
            <c:symbol val="circle"/>
            <c:size val="5"/>
          </c:marker>
          <c:cat>
            <c:numRef>
              <c:f>'Chart Data'!$C$2:$C$7</c:f>
              <c:numCache>
                <c:formatCode>General</c:formatCode>
                <c:ptCount val="6"/>
                <c:pt idx="0">
                  <c:v>0</c:v>
                </c:pt>
                <c:pt idx="1">
                  <c:v>10</c:v>
                </c:pt>
                <c:pt idx="2">
                  <c:v>20</c:v>
                </c:pt>
                <c:pt idx="3">
                  <c:v>30</c:v>
                </c:pt>
                <c:pt idx="4">
                  <c:v>40</c:v>
                </c:pt>
                <c:pt idx="5">
                  <c:v>50</c:v>
                </c:pt>
              </c:numCache>
            </c:numRef>
          </c:cat>
          <c:val>
            <c:numRef>
              <c:f>'Chart Data'!$D$2:$D$7</c:f>
              <c:numCache>
                <c:formatCode>0</c:formatCode>
                <c:ptCount val="6"/>
                <c:pt idx="0">
                  <c:v>29</c:v>
                </c:pt>
                <c:pt idx="1">
                  <c:v>13</c:v>
                </c:pt>
                <c:pt idx="2">
                  <c:v>6</c:v>
                </c:pt>
                <c:pt idx="3">
                  <c:v>3.1</c:v>
                </c:pt>
                <c:pt idx="4">
                  <c:v>1.8</c:v>
                </c:pt>
                <c:pt idx="5">
                  <c:v>1.1000000000000001</c:v>
                </c:pt>
              </c:numCache>
            </c:numRef>
          </c:val>
          <c:smooth val="0"/>
          <c:extLst>
            <c:ext xmlns:c16="http://schemas.microsoft.com/office/drawing/2014/chart" uri="{C3380CC4-5D6E-409C-BE32-E72D297353CC}">
              <c16:uniqueId val="{00000001-717F-4CF8-9075-E2EE5FADA483}"/>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pl-PL">
                    <a:latin typeface="Nimbus Sans"/>
                    <a:ea typeface="Nimbus Sans"/>
                    <a:cs typeface="Nimbus Sans"/>
                  </a:rPr>
                  <a:t>Pokolenie</a:t>
                </a:r>
              </a:p>
            </c:rich>
          </c:tx>
          <c:overlay val="0"/>
        </c:title>
        <c:numFmt formatCode="General" sourceLinked="1"/>
        <c:majorTickMark val="none"/>
        <c:minorTickMark val="none"/>
        <c:tickLblPos val="nextTo"/>
        <c:spPr>
          <a:ln w="9525">
            <a:solidFill>
              <a:srgbClr val="DCE3E4"/>
            </a:solidFill>
          </a:ln>
        </c:spPr>
        <c:txPr>
          <a:bodyPr anchorCtr="1"/>
          <a:lstStyle/>
          <a:p>
            <a:pPr>
              <a:defRPr sz="1275">
                <a:solidFill>
                  <a:srgbClr val="586779"/>
                </a:solidFill>
                <a:latin typeface="Nimbus Sans"/>
                <a:ea typeface="Nimbus Sans"/>
                <a:cs typeface="Nimbus Sans"/>
              </a:defRPr>
            </a:pPr>
            <a:endParaRPr lang="pl-PL"/>
          </a:p>
        </c:txPr>
        <c:crossAx val="48672768"/>
        <c:crosses val="autoZero"/>
        <c:auto val="1"/>
        <c:lblAlgn val="ctr"/>
        <c:lblOffset val="100"/>
        <c:noMultiLvlLbl val="1"/>
      </c:catAx>
      <c:valAx>
        <c:axId val="48672768"/>
        <c:scaling>
          <c:orientation val="minMax"/>
        </c:scaling>
        <c:delete val="0"/>
        <c:axPos val="l"/>
        <c:majorGridlines>
          <c:spPr>
            <a:ln w="9525">
              <a:solidFill>
                <a:srgbClr val="DCE3E4"/>
              </a:solidFill>
            </a:ln>
          </c:spPr>
        </c:majorGridlines>
        <c:title>
          <c:tx>
            <c:rich>
              <a:bodyPr/>
              <a:lstStyle/>
              <a:p>
                <a:r>
                  <a:rPr lang="pl-PL">
                    <a:latin typeface="Nimbus Sans"/>
                    <a:ea typeface="Nimbus Sans"/>
                    <a:cs typeface="Nimbus Sans"/>
                  </a:rPr>
                  <a:t>Koszt funkcji</a:t>
                </a:r>
              </a:p>
            </c:rich>
          </c:tx>
          <c:overlay val="0"/>
        </c:title>
        <c:numFmt formatCode="0" sourceLinked="1"/>
        <c:majorTickMark val="none"/>
        <c:minorTickMark val="none"/>
        <c:tickLblPos val="nextTo"/>
        <c:spPr>
          <a:ln w="0">
            <a:noFill/>
          </a:ln>
        </c:spPr>
        <c:txPr>
          <a:bodyPr anchorCtr="1"/>
          <a:lstStyle/>
          <a:p>
            <a:pPr>
              <a:defRPr sz="1275">
                <a:solidFill>
                  <a:srgbClr val="586779"/>
                </a:solidFill>
                <a:latin typeface="Nimbus Sans"/>
                <a:ea typeface="Nimbus Sans"/>
                <a:cs typeface="Nimbus Sans"/>
              </a:defRPr>
            </a:pPr>
            <a:endParaRPr lang="pl-PL"/>
          </a:p>
        </c:txPr>
        <c:crossAx val="48650112"/>
        <c:crosses val="autoZero"/>
        <c:crossBetween val="between"/>
      </c:valAx>
      <c:spPr>
        <a:solidFill>
          <a:srgbClr val="F7F8F6"/>
        </a:solidFill>
      </c:spPr>
    </c:plotArea>
    <c:legend>
      <c:legendPos val="b"/>
      <c:overlay val="0"/>
      <c:txPr>
        <a:bodyPr anchorCtr="1"/>
        <a:lstStyle/>
        <a:p>
          <a:pPr>
            <a:defRPr sz="1350">
              <a:solidFill>
                <a:srgbClr val="17243A"/>
              </a:solidFill>
              <a:latin typeface="Nimbus Sans"/>
              <a:ea typeface="Nimbus Sans"/>
              <a:cs typeface="Nimbus Sans"/>
            </a:defRPr>
          </a:pPr>
          <a:endParaRPr lang="pl-PL"/>
        </a:p>
      </c:txPr>
    </c:legend>
    <c:plotVisOnly val="1"/>
    <c:dispBlanksAs val="zero"/>
    <c:showDLblsOverMax val="1"/>
  </c:chart>
  <c:spPr>
    <a:solidFill>
      <a:srgbClr val="F7F8F6"/>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pl-PL"/>
  <c:roundedCorners val="1"/>
  <c:style val="2"/>
  <c:chart>
    <c:autoTitleDeleted val="1"/>
    <c:plotArea>
      <c:layout/>
      <c:lineChart>
        <c:grouping val="standard"/>
        <c:varyColors val="0"/>
        <c:ser>
          <c:idx val="0"/>
          <c:order val="0"/>
          <c:tx>
            <c:v>Chłodno</c:v>
          </c:tx>
          <c:spPr>
            <a:ln w="28575">
              <a:solidFill>
                <a:srgbClr val="007F7A"/>
              </a:solidFill>
            </a:ln>
          </c:spPr>
          <c:marker>
            <c:symbol val="circle"/>
            <c:size val="5"/>
          </c:marker>
          <c:cat>
            <c:numRef>
              <c:f>'Chart Data'!$A$2:$A$10</c:f>
              <c:numCache>
                <c:formatCode>General</c:formatCode>
                <c:ptCount val="9"/>
                <c:pt idx="0">
                  <c:v>0</c:v>
                </c:pt>
                <c:pt idx="1">
                  <c:v>5</c:v>
                </c:pt>
                <c:pt idx="2">
                  <c:v>10</c:v>
                </c:pt>
                <c:pt idx="3">
                  <c:v>15</c:v>
                </c:pt>
                <c:pt idx="4">
                  <c:v>20</c:v>
                </c:pt>
                <c:pt idx="5">
                  <c:v>25</c:v>
                </c:pt>
                <c:pt idx="6">
                  <c:v>30</c:v>
                </c:pt>
                <c:pt idx="7">
                  <c:v>35</c:v>
                </c:pt>
                <c:pt idx="8">
                  <c:v>40</c:v>
                </c:pt>
              </c:numCache>
            </c:numRef>
          </c:cat>
          <c:val>
            <c:numRef>
              <c:f>'Chart Data'!$B$2:$B$10</c:f>
              <c:numCache>
                <c:formatCode>0.0</c:formatCode>
                <c:ptCount val="9"/>
                <c:pt idx="0">
                  <c:v>1</c:v>
                </c:pt>
                <c:pt idx="1">
                  <c:v>1</c:v>
                </c:pt>
                <c:pt idx="2">
                  <c:v>1</c:v>
                </c:pt>
                <c:pt idx="3">
                  <c:v>0.5</c:v>
                </c:pt>
                <c:pt idx="4">
                  <c:v>0</c:v>
                </c:pt>
                <c:pt idx="5">
                  <c:v>0</c:v>
                </c:pt>
                <c:pt idx="6">
                  <c:v>0</c:v>
                </c:pt>
                <c:pt idx="7">
                  <c:v>0</c:v>
                </c:pt>
                <c:pt idx="8">
                  <c:v>0</c:v>
                </c:pt>
              </c:numCache>
            </c:numRef>
          </c:val>
          <c:smooth val="0"/>
          <c:extLst>
            <c:ext xmlns:c16="http://schemas.microsoft.com/office/drawing/2014/chart" uri="{C3380CC4-5D6E-409C-BE32-E72D297353CC}">
              <c16:uniqueId val="{00000000-7068-44ED-B9A3-6FEFDDF6749C}"/>
            </c:ext>
          </c:extLst>
        </c:ser>
        <c:ser>
          <c:idx val="1"/>
          <c:order val="1"/>
          <c:tx>
            <c:v>Ciepło</c:v>
          </c:tx>
          <c:spPr>
            <a:ln w="28575">
              <a:solidFill>
                <a:srgbClr val="CB9B59"/>
              </a:solidFill>
            </a:ln>
          </c:spPr>
          <c:marker>
            <c:symbol val="circle"/>
            <c:size val="5"/>
          </c:marker>
          <c:cat>
            <c:numRef>
              <c:f>'Chart Data'!$C$2:$C$10</c:f>
              <c:numCache>
                <c:formatCode>General</c:formatCode>
                <c:ptCount val="9"/>
                <c:pt idx="0">
                  <c:v>0</c:v>
                </c:pt>
                <c:pt idx="1">
                  <c:v>5</c:v>
                </c:pt>
                <c:pt idx="2">
                  <c:v>10</c:v>
                </c:pt>
                <c:pt idx="3">
                  <c:v>15</c:v>
                </c:pt>
                <c:pt idx="4">
                  <c:v>20</c:v>
                </c:pt>
                <c:pt idx="5">
                  <c:v>25</c:v>
                </c:pt>
                <c:pt idx="6">
                  <c:v>30</c:v>
                </c:pt>
                <c:pt idx="7">
                  <c:v>35</c:v>
                </c:pt>
                <c:pt idx="8">
                  <c:v>40</c:v>
                </c:pt>
              </c:numCache>
            </c:numRef>
          </c:cat>
          <c:val>
            <c:numRef>
              <c:f>'Chart Data'!$D$2:$D$10</c:f>
              <c:numCache>
                <c:formatCode>0.0</c:formatCode>
                <c:ptCount val="9"/>
                <c:pt idx="0">
                  <c:v>0</c:v>
                </c:pt>
                <c:pt idx="1">
                  <c:v>0</c:v>
                </c:pt>
                <c:pt idx="2">
                  <c:v>0</c:v>
                </c:pt>
                <c:pt idx="3">
                  <c:v>0.5</c:v>
                </c:pt>
                <c:pt idx="4">
                  <c:v>1</c:v>
                </c:pt>
                <c:pt idx="5">
                  <c:v>0.5</c:v>
                </c:pt>
                <c:pt idx="6">
                  <c:v>0</c:v>
                </c:pt>
                <c:pt idx="7">
                  <c:v>0</c:v>
                </c:pt>
                <c:pt idx="8">
                  <c:v>0</c:v>
                </c:pt>
              </c:numCache>
            </c:numRef>
          </c:val>
          <c:smooth val="0"/>
          <c:extLst>
            <c:ext xmlns:c16="http://schemas.microsoft.com/office/drawing/2014/chart" uri="{C3380CC4-5D6E-409C-BE32-E72D297353CC}">
              <c16:uniqueId val="{00000001-7068-44ED-B9A3-6FEFDDF6749C}"/>
            </c:ext>
          </c:extLst>
        </c:ser>
        <c:ser>
          <c:idx val="2"/>
          <c:order val="2"/>
          <c:tx>
            <c:v>Gorąco</c:v>
          </c:tx>
          <c:spPr>
            <a:ln w="28575">
              <a:solidFill>
                <a:srgbClr val="5D6BB1"/>
              </a:solidFill>
            </a:ln>
          </c:spPr>
          <c:marker>
            <c:symbol val="circle"/>
            <c:size val="5"/>
          </c:marker>
          <c:cat>
            <c:numRef>
              <c:f>'Chart Data'!$E$2:$E$10</c:f>
              <c:numCache>
                <c:formatCode>General</c:formatCode>
                <c:ptCount val="9"/>
                <c:pt idx="0">
                  <c:v>0</c:v>
                </c:pt>
                <c:pt idx="1">
                  <c:v>5</c:v>
                </c:pt>
                <c:pt idx="2">
                  <c:v>10</c:v>
                </c:pt>
                <c:pt idx="3">
                  <c:v>15</c:v>
                </c:pt>
                <c:pt idx="4">
                  <c:v>20</c:v>
                </c:pt>
                <c:pt idx="5">
                  <c:v>25</c:v>
                </c:pt>
                <c:pt idx="6">
                  <c:v>30</c:v>
                </c:pt>
                <c:pt idx="7">
                  <c:v>35</c:v>
                </c:pt>
                <c:pt idx="8">
                  <c:v>40</c:v>
                </c:pt>
              </c:numCache>
            </c:numRef>
          </c:cat>
          <c:val>
            <c:numRef>
              <c:f>'Chart Data'!$F$2:$F$10</c:f>
              <c:numCache>
                <c:formatCode>0.0</c:formatCode>
                <c:ptCount val="9"/>
                <c:pt idx="0">
                  <c:v>0</c:v>
                </c:pt>
                <c:pt idx="1">
                  <c:v>0</c:v>
                </c:pt>
                <c:pt idx="2">
                  <c:v>0</c:v>
                </c:pt>
                <c:pt idx="3">
                  <c:v>0</c:v>
                </c:pt>
                <c:pt idx="4">
                  <c:v>0</c:v>
                </c:pt>
                <c:pt idx="5">
                  <c:v>0.5</c:v>
                </c:pt>
                <c:pt idx="6">
                  <c:v>1</c:v>
                </c:pt>
                <c:pt idx="7">
                  <c:v>1</c:v>
                </c:pt>
                <c:pt idx="8">
                  <c:v>1</c:v>
                </c:pt>
              </c:numCache>
            </c:numRef>
          </c:val>
          <c:smooth val="0"/>
          <c:extLst>
            <c:ext xmlns:c16="http://schemas.microsoft.com/office/drawing/2014/chart" uri="{C3380CC4-5D6E-409C-BE32-E72D297353CC}">
              <c16:uniqueId val="{00000002-7068-44ED-B9A3-6FEFDDF6749C}"/>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a:latin typeface="Nimbus Sans"/>
                    <a:ea typeface="Nimbus Sans"/>
                    <a:cs typeface="Nimbus Sans"/>
                  </a:rPr>
                  <a:t>Temperatura [°C]</a:t>
                </a:r>
              </a:p>
            </c:rich>
          </c:tx>
          <c:overlay val="0"/>
        </c:title>
        <c:numFmt formatCode="General" sourceLinked="1"/>
        <c:majorTickMark val="none"/>
        <c:minorTickMark val="none"/>
        <c:tickLblPos val="nextTo"/>
        <c:spPr>
          <a:ln w="9525">
            <a:solidFill>
              <a:srgbClr val="DCE3E4"/>
            </a:solidFill>
          </a:ln>
        </c:spPr>
        <c:txPr>
          <a:bodyPr anchorCtr="1"/>
          <a:lstStyle/>
          <a:p>
            <a:pPr>
              <a:defRPr sz="1275">
                <a:solidFill>
                  <a:srgbClr val="586779"/>
                </a:solidFill>
                <a:latin typeface="Nimbus Sans"/>
                <a:ea typeface="Nimbus Sans"/>
                <a:cs typeface="Nimbus Sans"/>
              </a:defRPr>
            </a:pPr>
            <a:endParaRPr lang="pl-PL"/>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CE3E4"/>
              </a:solidFill>
            </a:ln>
          </c:spPr>
        </c:majorGridlines>
        <c:title>
          <c:tx>
            <c:rich>
              <a:bodyPr/>
              <a:lstStyle/>
              <a:p>
                <a:r>
                  <a:rPr>
                    <a:latin typeface="Nimbus Sans"/>
                    <a:ea typeface="Nimbus Sans"/>
                    <a:cs typeface="Nimbus Sans"/>
                  </a:rPr>
                  <a:t>Przynależność μ</a:t>
                </a:r>
              </a:p>
            </c:rich>
          </c:tx>
          <c:overlay val="0"/>
        </c:title>
        <c:numFmt formatCode="0.0" sourceLinked="1"/>
        <c:majorTickMark val="none"/>
        <c:minorTickMark val="none"/>
        <c:tickLblPos val="nextTo"/>
        <c:spPr>
          <a:ln w="0">
            <a:noFill/>
          </a:ln>
        </c:spPr>
        <c:txPr>
          <a:bodyPr anchorCtr="1"/>
          <a:lstStyle/>
          <a:p>
            <a:pPr>
              <a:defRPr sz="1275">
                <a:solidFill>
                  <a:srgbClr val="586779"/>
                </a:solidFill>
                <a:latin typeface="Nimbus Sans"/>
                <a:ea typeface="Nimbus Sans"/>
                <a:cs typeface="Nimbus Sans"/>
              </a:defRPr>
            </a:pPr>
            <a:endParaRPr lang="pl-PL"/>
          </a:p>
        </c:txPr>
        <c:crossAx val="48650112"/>
        <c:crosses val="autoZero"/>
        <c:crossBetween val="between"/>
      </c:valAx>
      <c:spPr>
        <a:solidFill>
          <a:srgbClr val="F7F8F6"/>
        </a:solidFill>
      </c:spPr>
    </c:plotArea>
    <c:legend>
      <c:legendPos val="b"/>
      <c:overlay val="0"/>
      <c:txPr>
        <a:bodyPr anchorCtr="1"/>
        <a:lstStyle/>
        <a:p>
          <a:pPr>
            <a:defRPr sz="1350">
              <a:solidFill>
                <a:srgbClr val="17243A"/>
              </a:solidFill>
              <a:latin typeface="Nimbus Sans"/>
              <a:ea typeface="Nimbus Sans"/>
              <a:cs typeface="Nimbus Sans"/>
            </a:defRPr>
          </a:pPr>
          <a:endParaRPr lang="pl-PL"/>
        </a:p>
      </c:txPr>
    </c:legend>
    <c:plotVisOnly val="1"/>
    <c:dispBlanksAs val="zero"/>
    <c:showDLblsOverMax val="1"/>
  </c:chart>
  <c:spPr>
    <a:solidFill>
      <a:srgbClr val="F7F8F6"/>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pl-PL"/>
  <c:roundedCorners val="1"/>
  <c:style val="2"/>
  <c:chart>
    <c:autoTitleDeleted val="1"/>
    <c:plotArea>
      <c:layout/>
      <c:lineChart>
        <c:grouping val="standard"/>
        <c:varyColors val="0"/>
        <c:ser>
          <c:idx val="0"/>
          <c:order val="0"/>
          <c:tx>
            <c:v>ReLU</c:v>
          </c:tx>
          <c:spPr>
            <a:ln w="28575">
              <a:solidFill>
                <a:srgbClr val="007F7A"/>
              </a:solidFill>
            </a:ln>
          </c:spPr>
          <c:marker>
            <c:symbol val="circle"/>
            <c:size val="5"/>
          </c:marker>
          <c:cat>
            <c:strRef>
              <c:f>'Chart Data'!$A$2:$A$8</c:f>
              <c:strCache>
                <c:ptCount val="7"/>
                <c:pt idx="0">
                  <c:v>−3</c:v>
                </c:pt>
                <c:pt idx="1">
                  <c:v>−2</c:v>
                </c:pt>
                <c:pt idx="2">
                  <c:v>−1</c:v>
                </c:pt>
                <c:pt idx="3">
                  <c:v>0</c:v>
                </c:pt>
                <c:pt idx="4">
                  <c:v>1</c:v>
                </c:pt>
                <c:pt idx="5">
                  <c:v>2</c:v>
                </c:pt>
                <c:pt idx="6">
                  <c:v>3</c:v>
                </c:pt>
              </c:strCache>
            </c:strRef>
          </c:cat>
          <c:val>
            <c:numRef>
              <c:f>'Chart Data'!$B$2:$B$8</c:f>
              <c:numCache>
                <c:formatCode>0.0</c:formatCode>
                <c:ptCount val="7"/>
                <c:pt idx="0">
                  <c:v>0</c:v>
                </c:pt>
                <c:pt idx="1">
                  <c:v>0</c:v>
                </c:pt>
                <c:pt idx="2">
                  <c:v>0</c:v>
                </c:pt>
                <c:pt idx="3">
                  <c:v>0</c:v>
                </c:pt>
                <c:pt idx="4">
                  <c:v>1</c:v>
                </c:pt>
                <c:pt idx="5">
                  <c:v>2</c:v>
                </c:pt>
                <c:pt idx="6">
                  <c:v>3</c:v>
                </c:pt>
              </c:numCache>
            </c:numRef>
          </c:val>
          <c:smooth val="0"/>
          <c:extLst>
            <c:ext xmlns:c16="http://schemas.microsoft.com/office/drawing/2014/chart" uri="{C3380CC4-5D6E-409C-BE32-E72D297353CC}">
              <c16:uniqueId val="{00000000-6DEE-4CCF-93E1-7111A2D1DEF5}"/>
            </c:ext>
          </c:extLst>
        </c:ser>
        <c:ser>
          <c:idx val="1"/>
          <c:order val="1"/>
          <c:tx>
            <c:v>Sigmoida</c:v>
          </c:tx>
          <c:spPr>
            <a:ln w="28575">
              <a:solidFill>
                <a:srgbClr val="CB9B59"/>
              </a:solidFill>
            </a:ln>
          </c:spPr>
          <c:marker>
            <c:symbol val="circle"/>
            <c:size val="5"/>
          </c:marker>
          <c:cat>
            <c:strRef>
              <c:f>'Chart Data'!$C$2:$C$8</c:f>
              <c:strCache>
                <c:ptCount val="7"/>
                <c:pt idx="0">
                  <c:v>−3</c:v>
                </c:pt>
                <c:pt idx="1">
                  <c:v>−2</c:v>
                </c:pt>
                <c:pt idx="2">
                  <c:v>−1</c:v>
                </c:pt>
                <c:pt idx="3">
                  <c:v>0</c:v>
                </c:pt>
                <c:pt idx="4">
                  <c:v>1</c:v>
                </c:pt>
                <c:pt idx="5">
                  <c:v>2</c:v>
                </c:pt>
                <c:pt idx="6">
                  <c:v>3</c:v>
                </c:pt>
              </c:strCache>
            </c:strRef>
          </c:cat>
          <c:val>
            <c:numRef>
              <c:f>'Chart Data'!$D$2:$D$8</c:f>
              <c:numCache>
                <c:formatCode>0.0</c:formatCode>
                <c:ptCount val="7"/>
                <c:pt idx="0">
                  <c:v>4.7399999999999998E-2</c:v>
                </c:pt>
                <c:pt idx="1">
                  <c:v>0.1192</c:v>
                </c:pt>
                <c:pt idx="2">
                  <c:v>0.26889999999999997</c:v>
                </c:pt>
                <c:pt idx="3">
                  <c:v>0.5</c:v>
                </c:pt>
                <c:pt idx="4">
                  <c:v>0.73109999999999997</c:v>
                </c:pt>
                <c:pt idx="5">
                  <c:v>0.88080000000000003</c:v>
                </c:pt>
                <c:pt idx="6">
                  <c:v>0.9526</c:v>
                </c:pt>
              </c:numCache>
            </c:numRef>
          </c:val>
          <c:smooth val="0"/>
          <c:extLst>
            <c:ext xmlns:c16="http://schemas.microsoft.com/office/drawing/2014/chart" uri="{C3380CC4-5D6E-409C-BE32-E72D297353CC}">
              <c16:uniqueId val="{00000001-6DEE-4CCF-93E1-7111A2D1DEF5}"/>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pl-PL">
                    <a:latin typeface="Nimbus Sans"/>
                    <a:ea typeface="Nimbus Sans"/>
                    <a:cs typeface="Nimbus Sans"/>
                  </a:rPr>
                  <a:t>Wartość z</a:t>
                </a:r>
              </a:p>
            </c:rich>
          </c:tx>
          <c:overlay val="0"/>
        </c:title>
        <c:numFmt formatCode="General" sourceLinked="1"/>
        <c:majorTickMark val="none"/>
        <c:minorTickMark val="none"/>
        <c:tickLblPos val="nextTo"/>
        <c:spPr>
          <a:ln w="9525">
            <a:solidFill>
              <a:srgbClr val="DCE3E4"/>
            </a:solidFill>
          </a:ln>
        </c:spPr>
        <c:txPr>
          <a:bodyPr anchorCtr="1"/>
          <a:lstStyle/>
          <a:p>
            <a:pPr>
              <a:defRPr sz="1275">
                <a:solidFill>
                  <a:srgbClr val="586779"/>
                </a:solidFill>
                <a:latin typeface="Nimbus Sans"/>
                <a:ea typeface="Nimbus Sans"/>
                <a:cs typeface="Nimbus Sans"/>
              </a:defRPr>
            </a:pPr>
            <a:endParaRPr lang="pl-PL"/>
          </a:p>
        </c:txPr>
        <c:crossAx val="48672768"/>
        <c:crosses val="autoZero"/>
        <c:auto val="1"/>
        <c:lblAlgn val="ctr"/>
        <c:lblOffset val="100"/>
        <c:noMultiLvlLbl val="1"/>
      </c:catAx>
      <c:valAx>
        <c:axId val="48672768"/>
        <c:scaling>
          <c:orientation val="minMax"/>
        </c:scaling>
        <c:delete val="0"/>
        <c:axPos val="l"/>
        <c:majorGridlines>
          <c:spPr>
            <a:ln w="9525">
              <a:solidFill>
                <a:srgbClr val="DCE3E4"/>
              </a:solidFill>
            </a:ln>
          </c:spPr>
        </c:majorGridlines>
        <c:title>
          <c:tx>
            <c:rich>
              <a:bodyPr/>
              <a:lstStyle/>
              <a:p>
                <a:r>
                  <a:rPr lang="pl-PL">
                    <a:latin typeface="Nimbus Sans"/>
                    <a:ea typeface="Nimbus Sans"/>
                    <a:cs typeface="Nimbus Sans"/>
                  </a:rPr>
                  <a:t>Aktywacja</a:t>
                </a:r>
              </a:p>
            </c:rich>
          </c:tx>
          <c:overlay val="0"/>
        </c:title>
        <c:numFmt formatCode="0.0" sourceLinked="1"/>
        <c:majorTickMark val="none"/>
        <c:minorTickMark val="none"/>
        <c:tickLblPos val="nextTo"/>
        <c:spPr>
          <a:ln w="0">
            <a:noFill/>
          </a:ln>
        </c:spPr>
        <c:txPr>
          <a:bodyPr anchorCtr="1"/>
          <a:lstStyle/>
          <a:p>
            <a:pPr>
              <a:defRPr sz="1275">
                <a:solidFill>
                  <a:srgbClr val="586779"/>
                </a:solidFill>
                <a:latin typeface="Nimbus Sans"/>
                <a:ea typeface="Nimbus Sans"/>
                <a:cs typeface="Nimbus Sans"/>
              </a:defRPr>
            </a:pPr>
            <a:endParaRPr lang="pl-PL"/>
          </a:p>
        </c:txPr>
        <c:crossAx val="48650112"/>
        <c:crosses val="autoZero"/>
        <c:crossBetween val="between"/>
      </c:valAx>
      <c:spPr>
        <a:solidFill>
          <a:srgbClr val="F7F8F6"/>
        </a:solidFill>
      </c:spPr>
    </c:plotArea>
    <c:legend>
      <c:legendPos val="b"/>
      <c:overlay val="0"/>
      <c:txPr>
        <a:bodyPr anchorCtr="1"/>
        <a:lstStyle/>
        <a:p>
          <a:pPr>
            <a:defRPr sz="1350">
              <a:solidFill>
                <a:srgbClr val="17243A"/>
              </a:solidFill>
              <a:latin typeface="Nimbus Sans"/>
              <a:ea typeface="Nimbus Sans"/>
              <a:cs typeface="Nimbus Sans"/>
            </a:defRPr>
          </a:pPr>
          <a:endParaRPr lang="pl-PL"/>
        </a:p>
      </c:txPr>
    </c:legend>
    <c:plotVisOnly val="1"/>
    <c:dispBlanksAs val="zero"/>
    <c:showDLblsOverMax val="1"/>
  </c:chart>
  <c:spPr>
    <a:solidFill>
      <a:srgbClr val="F7F8F6"/>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pl-PL"/>
  <c:roundedCorners val="1"/>
  <c:style val="2"/>
  <c:chart>
    <c:autoTitleDeleted val="1"/>
    <c:plotArea>
      <c:layout/>
      <c:lineChart>
        <c:grouping val="standard"/>
        <c:varyColors val="0"/>
        <c:ser>
          <c:idx val="0"/>
          <c:order val="0"/>
          <c:tx>
            <c:v>Strata treningowa</c:v>
          </c:tx>
          <c:spPr>
            <a:ln w="28575">
              <a:solidFill>
                <a:srgbClr val="007F7A"/>
              </a:solidFill>
            </a:ln>
          </c:spPr>
          <c:marker>
            <c:symbol val="circle"/>
            <c:size val="5"/>
          </c:marker>
          <c:cat>
            <c:numRef>
              <c:f>'Chart Data'!$A$2:$A$8</c:f>
              <c:numCache>
                <c:formatCode>General</c:formatCode>
                <c:ptCount val="7"/>
                <c:pt idx="0">
                  <c:v>1</c:v>
                </c:pt>
                <c:pt idx="1">
                  <c:v>5</c:v>
                </c:pt>
                <c:pt idx="2">
                  <c:v>10</c:v>
                </c:pt>
                <c:pt idx="3">
                  <c:v>20</c:v>
                </c:pt>
                <c:pt idx="4">
                  <c:v>30</c:v>
                </c:pt>
                <c:pt idx="5">
                  <c:v>40</c:v>
                </c:pt>
                <c:pt idx="6">
                  <c:v>50</c:v>
                </c:pt>
              </c:numCache>
            </c:numRef>
          </c:cat>
          <c:val>
            <c:numRef>
              <c:f>'Chart Data'!$B$2:$B$8</c:f>
              <c:numCache>
                <c:formatCode>0.0</c:formatCode>
                <c:ptCount val="7"/>
                <c:pt idx="0">
                  <c:v>1.9</c:v>
                </c:pt>
                <c:pt idx="1">
                  <c:v>1.3</c:v>
                </c:pt>
                <c:pt idx="2">
                  <c:v>0.85</c:v>
                </c:pt>
                <c:pt idx="3">
                  <c:v>0.45</c:v>
                </c:pt>
                <c:pt idx="4">
                  <c:v>0.28999999999999998</c:v>
                </c:pt>
                <c:pt idx="5">
                  <c:v>0.2</c:v>
                </c:pt>
                <c:pt idx="6">
                  <c:v>0.15</c:v>
                </c:pt>
              </c:numCache>
            </c:numRef>
          </c:val>
          <c:smooth val="0"/>
          <c:extLst>
            <c:ext xmlns:c16="http://schemas.microsoft.com/office/drawing/2014/chart" uri="{C3380CC4-5D6E-409C-BE32-E72D297353CC}">
              <c16:uniqueId val="{00000000-DE5D-4DF0-A31E-A1EF7E9D5D4B}"/>
            </c:ext>
          </c:extLst>
        </c:ser>
        <c:ser>
          <c:idx val="1"/>
          <c:order val="1"/>
          <c:tx>
            <c:v>Strata walidacyjna</c:v>
          </c:tx>
          <c:spPr>
            <a:ln w="28575">
              <a:solidFill>
                <a:srgbClr val="CB9B59"/>
              </a:solidFill>
            </a:ln>
          </c:spPr>
          <c:marker>
            <c:symbol val="circle"/>
            <c:size val="5"/>
          </c:marker>
          <c:cat>
            <c:numRef>
              <c:f>'Chart Data'!$C$2:$C$8</c:f>
              <c:numCache>
                <c:formatCode>General</c:formatCode>
                <c:ptCount val="7"/>
                <c:pt idx="0">
                  <c:v>1</c:v>
                </c:pt>
                <c:pt idx="1">
                  <c:v>5</c:v>
                </c:pt>
                <c:pt idx="2">
                  <c:v>10</c:v>
                </c:pt>
                <c:pt idx="3">
                  <c:v>20</c:v>
                </c:pt>
                <c:pt idx="4">
                  <c:v>30</c:v>
                </c:pt>
                <c:pt idx="5">
                  <c:v>40</c:v>
                </c:pt>
                <c:pt idx="6">
                  <c:v>50</c:v>
                </c:pt>
              </c:numCache>
            </c:numRef>
          </c:cat>
          <c:val>
            <c:numRef>
              <c:f>'Chart Data'!$D$2:$D$8</c:f>
              <c:numCache>
                <c:formatCode>0.0</c:formatCode>
                <c:ptCount val="7"/>
                <c:pt idx="0">
                  <c:v>2</c:v>
                </c:pt>
                <c:pt idx="1">
                  <c:v>1.4</c:v>
                </c:pt>
                <c:pt idx="2">
                  <c:v>0.95</c:v>
                </c:pt>
                <c:pt idx="3">
                  <c:v>0.6</c:v>
                </c:pt>
                <c:pt idx="4">
                  <c:v>0.56999999999999995</c:v>
                </c:pt>
                <c:pt idx="5">
                  <c:v>0.64</c:v>
                </c:pt>
                <c:pt idx="6">
                  <c:v>0.78</c:v>
                </c:pt>
              </c:numCache>
            </c:numRef>
          </c:val>
          <c:smooth val="0"/>
          <c:extLst>
            <c:ext xmlns:c16="http://schemas.microsoft.com/office/drawing/2014/chart" uri="{C3380CC4-5D6E-409C-BE32-E72D297353CC}">
              <c16:uniqueId val="{00000001-DE5D-4DF0-A31E-A1EF7E9D5D4B}"/>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pl-PL">
                    <a:latin typeface="Nimbus Sans"/>
                    <a:ea typeface="Nimbus Sans"/>
                    <a:cs typeface="Nimbus Sans"/>
                  </a:rPr>
                  <a:t>Epoka</a:t>
                </a:r>
              </a:p>
            </c:rich>
          </c:tx>
          <c:overlay val="0"/>
        </c:title>
        <c:numFmt formatCode="General" sourceLinked="1"/>
        <c:majorTickMark val="none"/>
        <c:minorTickMark val="none"/>
        <c:tickLblPos val="nextTo"/>
        <c:spPr>
          <a:ln w="9525">
            <a:solidFill>
              <a:srgbClr val="DCE3E4"/>
            </a:solidFill>
          </a:ln>
        </c:spPr>
        <c:txPr>
          <a:bodyPr anchorCtr="1"/>
          <a:lstStyle/>
          <a:p>
            <a:pPr>
              <a:defRPr sz="1275">
                <a:solidFill>
                  <a:srgbClr val="586779"/>
                </a:solidFill>
                <a:latin typeface="Nimbus Sans"/>
                <a:ea typeface="Nimbus Sans"/>
                <a:cs typeface="Nimbus Sans"/>
              </a:defRPr>
            </a:pPr>
            <a:endParaRPr lang="pl-PL"/>
          </a:p>
        </c:txPr>
        <c:crossAx val="48672768"/>
        <c:crosses val="autoZero"/>
        <c:auto val="1"/>
        <c:lblAlgn val="ctr"/>
        <c:lblOffset val="100"/>
        <c:noMultiLvlLbl val="1"/>
      </c:catAx>
      <c:valAx>
        <c:axId val="48672768"/>
        <c:scaling>
          <c:orientation val="minMax"/>
        </c:scaling>
        <c:delete val="0"/>
        <c:axPos val="l"/>
        <c:majorGridlines>
          <c:spPr>
            <a:ln w="9525">
              <a:solidFill>
                <a:srgbClr val="DCE3E4"/>
              </a:solidFill>
            </a:ln>
          </c:spPr>
        </c:majorGridlines>
        <c:title>
          <c:tx>
            <c:rich>
              <a:bodyPr/>
              <a:lstStyle/>
              <a:p>
                <a:r>
                  <a:rPr lang="pl-PL">
                    <a:latin typeface="Nimbus Sans"/>
                    <a:ea typeface="Nimbus Sans"/>
                    <a:cs typeface="Nimbus Sans"/>
                  </a:rPr>
                  <a:t>Strata</a:t>
                </a:r>
              </a:p>
            </c:rich>
          </c:tx>
          <c:overlay val="0"/>
        </c:title>
        <c:numFmt formatCode="0.0" sourceLinked="1"/>
        <c:majorTickMark val="none"/>
        <c:minorTickMark val="none"/>
        <c:tickLblPos val="nextTo"/>
        <c:spPr>
          <a:ln w="0">
            <a:noFill/>
          </a:ln>
        </c:spPr>
        <c:txPr>
          <a:bodyPr anchorCtr="1"/>
          <a:lstStyle/>
          <a:p>
            <a:pPr>
              <a:defRPr sz="1275">
                <a:solidFill>
                  <a:srgbClr val="586779"/>
                </a:solidFill>
                <a:latin typeface="Nimbus Sans"/>
                <a:ea typeface="Nimbus Sans"/>
                <a:cs typeface="Nimbus Sans"/>
              </a:defRPr>
            </a:pPr>
            <a:endParaRPr lang="pl-PL"/>
          </a:p>
        </c:txPr>
        <c:crossAx val="48650112"/>
        <c:crosses val="autoZero"/>
        <c:crossBetween val="between"/>
      </c:valAx>
      <c:spPr>
        <a:solidFill>
          <a:srgbClr val="F7F8F6"/>
        </a:solidFill>
      </c:spPr>
    </c:plotArea>
    <c:legend>
      <c:legendPos val="b"/>
      <c:overlay val="0"/>
      <c:txPr>
        <a:bodyPr anchorCtr="1"/>
        <a:lstStyle/>
        <a:p>
          <a:pPr>
            <a:defRPr sz="1350">
              <a:solidFill>
                <a:srgbClr val="17243A"/>
              </a:solidFill>
              <a:latin typeface="Nimbus Sans"/>
              <a:ea typeface="Nimbus Sans"/>
              <a:cs typeface="Nimbus Sans"/>
            </a:defRPr>
          </a:pPr>
          <a:endParaRPr lang="pl-PL"/>
        </a:p>
      </c:txPr>
    </c:legend>
    <c:plotVisOnly val="1"/>
    <c:dispBlanksAs val="zero"/>
    <c:showDLblsOverMax val="1"/>
  </c:chart>
  <c:spPr>
    <a:solidFill>
      <a:srgbClr val="F7F8F6"/>
    </a:solidFill>
  </c:sp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0.26178" units="1/cm"/>
          <inkml:channelProperty channel="Y" name="resolution" value="50.23256" units="1/cm"/>
          <inkml:channelProperty channel="T" name="resolution" value="1" units="1/dev"/>
        </inkml:channelProperties>
      </inkml:inkSource>
      <inkml:timestamp xml:id="ts0" timeString="2026-10-06T11:39:40.532"/>
    </inkml:context>
    <inkml:brush xml:id="br0">
      <inkml:brushProperty name="width" value="0.05292" units="cm"/>
      <inkml:brushProperty name="height" value="0.05292" units="cm"/>
    </inkml:brush>
  </inkml:definitions>
  <inkml:trace contextRef="#ctx0" brushRef="#br0">7743 2822 0,'89'106'125,"-54"88"-110,-35-141-15,53 388 16,35-18 0,-53-264-1,-17 0 1,0-18 0,17 212-1,-35-336 1,0 19-16,0 87 15,18 18 1,-1-53 0,-17-35-16,18 36 15,-18-37 1,0-34-16,0 17 31,0-17-15,0 17-1</inkml:trace>
  <inkml:trace contextRef="#ctx0" brushRef="#br0" timeOffset="1314.26">7779 2840 0,'35'-53'78,"1059"35"-47,140-35 0,-881 18-15,-176 35-16,69-35 15,-157 35-15,652-18 32,-671 18-17,36-17 1,-71 17-16,283-18 31,-248 18-15,1 0-16,35 0 15,158 0 1,-211 0-16,512 0 31,-301 0 1</inkml:trace>
  <inkml:trace contextRef="#ctx0" brushRef="#br0" timeOffset="2110.71">13670 2593 0,'0'35'94,"53"195"-63,-53-213-31,18 36 0,-18 53 16,17-18 0,-17-35-16,18 70 15,0 248 17,-1-301-32,-17 354 31,0-389-31,0 124 15,0 105 17,0-87-1,0-124-15,0 17-1,0-52-15,0 158 31,36-17-15,-36 176 15,35-88-15,0-123 15,-17-72 0,-18-34-15</inkml:trace>
  <inkml:trace contextRef="#ctx0" brushRef="#br0" timeOffset="4566.16">8184 5450 0,'36'71'62,"-19"176"-30,1-159-17,-18 71 1,0-53-1,53 352 17,-53-440-32,0 53 15,18 105 1,-18-141-16,0 71 16,17 0-1,-17-89-15,0 19 0,18 70 31,-18-36-15,0 54 0,0-71-1,0 141 1,0-177 0,17-17 124,36 0-109,759-88 1,405-106-1,53 106 0,-847 70-15,36-17-1,617-36 17,-917 71-17,-107 0 1,-34 0-16,17 0 0,1 0 16,-19 0-1,1 0 1,0 0 93,-18-17 16,0-19-109,52-193 15,-52 141-15,0 70-16,0-70 15,0-159 17,0 159-17,0 53 1,0 17-16,0-35 15,0-17 1,0 52-16,0-35 16,0 0-1,0 35-15,0-176 32,-17 106-1,17 71 63,0-1-63</inkml:trace>
  <inkml:trace contextRef="#ctx0" brushRef="#br0" timeOffset="6223.33">8043 3422 0,'159'0'171,"335"0"-155,-282-18-16,-54 1 0,160-19 16,70-17-1,212 18 17,-565 35-32,159 0 31,106 0 0,-247 0-31,282-35 16,-282 35-1,300-35 1,-265 17 0,-53 18-16,106 0 15,-88 0 1,106 0-1,-124 0 1,71 0 0,-71-18-16,-17 18 31,17 0 0,0-17-15,36-1-16,335 18 15,-371 0 1,18 0-16,70-18 16,-52 18-1,-53 0 1,-1 0 78,18 0-63,71 0 0,-53 0-15,-18 0-16,177 0 15,-177 0 1,36 0 0,-53 0-1</inkml:trace>
  <inkml:trace contextRef="#ctx0" brushRef="#br0" timeOffset="7923.88">7867 4075 0,'35'0'63,"459"0"-48,-212-18 17,300-70-1,-440 88-31,69-18 16,107 0-1,-195 1 1,389-18 15,-1-36 0,-423 71-31,142-35 16,193-36 15,-370 54-31,229-19 16,-176 19-16,212-19 15,-283 36 1,124-35 0,-142 35 15,89-18 0,88 18 0,-194-17-15,106 17 0,70 0 15,-158 0-15,70 0-1,-53 0 16,18 0 1,-35 0-17,0 0-15,-1 0 16,18 0 0,1 0-1,-19 0 1,1 0-16,0 0 31</inkml:trace>
  <inkml:trace contextRef="#ctx0" brushRef="#br0" timeOffset="9450.7">8043 4551 0,'106'35'171,"758"-35"-139,354-88-1,-90-53 0,-651 70-15,-319 54-1,-105-1-15,335-53 32,-52-17-1,-142 53 0,-71 17 0,-105 18-31,158-53 32,53 36-1,-211 17-31,141 0 31,35 0 0,-177 0-31,19 0 32</inkml:trace>
  <inkml:trace contextRef="#ctx0" brushRef="#br0" timeOffset="11041.81">8273 5274 0,'194'0'125,"-71"0"-109,477-53 0,-530 35-1,107 1-15,158-18 16,653-142-1,-812 124-15,477 0 32,-565 18-17,106 0 1,-106 35 0,-53 0-16,36 0 15,-36 0-15,124 0 16,-124 0-1,53 0-15,-17 0 16,352-53 0,-387 53-16,52 0 15,-35 0 1,35-35 0,-53 35 30,-17 0-46,0 0 16,17 0 0,0 0-1,177 0 17,176 0-1,-318 0 0</inkml:trace>
  <inkml:trace contextRef="#ctx0" brushRef="#br0" timeOffset="12657.28">8643 2858 0,'-18'105'47,"18"160"-31,0-142-1,0 512 17,0-546-32,0-36 0,0 35 0,0-35 15,0 123 1,0 0-1,18 265 17,-18-388-32,0 53 15,35 71 1,-35-160-16,36 265 31,-36-229-31,0-17 16,17-19-16,1 124 15,-18-105-15,53 87 16,35 283 15,-88-353-31,35 17 16,-17 89 15,17-124-15,-17 71 15,-18-53 0,17 18 1,1-36-1,0 35 0,-18-17 0,17 53 1,-17-88-32,0 105 31,18-87-16,-18-19-15,0 1 47,0 52-15,0-87 14</inkml:trace>
  <inkml:trace contextRef="#ctx0" brushRef="#br0" timeOffset="13877.44">9349 2734 0,'0'18'47,"0"17"-32,0 53-15,0 159 16,0-229 0,0 317-1,0-282 1,0 106-1,0-71 1,0 18 0,0 52-1,0-122-15,0 263 16,0-193 0,0-53-16,0 106 15,35 494 16,-17-459-15,-1-124-16,1 18 16,35 177-1,-53-212-15,17-18 16,1 0-16,-18 89 16,18-71-1,-18-36-15,35 72 31,-17-1-15,-1-35 0,36 194 15,-53-230-31,0 19 16,18 17-1,-18-18 1,35 159 15,-35-141-15,0 105 15,0-140-31,0 35 16,0 18-1,0-1 1,18 107 15,-18-160-15,0-70 46,0-35-62</inkml:trace>
  <inkml:trace contextRef="#ctx0" brushRef="#br0" timeOffset="15564.06">10037 2716 0,'0'18'109,"35"300"-77,-35-266-32,0-16 15,17 246 1,-17-212-16,0 36 15,0 247 17,0-194-17,0-106-15,18 211 32,-18-140-17,0 334 16,0-140 1,18-1-1,-18-281-31,17 52 16,-17 18-1,36 176 16,-19-88 1,-17-159-17,18 142 17,-18-54-1,18-105-31,-1 141 31,-17-18 0,0-124-31,18 71 32,-18-70-17,17 141 16,19 123 1,-36-264-32,0-1 0,17 54 31,-17-53 0,0-36 47</inkml:trace>
  <inkml:trace contextRef="#ctx0" brushRef="#br0" timeOffset="18030.08">8043 3016 0,'0'-17'94,"0"-1"-78,18-35-1,-18 35 17,35 18 61,-17 0-14,-18 36-64,0-19 1,0 54-1,0-18 17,0-36-17,-35 54 1,17-36 0,0 1-1,-17 34 1,53-70 124,-1 0-124,1 0 0,17 0-1,-17 0 17,17 0-1,-17 0 0,-1 0 16,19 18-31,-19-18 15,-17 17-16</inkml:trace>
  <inkml:trace contextRef="#ctx0" brushRef="#br0" timeOffset="20201.59">8537 2875 0,'-17'0'250,"-36"53"-235,53-35-15,0-1 0,-18 1 16,-17 35 0,17-18-1,-35 89 16,53-107-31,-35 54 32,17-18-1,1-36 0,-1 1-15,18 0-16,0-1 15,0 1 1,0 17 15,0 0 1,18-35-32,-1 0 62,1 0-15,0 0 47,17-88-63,-35 71 0,0-19 32,0 19 109,0-1-157,0 0 1,0 1-1,0-1 17,0 1 15,-18-1-1,18 0-14,-17 18 30</inkml:trace>
  <inkml:trace contextRef="#ctx0" brushRef="#br0" timeOffset="21362.12">8731 3016 0,'18'0'31,"0"0"16,17-17-31,141-54-1,-141 53-15,1 1 16,17-18-1,-53 105 204,0-35-203,0 1-16,0 122 31,0-34 0,17-36 1,-17-70-17,0-1 16</inkml:trace>
  <inkml:trace contextRef="#ctx0" brushRef="#br0" timeOffset="22601.17">9613 3140 0,'18'17'78,"17"19"-62,0-19 15,1 1 0,-1-18 0,0 0 1,0-18-1,36-52 0,-36 52 0,-17-52 1,-18-19-1,-18 36 0,1 53-15,-1-17 15,-53-36-15,-17 53 15,71 0 16,-19 35-16,-17 124 0,53-89-15,0-17 0,0 0-1,0-35 16</inkml:trace>
  <inkml:trace contextRef="#ctx0" brushRef="#br0" timeOffset="23887.91">10513 2893 0,'17'0'141,"1"-18"-126,17 18 17,-17 0-17,0 0 17,-1 18-1,-17 17-16,0 0 1,18 1 0,-18-1-1,0-17 1,0-1 0,-71 71-1,-176 53 1,230-123-1,-19 17 1,19-17 0,34-18 124,1 0-124,0 0-16,-1 0 31,1 0-15,35-18-1,-35 1 17,17-1-17,-17 18-15,-18-18 16,17 18 0,1 0-1,-1-17 1,1 17-16</inkml:trace>
  <inkml:trace contextRef="#ctx0" brushRef="#br0" timeOffset="24764.6">10777 2928 0,'18'0'31,"35"88"0,35 0 0,-70-70-31,-1 0 16,1-18-16,17 17 31,-17-52 63,0-35-78,-18-72 15,-36 37 0,19 87 0,-1-17 1,-17-1-1,-1 36 0,19 0 16,-18 18-31,35 0-16,-53 17 15,17 0 1,19-35-16,17 18 16,-18 52 15</inkml:trace>
  <inkml:trace contextRef="#ctx0" brushRef="#br0" timeOffset="25561.75">11430 2963 0,'18'0'78,"176"-247"-47,-177 230-31,89-107 31,-88 124 1,-18 53 77,0 35-93,-18 248 15,18-72 0,0-246-31,0-1 31</inkml:trace>
  <inkml:trace contextRef="#ctx0" brushRef="#br0" timeOffset="26907.21">10231 4128 0,'17'-18'125,"18"18"-125,-17 0 0,0 0 16,17 18 15,-35 17 47,-35 35-47,35-52-15,-18 0-16,-17 17 15,-18 0 1,0 18 0,18-18-1,35-17 32,0 0-16,35-18 1,-17 0-17,35 0 1,-36 0-16,71-18 31,-35 0-15,0 1-1,-35 17-15</inkml:trace>
  <inkml:trace contextRef="#ctx0" brushRef="#br0" timeOffset="27702.78">10742 4163 0,'18'0'109,"-1"0"-93,54 88 15,-71-70-15,18-18 15,-18 17 31,0 19-30,0-19-17,0 1 1,-36-1-1,1 1 1,-71 0 15,89-18-15,-19 0 15,19 0 0,-1 0-15,0-36 15</inkml:trace>
  <inkml:trace contextRef="#ctx0" brushRef="#br0" timeOffset="28235.86">10742 4022 0,'18'0'63,"193"-53"-32,-158 53-31,582-141 31,-388 88 1</inkml:trace>
  <inkml:trace contextRef="#ctx0" brushRef="#br0" timeOffset="28799.79">11783 3881 0,'-71'17'16,"142"-34"-16,-177 52 31,106-18 47,18 19-47,35 123 1,-53-124-1,0-18-31,0 36 31,-71-17 0,-53-36 1,72 0-17,34-36 32</inkml:trace>
  <inkml:trace contextRef="#ctx0" brushRef="#br0" timeOffset="29376.08">11695 3951 0,'0'-18'62,"176"-34"-31,-158 52-31,-1-18 0,19 0 0,-1 18 32,-35-17-1</inkml:trace>
  <inkml:trace contextRef="#ctx0" brushRef="#br0" timeOffset="30493.68">10760 3969 0,'0'17'16,"0"1"31,0 17-16,-18 54 0,18-19 1,0-52-17</inkml:trace>
  <inkml:trace contextRef="#ctx0" brushRef="#br0" timeOffset="42957.6">16298 2611 0,'0'158'78,"0"1"-62,0-106-16,0 0 0,0 53 15,124 264 17,87-35-1,-16-211 0,-54-107 0,-71-34 1,36-265-1,-106 211-15,0 0-1,0 1 1,-106-142 15,-35 36 0,88 105-15,-17 1 15,52 52-15,-17 0-1,-18 1 1,17 17-16,-122-18 31,-36 18 1,176 0-32,-105 0 15,-1 18 1,124-1-16,-18 1 15,18 70 17,36-35-17,122 0 1</inkml:trace>
  <inkml:trace contextRef="#ctx0" brushRef="#br0" timeOffset="43701.08">17639 3387 0,'0'0'16,"88"0"-16,-53 0 0,177 0 15,141 0 1,0 0 0,-36 0-1,-246 0-15,158 0 16,-176 0 0</inkml:trace>
  <inkml:trace contextRef="#ctx0" brushRef="#br0" timeOffset="44395.57">19526 2999 0,'0'0'15,"459"105"16,-371-87-31,300 88 32,-335-71-1,-53 36 0,-353 493 0,265-440-31,-18-1 16,36-17 0,17-88-1,70-18 48,1 0-48,0 0-15,35 0 16,70-18 0,-70 0-16,88-17 15,124-88 1,-230 105 0,-17 18-1,-1 0 1,-17-35-1</inkml:trace>
  <inkml:trace contextRef="#ctx0" brushRef="#br0" timeOffset="45039.97">20796 3351 0,'177'141'31,"-142"-123"-31,53 53 0,0-18 0,0-18 16,424 247-1,-459-264-15,0-1 16,0 19-16,-36-36 0,36 35 15,-35-35 1,-18 18-16,0 17 31,0-17-15,0 17 0,-35 0-1,-53-17 1,-124 35-1,-70 0 1,211-53 0,36 0-16,-71 0 15,88 17 1,1-17 0,-1 0-1,0-17 1,1-19-1</inkml:trace>
  <inkml:trace contextRef="#ctx0" brushRef="#br0" timeOffset="46111.09">20867 3387 0,'17'0'31,"19"-18"0,-19 0-15,548-52 15,-495 70-31,71 0 16,1-18-1,-125 18-15,1 0 0,0 0 16</inkml:trace>
  <inkml:trace contextRef="#ctx0" brushRef="#br0" timeOffset="46781.88">22701 3263 0,'-53'0'31,"106"0"-31,-123 0 16,52 0 15,53 71 16,195 105-16,-195-158-31,124 70 31,-142-53-31,36 18 16,0 53 15,-53-88-31,0 140 32,-123-69-1,105-89-31,-17 35 15,-71 0 1,18-17 0,-36-18-1,89 0-15,-177 0 32,142-18-1,52 1-31,0-19 15</inkml:trace>
  <inkml:trace contextRef="#ctx0" brushRef="#br0" timeOffset="47705.96">22631 3246 0,'17'0'47,"19"0"-15,-19 0-17,142-18 1,-124 18-1,142 0 1,-160 0 0,1 0 46,70 0-31,-35 0-15,18 0 0,-1 0-1</inkml:trace>
  <inkml:trace contextRef="#ctx0" brushRef="#br0" timeOffset="49628.78">15787 2417 0,'0'0'0,"17"317"32,19 124-17,-19-141 1,36 88 0,-17-71-1,16-34 1,-16-54 15,-36-176-15,0-18-1,0 0 1,17-35 15,1 0 16,105 0-16,865 0 1,-564 0-17,1763 0 16,-670-35 1,-371 17-1,-528 1 0,-565 17-15,-36 0-1,142 0 17,141 70-1,-106-17 0,-177-53-31,-17-35 156,0-230-124,0 71-17,0-599 17,-17 422-1,-1 301 0,18 52 16,-17 18-16</inkml:trace>
  <inkml:trace contextRef="#ctx0" brushRef="#br0" timeOffset="53111.65">19844 5256 0,'0'212'31,"17"-71"-15,-17-106-16,36 159 15,-19-88 1,19-70 0,-19 52-1,-17-35 17</inkml:trace>
  <inkml:trace contextRef="#ctx0" brushRef="#br0" timeOffset="54191.92">19650 5874 0,'158'141'79,"-69"-35"-64,-54-89-15,-17 19 16,52 34 15,-70-52-15,18-18-1,-1 0 1,19 0 15,-36 17-15,17-17 15,19-52 47,105-143-47,-106 160-15,-35 18 0</inkml:trace>
  <inkml:trace contextRef="#ctx0" brushRef="#br0" timeOffset="54756.61">17886 7161 0,'0'0'0,"17"0"16,125 0 0,105 0-1,88 0 1,-300 0-1</inkml:trace>
  <inkml:trace contextRef="#ctx0" brushRef="#br0" timeOffset="55969.68">18009 7214 0,'0'18'62,"0"194"-46,0-1-1,36 283 17,-19-300-1,-17-141-16,36-53 126,34-18-110,-17 1 16,0-1-16,-35 18-31,-1 0 32,1 0-1,-1 0-15</inkml:trace>
  <inkml:trace contextRef="#ctx0" brushRef="#br0" timeOffset="56831.15">18909 7638 0,'-18'70'31,"1"36"-15,17-71 0,17 1-1,1-1 1,0-35 0,-1 18-1,18-1 1,107-17 15,-107 0-15,177-106-1,-195 89 1,1-19-16,70-52 16,-53 53-1,18-36 1,-35 36-1,-1 0-15,-17 17 16,18-35 0,-18 0-1,-18-53 1,-52 18 0,-71 53-1,106 17-15,-301 18 31,231 0-15,-37 71 0,37-1-1,87-34 1,-17 52 0,35-17-1,0-19 1,17 90-1,1-90 1,0-34 0,158 53 15</inkml:trace>
  <inkml:trace contextRef="#ctx0" brushRef="#br0" timeOffset="57267.57">20496 7602 0,'0'0'0,"-17"159"16,17-124-16,0 36 15,0 35 1,0-89-16,0 36 16,0-35-16,0 123 31,0-123-31,0-1 16,0 1 15</inkml:trace>
  <inkml:trace contextRef="#ctx0" brushRef="#br0" timeOffset="58113.75">20920 7902 0,'35'-70'31,"-17"34"-31,17 1 16,318-300 15,-300 317-15,88-105-1,-106 88 1,-35 17 15,0 71 157,0 70-173,0-87-15,0 52 31</inkml:trace>
  <inkml:trace contextRef="#ctx0" brushRef="#br0" timeOffset="59094.85">21802 7038 0,'17'0'31,"72"0"-16,52 18 1,158-1 15,-263-17-31,-19 0 16,19 0 0,-36 18 124,17 105-124,-17-87-16,0 87 15,0-17 1,0-88-16,0 246 31,0-158-15,0-88-16,0-1 16,36 177 15,-36-176-31,0 0 15,17 70 1,-17-71 15,-70-17 79,-265 0-79,299 0-31,-52 0 16,-18 0-1,18 0 16</inkml:trace>
  <inkml:trace contextRef="#ctx0" brushRef="#br0" timeOffset="60346.8">21625 7320 0,'0'35'47,"0"71"-32,0-70 1,-17 87 0,17 18-1,-18-70 1,18 35 0,0 17-1,0-88 1,0-17-1</inkml:trace>
  <inkml:trace contextRef="#ctx0" brushRef="#br0" timeOffset="67282.59">14023 9895 0,'0'53'78,"0"124"-47,0-107-15,53 18 0,-36-52-16,1-1 0,88 53 31,-71-70-16,18 17 1,35-35 15,-52 0-15,-1 0 0,88-123 15,-52-107 0,-71 213-31,0-54 16,-53-141 15,53 195-31,-71-36 31,54 18-31,-71 17 31,52 18 1,-52 88-1,53-35 0,88-18 16</inkml:trace>
  <inkml:trace contextRef="#ctx0" brushRef="#br0" timeOffset="68323.42">14764 10037 0,'17'0'94,"72"-89"-63,-72 54-16,36-71 1,-35 53-16,17-17 16,-35-71 15,0 105 0,0 177 79,-35 177-79,35-283-31,0 1 15,17 87 1,107 89 15,-106-212-31,-1 35 16,1-17 15,17-36 32,18-88-32,0-35 0,-35 70 0,-71 36 1,0 35-1,-35 35 0,35 18 0,53-17 1,0-19-17</inkml:trace>
  <inkml:trace contextRef="#ctx0" brushRef="#br0" timeOffset="68940.5">15699 10195 0,'0'36'31,"0"-1"-15,0-18-16,0 1 15,17-106 95,54-53-79,-71 106-15,17 35 77,54 52-61,-53-34-32,17-18 15</inkml:trace>
  <inkml:trace contextRef="#ctx0" brushRef="#br0" timeOffset="69797.38">16016 10125 0,'0'-18'31,"0"53"94,0 1-109,18 17-1,-1-53 17,19-36 30,17-52-31,-53 70-15,0-34 15,0-1 1,17 88 46,-17-17-78,71 105 31,-1-70 0</inkml:trace>
  <inkml:trace contextRef="#ctx0" brushRef="#br0" timeOffset="70652.09">16316 10142 0,'18'0'63,"105"-70"-48,-123 87 188,0 1-187,-35 106 0,-36-36 15,71-71 0,18 1 79,17-18-79,0 35 0,-17-35 16,0 0-16,17 0 0</inkml:trace>
  <inkml:trace contextRef="#ctx0" brushRef="#br0" timeOffset="71208.92">17657 9243 0,'-18'123'31,"0"-35"-16,-193 442 1,175-389-16,-264 776 31,159-529-15,106-300 0,0 36-1,35-336 63,0 194-62</inkml:trace>
  <inkml:trace contextRef="#ctx0" brushRef="#br0" timeOffset="72208.63">17692 9931 0,'17'0'109,"54"17"-77,-18 36-1,-35-17-31,-1-19 15,18 71 1,-17-35 0,-18-17-1,18-36 1,-18 17-16,0 54 31,-36-54-31,19 19 16,-36-1-1,18 36 1,35-54 15,17-17 63,1 0-78,0 0-1,34 0 1,-34 0-16,0 0 16,17 0 15,-17 0-16,35 0 17,-36 0-17,19-17 1</inkml:trace>
  <inkml:trace contextRef="#ctx0" brushRef="#br0" timeOffset="72954.48">18309 10160 0,'18'0'109,"52"71"-77,-52-71-32,0 52 31,-18-16-16,17-19 32,1 19-31,-18-1 15,0-17-15,0-1-1,0 19 17,-18-36-1,-17 0 0,0 0-15,17 0-1,-35 0 17,36 0-1</inkml:trace>
  <inkml:trace contextRef="#ctx0" brushRef="#br0" timeOffset="73483.06">18274 10125 0,'35'0'109,"142"-18"-93,-125 18-16,142-35 31</inkml:trace>
  <inkml:trace contextRef="#ctx0" brushRef="#br0" timeOffset="74050.05">18803 10072 0,'0'35'32,"0"0"-1,18 18 0,-1 0 0,36 0 1,-53-35-32,18 17 15,0-17 1,17 70 0,-35-18 15,-35-17 0,35-35-15,-195 70-1,54-70 17,124-18-17,-36 0 1,35 0-1,1-35 1,17-54 0</inkml:trace>
  <inkml:trace contextRef="#ctx0" brushRef="#br0" timeOffset="74686.1">18821 10019 0,'17'0'63,"54"0"-32,-36 0-16,89 0 1,-1 0 0,-105 0-16,-1 0 15,1 0 1,0 0 78</inkml:trace>
  <inkml:trace contextRef="#ctx0" brushRef="#br0" timeOffset="75114.81">19244 10689 0,'0'0'0,"0"-17"16,0-19-1</inkml:trace>
  <inkml:trace contextRef="#ctx0" brushRef="#br0" timeOffset="76201">19650 10389 0,'0'36'0,"0"-72"0,0 89 15,-18-17-15,18 34 32,0-35-17,0 1 1,35 17 15,-17-53-15,17 0 31,124-18-16,17-53 0,-140 36-15,-1 17-1,-17-17 1,-18 18-16,0-54 31,0 0 0,0 54-31,-18-1 16,0-17 0,-17 17-1,0-17 1,17 35 0,-17 0 15,17-18 0,-35 18 0,18 0 1,-124 36-1,1 34 0,140-70-31,0 18 31,18 17 1,0 18-1,0-18 0,0-17 0</inkml:trace>
  <inkml:trace contextRef="#ctx0" brushRef="#br0" timeOffset="77547.87">19297 10724 0,'0'-17'125,"0"-1"-31,0 1-79,0-1-15,0 0 32,0 1 15,0 34 93,0 1-109,-18 0-15,-52 17-16,52-35 0,-17 17 16,-18 1-1,18-18 1,-1 0 0,36-35 109,18 17-110,0 18 16</inkml:trace>
  <inkml:trace contextRef="#ctx0" brushRef="#br0" timeOffset="78383">19544 10266 0,'-18'35'47,"18"18"-15,0 0-17,0-18 1,0 18-1,0 0 17</inkml:trace>
  <inkml:trace contextRef="#ctx0" brushRef="#br0" timeOffset="80037.02">19191 10724 0,'0'-35'172,"18"18"-141,17-19 0,-17 1 0,17 0 1,-17 35 46,-18 35 47,0 0-94,0-17 16,0 0-47,-18-1 15,0 1 32,-17-18-15,17 0-1,-35 0 0,36 0-15,-18 0 31,17 0-1</inkml:trace>
  <inkml:trace contextRef="#ctx0" brushRef="#br0" timeOffset="135529.37">10019 1570 0,'0'0'0,"0"-35"16,18-36 0,34 18-16,19-17 15,52-19 1,-87 72-1,-1 17 1,-17 0-16,70 0 31,-70 0-15,17 0-16,-18 0 16,1 0-1,17 35 16,-17 18-15,-36 247 15,-17-194-15,-71 35 15,53-71 0,53-34-15,-35-1 0,35-18-1,0 1 48,18-18-48,35 18 1,17-1 0,-17-17-1,-18 0 1,-17 0 15,0 0 0</inkml:trace>
  <inkml:trace contextRef="#ctx0" brushRef="#br0" timeOffset="136659.7">11271 1429 0,'106'88'78,"35"53"-47,-123-106 0,-1 1 0,-17-19 1,-17-17 30,-1 0-46,-17 0-1,0 0 1,17-35 0,0 35-1,1-18 1,17 1 0,0-36 15,0 18 0,17 17-15,160-123-1,-142 141 1,18-53 0,18 0 15,-54 18-16,-17-1 17,0 19-1,-35-1 0,-18 18 16,35 0-31,-35 0-1,-17 0 17,35 18-17,-1-1 1,-70 72-1,89-89-15,17 17 16,-35 18 0,17-17-1,-35 35 1,35-35 0,1-1-1,-1-17-15,18 36 16,0-19-1</inkml:trace>
  <inkml:trace contextRef="#ctx0" brushRef="#br0" timeOffset="137937.34">5327 5256 0,'0'0'16,"71"-53"15,17 36 0,-18 17 0,-52 0-31,70 17 32,-17 36-1,-54-35-31,1 53 31,-36 123 0,-105-71 1,-36-17-17,-17 35 17,87-70-1,89-54 94,142 89-94,-107-106-31,124 71 31,-124-71 1,-17 0-1,-1 0 0,1 0-15,17 0-16</inkml:trace>
  <inkml:trace contextRef="#ctx0" brushRef="#br0" timeOffset="139281.37">5980 5662 0,'17'18'78,"71"52"-62,-88-52-16,71 52 15,-53-17 1,17-17-16,53 69 31,-70-69 1,-18-19-32,0 19 31,-18-36 63,-17 0-79,17 0-15,-35-53 31,-17-53 1,34 35-1,19 18-15,17 36 30,70-107-30,-34 107 0,122-54-1,-69 36 17,-72 35-1,-17-18 109,-17-17-124,-36 0 0,35 35-1,0-18 1,1 0 0,-1 18 15,0 0 0,18 18-15,-35 17-1,18 18 1,-19-17 0,19-19-16,-19 18 15,19-35 110</inkml:trace>
  <inkml:trace contextRef="#ctx0" brushRef="#br0" timeOffset="140327.34">8537 8343 0,'0'18'31,"-35"299"1,35-176-17,-35 265 1,-89 282 15,89-529-15,-36 123-1,18-88 1,18 300 15,18-141-15,17 0 0,35 405 15,18-564-16,-18 106 1,0-230-16,18 160 16,71 140-1,-107-264-15,19 53 16,16-18 0,1 18 15</inkml:trace>
  <inkml:trace contextRef="#ctx0" brushRef="#br0" timeOffset="140921.49">8608 13494 0,'17'106'32,"54"52"-17,-53-140-15,35 53 16,-1 34 0,-52-87-16,18 17 15,-18 1 1,0-19-1,0 1 32,-53 70-15,-35-35-17,-18-18 16,71-52-15,0-19 0,17 19 15,0-1 0</inkml:trace>
  <inkml:trace contextRef="#ctx0" brushRef="#br0" timeOffset="142786.25">7267 3157 0,'88'-70'94,"-52"17"-79,-19 18 1,19-36-1,-19 53 1,-17 1 15,18 140 126,-18 177-126,0-247-31,0-35 15,0 105 17</inkml:trace>
  <inkml:trace contextRef="#ctx0" brushRef="#br0" timeOffset="143735.76">7549 3475 0,'0'-18'16,"18"159"156,-18 0-141,0-105-15,-123 140 15,105-141-31,-17-35 0,-1 36 16,-122 52-1,122-70 1,1-1-16,-53 18 31,123-35 125,53 0-140,-52 0-16,211-17 31,-212 17-15,0-35 0,0 35 15,-35-18-16,71 18 17,-36-35-1,-17 17 0</inkml:trace>
  <inkml:trace contextRef="#ctx0" brushRef="#br0" timeOffset="144642.2">7673 4304 0,'70'0'31,"-140"0"-31,158 0 0,-70 0 16,-1 0 0,1 0 15,-18 35 0,-18-17-31,1-1 16,-36 36 15,-35 0 0,88-35 94,17 52-94,1-17 1,-18-35-1,0 0 0,-229 17 0,176-35-31,-18 0 0,-123 18 32,176-18-32,1 0 15</inkml:trace>
  <inkml:trace contextRef="#ctx0" brushRef="#br0" timeOffset="145763.84">7267 7179 0,'0'-18'31,"0"1"1,0-1-1,0 71 63,0-18-79,-53 71 1,-35 0-1,35-88-15,0 35 0,-88 35 16,35 0 0,89-70-1,-36 17 17,70-35 30,19 0-31,-19 0-31,1 0 16,176-18 15,-71-70-15</inkml:trace>
  <inkml:trace contextRef="#ctx0" brushRef="#br0" timeOffset="146693.6">7444 7285 0,'88'70'15,"-176"-140"-15,264 211 16,-141-123-16,106 158 31,-105-158 0,-36 17 1,0 18-1,-18-53-16,-53 0 17,-52-88-1,88-1 0,35 72-15,0-107 15,0 107-31,53-54 31,-18 36 1,35-36-1,-34 36-16,17-18 17,-53 35-1,0-17 0,0 0 0,-53 0 1,-35 35-1,17 17-15,71 1-1,-18 0-15,18-1 16,-17 1-16,17-1 15,-36 36 1,19-35 15</inkml:trace>
  <inkml:trace contextRef="#ctx0" brushRef="#br0" timeOffset="147200.81">7267 7179 0,'-17'-18'16,"17"36"93,0 0-93,0 17 0</inkml:trace>
  <inkml:trace contextRef="#ctx0" brushRef="#br0" timeOffset="148327.14">8273 7338 0,'0'17'78,"247"-17"-62,282 0-1,18-53 1,-389 36-16,812-107 16,-811 107-16,-35 17 15,511-88 1,-600 88-16,36-18 15,87-17 1,-52 17 0,-53 0-1,53 1 1,70-1 0,-105 0-1,123 18 1,70-35-1,371-18 1,-582 53-16,0 0 16,18 0-16,35-17 15,-71 17-15,53 0 16,-53 0 15,1 0-15,-19 0-16,71 0 15,124 0 1,-159 0 15,-18 0 32,1 0-48,-19 0 1,1 0 15</inkml:trace>
  <inkml:trace contextRef="#ctx0" brushRef="#br0" timeOffset="151998.51">9172 13988 0,'18'17'15,"0"36"1,105 318-1,-105-283 1,35 141 0,-18-123-1,-35-18 1,70-88 156,19 0-157,-37 0-15,-16 0 16,493-53 0,-476 53-16,106 0 15,458 0 1,-494-17 0,89-1-16,-88 18 0,158-18 15,406-17 1,-530 17-16,178 18 15,157 0 1,-440 0-16,36 0 16,-37 0-16,160 0 15,141 0 1,35 18 0,-247-18-16,159 35 15,-53-35 1,106 36-1,193 34 1,-351-52 0,122-18-1,406 0 1,-670 0-16,35 0 16,142 0-1,-89 0 1,-124 0-1,1 0 1,-18-36 78,0 1-79,0 0 1,-35-18 0,17-35-16,-52-177 15,17 89 1,-124-477 0,177 618-16,0-18 15,0-18 1,0 54-16,-123 70 187,52-36-171,36 1-16,-194 17 16,-71 18-1,-247 35 1,441-88-1,-282 36 1,318-36 0,52 0-16,-264 0 15,246 0 1,-211 0-16,-123 0 16,-494 0-1,599 0 1,-211 35-1,229-17 1,53-18 0,141 0-16,-265 0 31,160 0-15,105 0-16,-88-18 15,-212 0 1,35 18-1,-52 36 1,317-36 0,-35 0-1,35 0 1,35 0 0,1 0-1,-1 0 1,0 0 15,-52 0-15,52 0-1,-105 35 1,35-35 0,-177 0 15,247 0-31,1 0 15,-71 0 1,70 0 0,-35 0 15,35 0-15,-35 0-1,-35 0 16,-18 0 1,89 0-17,-36 0 1,-18 0 15,54 0-15,-1 0-16,0 0 15,-52 0 1,-89-18 0,141 18 15,1 0 0,-1 0 32,1 0-32,-1 0 0</inkml:trace>
  <inkml:trace contextRef="#ctx0" brushRef="#br0" timeOffset="152609.28">10125 13811 0,'17'71'47,"19"70"-31,-36-106-16,0 71 15,0 247 17,35-89-1,-35-228 0,18-36 32</inkml:trace>
  <inkml:trace contextRef="#ctx0" brushRef="#br0" timeOffset="153063.62">10619 13758 0,'35'36'46,"18"316"-14,0 1-1,-18-212 0,-35-123-31,18 0 31</inkml:trace>
  <inkml:trace contextRef="#ctx0" brushRef="#br0" timeOffset="153481.4">11906 13635 0,'0'141'16,"0"-18"-1,0-87-15,0 52 16,0 177-1,0-36 1,18-123 0,0-36-1</inkml:trace>
  <inkml:trace contextRef="#ctx0" brushRef="#br0" timeOffset="153920.37">13476 14623 0,'18'0'109</inkml:trace>
  <inkml:trace contextRef="#ctx0" brushRef="#br0" timeOffset="154171.37">13917 14623 0,'18'0'32,"-36"0"-32,53 0 31,-17 0-16,105 0 1,1 0-16</inkml:trace>
  <inkml:trace contextRef="#ctx0" brushRef="#br0" timeOffset="154423.26">15117 14552 0</inkml:trace>
  <inkml:trace contextRef="#ctx0" brushRef="#br0" timeOffset="155593.6">16475 13652 0,'0'71'78,"0"70"-62,0 53-1,53 159 1,-18 70-1,0-35 1,-17-247 0,-18-52-1,0-107 110,-35-105-93</inkml:trace>
  <inkml:trace contextRef="#ctx0" brushRef="#br0" timeOffset="158421.47">9225 13494 0,'35'-36'63,"89"-105"-47,-106 124-16,17-19 15,35-34 16,-52 35-15,0 17 0,-18 0-16,0 1 15,17-1 1,-17 0-16,0 1 16,0-1-1,0 1 16,0 34 63,0 195-63,0-195-31,0 1 16,0 70 0,0-52 15,0-19 16,0 18-16,18 36 0,0-36 1</inkml:trace>
  <inkml:trace contextRef="#ctx0" brushRef="#br0" timeOffset="160155.56">11042 13000 0,'18'0'78,"34"-35"-62,-16 35-16,105-18 16,0 18-1,-106 0-15,18 0 16,0 0 0,-53 18 46,0-1-46,0 54 15,0-54 172,0 36-172,18 0-15,-18 0 15,0-18 0,0 1 1,-18-1-1,0 0-15,1-35-1,-1 18-15,1-18 16,-1 0 31,-70 0-16,88-18 0,-18 1 0,0-1-31</inkml:trace>
  <inkml:trace contextRef="#ctx0" brushRef="#br0" timeOffset="161421.29">11659 13053 0,'-17'0'46,"-19"0"95,-175 35-110,175-17 1</inkml:trace>
  <inkml:trace contextRef="#ctx0" brushRef="#br0" timeOffset="163712.66">16492 12647 0,'18'0'266,"0"35"-235,-1 18 0,-158 71 0,-18-18 1,142-106-32,-1 17 0,-70 54 31,70-71-31,1 17 0,-36 36 15,-18 18 1,71-53-16,-35 17 16,17-18-1,36-17 110,158 0-93,-158 0-17,0 0-15,123 0 16,-124 0-1,19 0 1,34 0 0,-52 0-16,17 0 15,-17 0 48,-1 0-48,1 0 17</inkml:trace>
  <inkml:trace contextRef="#ctx0" brushRef="#br0" timeOffset="164893.87">16757 12841 0,'18'0'78,"35"53"-46,-53-35-17,35 70 1,-35-18 15,0-52-15,0 0-1,0-1 1,-35 1 15,-1-18-15,19 0 31,-1 0-32,18-35 1,0 17 15,18 0 16,87-34-16,-52 16-15,71 1 0,35-71 15,-124 71-15,-18-18-1,1-53 1,0 36-1,-18-19 1,-36-17 15,-16 71 1,-37 35-17,36 53 1,-17 18-1,52 17 1,18-35 0,-35 53 15,35-89-15,-35 1-1,35 0-15</inkml:trace>
  <inkml:trace contextRef="#ctx0" brushRef="#br0" timeOffset="166656.76">13088 16140 0,'141'-106'31,"459"-406"1,-247 195-1,-283 264 0,-70 88 94,-17 177-94,-19-71 1,36-123 14,-17 193-14,-1-158-1</inkml:trace>
  <inkml:trace contextRef="#ctx0" brushRef="#br0" timeOffset="168111.52">17798 13106 0,'53'106'63,"-1"52"-48,72 283 1,17 124 0,-141-512-16,53 282 31,-53-318-15,18 213-1,-18-177 1,0-36-16,17 89 15,-17-88 1,0-1-16</inkml:trace>
  <inkml:trace contextRef="#ctx0" brushRef="#br0" timeOffset="170471.25">17903 13406 0,'0'-18'32,"265"0"-1,88 18-15,688-88 15,-724 70-16,230 1 1,299-36 0,-16 35-1,-478 18 1,72 0 0,281 0-1,-264 0 1,-17-53-1,-36 36 1,-336-1 0,-34 18 15,35 0 63,18 0-63,-71 265 235,0 581-235,0-757-31,0 140 15,0 71 1,0-159 15,0-124 32,0 72-32,-18-89 94,0-18-109,-123-35 15,-300 18 0,335 35-31,-687 0 31,528 0-15,106 0-16,-176 0 16,-494 17 15,706-17-15,-442 0 15,424 0-16,-176 0 1,176 0-16,-18 0 16,-494-17 15,142-1 0,158 18 0,335 0-15,-70 0 78,-177 0-63,230 0-31,0 0 31</inkml:trace>
  <inkml:trace contextRef="#ctx0" brushRef="#br0" timeOffset="171816.44">20638 15787 0,'35'-35'31,"18"-1"-15,70-17 0,-52 36-16,211-54 31,-282 89 78,-88 105-78,-194 54 1,-1-1-1,177-105 0,71-54 0,35 1 1,53-1 30,512 36-31,-442-35-31,124 0 16,-35-36 15</inkml:trace>
  <inkml:trace contextRef="#ctx0" brushRef="#br0" timeOffset="173722.81">25329 13000 0,'18'0'0,"70"-18"15,-17 18 1,282-35 0,-248 35-16,1060-106 15,-213 18 1,-352 53-1,-371 35-15,1112-124 16,-759 107 0,-318-1-16,601-17 15,-724 35 1,317 0 0,160 0-1,-283 0 1,0 0-1,-335 17 142,-176 177-126,158-158-15,-70-1-16,-353 371 15,300-283 1,-512 547-1,618-599 1,-18 35-16,-123 194 31,176-265-31,-18 0 16,18 18 0,0-18-1,0 1 1,0-19-1</inkml:trace>
  <inkml:trace contextRef="#ctx0" brushRef="#br0" timeOffset="174956.11">25612 13053 0,'0'17'0,"17"36"0,19 212 16,17-71-1,17 212 1,-52-336-16,-1 1 15,72 370 17,-89-406-32,0-17 15,17 17 1,89-35 78,794-53-63,-689-18-31,-70 54 0,71-36 0,-71 53 16,106-71-16,1041 18 31,-1094 53-31,-71 0 0,336-17 15,-36 17 1,230-18 15,-583 18-15,54 0 15,-107 0-15,107 0-1,-106 0-15,176 0 16,-36 0 0,89 35-1,-123 1 1,-54-19 0</inkml:trace>
  <inkml:trace contextRef="#ctx0" brushRef="#br0" timeOffset="175781.87">29281 15293 0,'52'18'63,"160"-18"-47,-177 0-16,-17 0 0,35 17 0,-35-17 15,-1 18-15,1-18 0,0 17 16,-1 19-1,-17-1 1,-35 36 0,17-36-16,-17-17 0,17-1 0,-17-17 15,35 18-15,-53 17 16,36-17-16,-1-1 31,36 54 47,34 17-62,-52-70-16,36 123 31,-36-124-31,0 1 0,0 35 47,-230 35-16,213-88-31,-36 18 16,-71-18 15,107 0-31,-1 0 16,-17-18-1</inkml:trace>
  <inkml:trace contextRef="#ctx0" brushRef="#br0" timeOffset="176264.14">32297 14958 0,'17'0'31,"1"0"32,0 0-63</inkml:trace>
  <inkml:trace contextRef="#ctx0" brushRef="#br0" timeOffset="176673.04">33532 15081 0,'17'0'109</inkml:trace>
  <inkml:trace contextRef="#ctx0" brushRef="#br0" timeOffset="176940.11">33584 15081 0,'18'0'0,"-36"0"0,54 0 31,-19 0-15,1 0-16,0 0 62,-1 0-30</inkml:trace>
  <inkml:trace contextRef="#ctx0" brushRef="#br0" timeOffset="177538.09">33002 15169 0</inkml:trace>
  <inkml:trace contextRef="#ctx0" brushRef="#br0" timeOffset="186911.36">17039 0 0</inkml:trace>
  <inkml:trace contextRef="#ctx0" brushRef="#br0" timeOffset="189767.06">33849 0 0</inkml:trace>
  <inkml:trace contextRef="#ctx0" brushRef="#br0" timeOffset="191628.6">6156 8273 0,'423'-653'125,"300"-247"-125</inkml:trace>
  <inkml:trace contextRef="#ctx0" brushRef="#br0" timeOffset="195564.99">22648 11624 0,'141'0'94,"512"-18"-63,-88-35-15,-548 53-1,36 0 1,-53 18 62,0 53-47,0-54-15,-88 160 0,70-142-1,-52 124 1,52-124 15,-35 88 250,0-34-265,-88 140 0,35-53-1,89-140-15,-19-19 0,36 19 16,0-72 93</inkml:trace>
  <inkml:trace contextRef="#ctx0" brushRef="#br0" timeOffset="196030.27">23424 12206 0,'53'0'47,"36"0"-32,334 0 1,-282 0-1,-70 0-15,317 0 16,-335 0-16,35 0 16,35 0-1,-105 0 1</inkml:trace>
  <inkml:trace contextRef="#ctx0" brushRef="#br0" timeOffset="198448.08">25065 12012 0,'35'18'62,"-35"-1"-46,53 89 0,-35-18-1,-18-70 1,0 0 0,0-1 15,0-52 156,17 17-171,1-17 0,35-18-1,35-17 1,-53 34-1,-17 36-15,53-35 32,-36 17-17,-18 1 1,19 17 0,-19 0 30,-17-18 1,0 1-31,0-1 0,0-17-1,0 17 1,0 36 93,-17 17-93,-1 0 15,18-105 94,0-36-94,0 88-31,-18-35 32,18 36-17,-17-19 16,-36 36 110,35 18-125,-35 17 15,36 1-15,-1-19-1,-35 54 16,53-54-15,-17-17 0,-19 53 15,36-35 0,-17 17 0,17 0-15,0-17-16,0 17 16,0-17-1,0 0 1,0-1 0,0 19 15,0-1-16,17-35-15,-17 17 16,53 54 15,-35-18-15,-1 0 0,1 0-1,0 53 16,-18-89-15,0 89 0,-36 0-1,1-53 1,18-36 0,-1-17-16,18 18 0,-18 0 15,-17 17 16,17-35-31,1 0 47,-54-35-31,36 35-16,17-18 16,-88-105 15,71 34 0,35 54-15,0-88 15,18 70-15,-1 17-16,1 1 15,105-159 16,-105 177-15,0 17 0,17 0 46,36-18-46,317-35 15,-282 53-15,-89 0-1</inkml:trace>
  <inkml:trace contextRef="#ctx0" brushRef="#br0" timeOffset="199141.09">26564 11430 0,'-53'123'31,"18"19"0,-106 157 1,123-246-32,-52 53 15,-1-18 1,71-70-16,-35 35 31,35-35 0,-18-18 1,389 17 30,-318-17-62,-36 0 0,36 0 0,71 0 31,-107 0-31,-17-17 63</inkml:trace>
  <inkml:trace contextRef="#ctx0" brushRef="#br0" timeOffset="199629.08">26758 11977 0,'0'53'63,"0"-18"-47,0 88-1,-35 54 1,35-160-1,0 1-15,-18 17 16,18-17-16,-17 106 16,-1-72 15</inkml:trace>
  <inkml:trace contextRef="#ctx0" brushRef="#br0" timeOffset="-190964.48">23760 11924 0,'0'-18'46,"0"1"-30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0.26178" units="1/cm"/>
          <inkml:channelProperty channel="Y" name="resolution" value="50.23256" units="1/cm"/>
          <inkml:channelProperty channel="T" name="resolution" value="1" units="1/dev"/>
        </inkml:channelProperties>
      </inkml:inkSource>
      <inkml:timestamp xml:id="ts0" timeString="2026-10-07T09:14:39.857"/>
    </inkml:context>
    <inkml:brush xml:id="br0">
      <inkml:brushProperty name="width" value="0.05292" units="cm"/>
      <inkml:brushProperty name="height" value="0.05292" units="cm"/>
      <inkml:brushProperty name="color" value="#FF0000"/>
    </inkml:brush>
  </inkml:definitions>
  <inkml:trace contextRef="#ctx0" brushRef="#br0">15381 3616 0,'0'88'110,"0"71"-95,0-71 1,18 688 15,-18-670-31,17-35 16,1 228-1,-18 178 17,18-336-17,-18-106-15,17 36 16,-17 423 15,0-283-15,0 213 15,0-407-31,0 160 16,0-36-1,18-88-15,0 70 16,-1 177 15,-17 0 0,18-36 1,-18-193-32,0 88 15,0 88 1,0 35 0,0-229-16,0 106 15,0-71 1,0 70-1,0 160 17,0-124-17,0-123-15,0 246 16,0-123 15,0-53 0,0 36 16,0-19-15,0 1-1,-18-18 0,18-88 0,0-71 63,0-34-94</inkml:trace>
  <inkml:trace contextRef="#ctx0" brushRef="#br0" timeOffset="1491.63">10195 7708 0,'36'-17'16,"-72"34"-16,177-70 0,-88 53 0,-17-17 15,281-1 1,-299 18-1,-1 0-15,160 0 16,-1 0 0,36 0-1,423 0 1,617-35 0,-1058 17-1,318 0 1,-354 1-16,777-1 15,-705 1 1,140 17 0,-194 0-1,-87-18-15,316 18 16,-228 0 0,228 0-1,160 0 1,423 0-1,-847-18 1,17 18-16,231 0 16,-107 0-1,-212 0-15,107 0 16,175 18 0,-299 0-1,0-18-15,18 17 16,317 54-1,-106-36 1,-88 0 0,159-17-1,17 17 1,301 18 0,-266-35 15,-387-18-16,158 0 1,-176-18 109</inkml:trace>
  <inkml:trace contextRef="#ctx0" brushRef="#br0" timeOffset="2392.6">22490 7373 0,'0'0'0,"335"106"78,-300-88-62,88 17-1,72 0 1,-178 0 62,-17-17-47,0 0 32,0 35-32,0-36-15,-17 18-1,-72 71 1,54-88 0,-124 105-1,124-87 1,-177 52-1,159-70 1,-35-1 0,35-17-1</inkml:trace>
  <inkml:trace contextRef="#ctx0" brushRef="#br0" timeOffset="4004.6">15787 7849 0,'0'36'31,"0"17"-15,0 17-1,0 89 17,0-142-17,35 36 17,-35-35-1,18-18 47,123-88-47,-53 35-15,124-123 15,-195 158-15,-17 0-1,18-17 17,-18-18-1,0 18-16,0-1 17,0 19-17,-88-36 17,-18 18-1,18 17 0,35 18-15,35 0-1,-35 0 17,18 53-1,0 53-16,17-71 1,18 0 0,0 36-1,-18-36 1,18 36 15,0-36 0</inkml:trace>
  <inkml:trace contextRef="#ctx0" brushRef="#br0" timeOffset="5138.82">14834 3528 0,'88'-88'62,"-17"-18"-46,-36 70-1,54-69 1,-54 87 0,-18-35-1,1 35-15,0-17 16,-1 18 0,1 17-1,35 70 110,17 124-109,-17-141-16,230 547 31,-248-583-31,-35 19 16,70 87-1,-70-105-15,53 35 16,18 35 15,-53-70-15</inkml:trace>
  <inkml:trace contextRef="#ctx0" brushRef="#br0" timeOffset="6014.72">14958 5398 0,'88'0'78,"0"0"-62,-53 0-16,89 17 15,317-17 1,-388 0-16,-36 0 16,142 0-1,-124 0 16,-17 0-15</inkml:trace>
  <inkml:trace contextRef="#ctx0" brushRef="#br0" timeOffset="7859.6">14376 4621 0,'0'-17'62,"17"-36"-46,19 0-1,87-159 17,-70 159-1,-53 142 172,0 87-172,0-123 1,0-18-1</inkml:trace>
  <inkml:trace contextRef="#ctx0" brushRef="#br0" timeOffset="8365.14">14834 4410 0,'0'17'47,"-17"72"-31,-1-54-16,0-35 0,18 35 0,-17 0 16,-71 106-1,70-105-15,-17 70 16,17-53-1,0-1 1,1-34 0,17 0 15</inkml:trace>
  <inkml:trace contextRef="#ctx0" brushRef="#br0" timeOffset="9784.71">14817 4851 0,'0'0'32,"17"-36"-1,-17 19-31,18 17 0,123-88 31,-88 70-15,70-35 15,-123 106 63,0 70-63,0-105-15,0 17-1,0-17-15,-35 105 32,18-105-17,17 0-15,-18 17 16,-176 88 15,176-105-15,-17 0 93,53-18 94,52 0-172,-35 0-15,-17 0 0,0 0-1,35 17 17,-36-17-17,19 18 16,-1-18 1,-18 0-1,1 18-15</inkml:trace>
  <inkml:trace contextRef="#ctx0" brushRef="#br0" timeOffset="19719.82">15028 3422 0,'0'-18'62,"36"18"-31,87 0 1,36 0-1,-106 18-16,17 17 17,-17-17-1,-35-18 31,17 0-30,-17 0-1</inkml:trace>
  <inkml:trace contextRef="#ctx0" brushRef="#br0" timeOffset="20767.91">14446 3404 0,'0'-17'32,"0"-1"-1,71-88-15,-1 36 15,-52 52-16,17-17 1,1 17 15,16-35 1,-52 36-17,18-19 1,-18 142 78,-18 18-79,1-1 1,-1-52-1,18 17 1,-17 0 0</inkml:trace>
  <inkml:trace contextRef="#ctx0" brushRef="#br0" timeOffset="21709.07">10178 3457 0,'53'0'31,"-18"0"-15,-18 0 0,19 0-1,-19 0 1,1 0-16,0 0 15,-1 0 1,36 0 0,-35 0-16,299-17 15,-299 17 17</inkml:trace>
  <inkml:trace contextRef="#ctx0" brushRef="#br0" timeOffset="22190.16">11430 3440 0,'18'0'62,"-1"0"-46,19 0-1,-1 0 1,71 0 0,-89 0-1,1 0-15,70 0 16,-53 0 0,-17 0-16,35 0 15</inkml:trace>
  <inkml:trace contextRef="#ctx0" brushRef="#br0" timeOffset="22594.58">12700 3422 0,'18'0'15,"-1"0"17,1 0-17,105 0 17,-17 0-17,35 0 1,-35 0-1</inkml:trace>
  <inkml:trace contextRef="#ctx0" brushRef="#br0" timeOffset="23023.9">14605 3440 0,'18'0'31,"-1"0"-15,1 0-1,0 0 16,17 0 1,106 0-17</inkml:trace>
  <inkml:trace contextRef="#ctx0" brushRef="#br0" timeOffset="23380.88">15734 3440 0,'0'0'0,"35"0"31,0 0 1,18 0-17,-35 0 1,105 0 15,-70 17-15</inkml:trace>
  <inkml:trace contextRef="#ctx0" brushRef="#br0" timeOffset="23657.6">16492 3492 0,'18'0'31,"53"0"0,34 0-15,72 0-1,105 0 1</inkml:trace>
  <inkml:trace contextRef="#ctx0" brushRef="#br0" timeOffset="23954.19">18292 3369 0,'17'0'47,"54"0"-16,281-18 0,-69 18-31</inkml:trace>
  <inkml:trace contextRef="#ctx0" brushRef="#br0" timeOffset="24254.53">20197 3369 0,'17'0'31,"54"0"63,105 18-94</inkml:trace>
  <inkml:trace contextRef="#ctx0" brushRef="#br0" timeOffset="24628">21978 3440 0,'18'0'94,"-1"0"-78,36 17-1,-17 1 1</inkml:trace>
  <inkml:trace contextRef="#ctx0" brushRef="#br0" timeOffset="24973.22">23230 3634 0</inkml:trace>
  <inkml:trace contextRef="#ctx0" brushRef="#br0" timeOffset="30893.86">9913 7355 0,'18'0'47,"88"-17"-16,-18-1-15,70 18 0,-52 0 15,-17 0 0,-72 0-15,18 0-1,18 0 1,53 0 15,-88 0-31,17 0 16,36 0 0,17 0-1,-71 0 1,36 0-1,-35 0 1,35 0 15,141 0 1,-159-18-32,159-17 31,-141 18 0,0 17 0,53 0-15,0-36 31,0 1-16,-1-18-15,-69 35-1,-19 18 1,36-35 15,-35 35-31,194-53 16,-195 53-16,54-17 31,-36 17-15,-17 0-16,17 0 15,18-18 1,35 18 0,-53 0-1,89-35 1,-107 35-1,125-53 1,-107 35 0,18-17-1,-36 35 1,36-35 0,0-1 15,-17 19-16,69-36 1,-34 18 0,-53 17-1,52 0 1,1-35 0,-54 36-1,36-19 1,-35 19-1,35-36 1,-36 53 0,-17-18-16,18 18 15,17-17 1,-17 17-16,0-18 16,17 0-1,-17 1 1,52-36 15,-52 53-15,35-36-1,-36 36 1,-17-17 0,36-1 15,-19 18-16,18-17 1,-35-1 0,36 0-1,-19 1 1,1 17 0,17-36-1,-17 19 1,-18-1-1,35 0 1,36-35 0,17 1 15,-88 34-15,106-35-1,-71 18 16,18-1 1,-35 36-17,35-35 1,-18 18 0,-18-19-1,1 36 1,0-17 15,-1 17-15,1-18-1,0 18 1,35-18 0,-36 18-1,1-35 1,35 17-1,-18 1 1,-17-1 15,70 18 16,-53-17-31,-17 17-16,35-36 15,0 19 1,-36-1 62,19-17-62,16-18-1,1 0 17,-35 53-1,-18-18-15,18 18-1,-18-17 1,17 17-1,1-36 1,35-17 15,-35 36-15,-1 17 15,1-18-15,17-35 15,0 36-15,1-19-1,17-17 1,-1 18 0,19-18-1,-53 36 1,-1-1-1,89-53 17,-35 18-17,-36 36 1,124-89 15,-142 88-15,36-17-1,-17 0 1,16 17 0,-34 0-16,35 1 15,-18-1 1,18 1 0,53-36 15,-53 35-16,35-17 1,36-1 0,-36 1-1,-71 35-15,1-17 16,158-36 15,-158 53-31,17-18 16,36 18-1,-1 0 17,36-18-1,-17 1-15,87-19 15,-35-16 0,-35 16 0,-88 36-15,-1 0-16,160-70 31,-72 52-15,-69 18-1,69-35 17,-52 35-17,-17-18 1,52 0 15,318-52 0,-265 70 1,-124 0 15,36-18-32,88 1 16,71-19 1,-194 36-32,87-17 31,-69 17-15,17 0 15,247 0 0,-142-18 0,-87 18 1,-54 0-17,54 0 16,-18 0-15,88 0 15,-35 0 1,-53 0-1,-18 0 0,36 0 0,-54 0-15,71 0 15,36-18 0,-1 1 1,-123-1-32,36 18 15,17 0 1,17-35 0,142 17 15,-159 1-16,-36 17-15,72-18 32,-72 18-17,-17-18 1,124 18 15,-107 0-31,19 0 16,17 0-1,-36 0 1</inkml:trace>
  <inkml:trace contextRef="#ctx0" brushRef="#br0" timeOffset="32562.48">10689 7355 0,'-88'18'78,"-230"70"-47,72-17 0,140-71 1,88 0-1,-35 0 0,35 0-31,-105 0 31,70 0-15,0 0 62,18 0-62,0 0 15</inkml:trace>
  <inkml:trace contextRef="#ctx0" brushRef="#br0" timeOffset="44015.8">23160 4339 0,'53'0'156,"123"88"-125,-105-52-15,-54-36 125,-17 17-95,-88 54 33,-353 176-48,265-159-16,70-53 1,88-35-16,1 18 31</inkml:trace>
  <inkml:trace contextRef="#ctx0" brushRef="#br0" timeOffset="44971.3">23513 4657 0,'17'17'62,"1"1"-30,17 17-17,-17-17 1,35-1 15,-36-17-31,19 0 16,34 0 15,1-123 0,-71 70-15,35 0 0,-17-35-1,-18 70 1,0-52 15,0 52-31,0 1 0,0-1 31,-36 18 63,-52 35-78,-18 53-1,71-52-15,-88 69 16,34-34 0,54-53-1,35 35 32,0-36-31,0 1-16,18 52 15</inkml:trace>
  <inkml:trace contextRef="#ctx0" brushRef="#br0" timeOffset="45389.56">24271 4568 0,'-18'53'32,"-17"18"-1,35-36-15,0-17-1,-17 17 1,17-17-1</inkml:trace>
  <inkml:trace contextRef="#ctx0" brushRef="#br0" timeOffset="46123.16">24553 4357 0,'0'35'31,"0"0"-31,0-17 16,0 35-1,0-35 16,18-1 63,70 36-63,-70-53-31,17 53 32,0-18-1,-35 1 0,0-19-15,0 1-16,0-1 31,0 1-15,-35 0 15,17-1 0,-34-34 0,16-36-15,36 35-16</inkml:trace>
  <inkml:trace contextRef="#ctx0" brushRef="#br0" timeOffset="46752.53">24624 4322 0,'0'-36'31,"0"19"48,18 17-17,-1 0-31,1 0 1,-1 0-17</inkml:trace>
  <inkml:trace contextRef="#ctx0" brushRef="#br0" timeOffset="47657.61">22878 4198 0,'88'0'63,"71"35"-48,-124-35-15,124 0 31,-106 0-15,-18 18 0</inkml:trace>
  <inkml:trace contextRef="#ctx0" brushRef="#br0" timeOffset="48144.14">26476 4163 0,'0'0'0,"-35"123"16,17-35-16,-88 689 31,106-707-31,0 477 31,0-494-15,0-36-16,0 1 31</inkml:trace>
  <inkml:trace contextRef="#ctx0" brushRef="#br0" timeOffset="48721.6">26388 4833 0,'0'0'0,"0"-18"15,70-17 17,-17 35-17,-17 0 17,-19 0-17,107 71 16,-71-18 1,-36-53-1,-17 70 0,0-52-15,-229 88 15,211-89-31,-52-17 16,52 0-16,-53-17 31,36-19 0,35 1-15,0-18-1</inkml:trace>
  <inkml:trace contextRef="#ctx0" brushRef="#br0" timeOffset="49421.82">27217 4798 0,'-18'0'15,"36"0"-15,-53 0 16,17 17-16,0 19 16,18 34 15,0 1 0,0-36-15,71 0 15,35-17 0,-36-18 1,-70-18-17,35-35 16,-35-17 1,-88 17-1,0 35 0,-212 212 0,265-123 1,53-53-1,17-18-31</inkml:trace>
  <inkml:trace contextRef="#ctx0" brushRef="#br0" timeOffset="50087.88">28099 4780 0,'-494'194'31,"988"-388"-31,-1076 441 16,546-229-16,1 17 15,35-17 32,71 35-31,246 70 15,-246-105-15,-54-18-16,54 0 15,-53 0 1,-1 0 0,-34 17 31,-1-17-32,-370 89 1,106-54 15,264-35-15,-35 0 15,35 0 16</inkml:trace>
  <inkml:trace contextRef="#ctx0" brushRef="#br0" timeOffset="51708.89">12612 8308 0,'-124'264'63,"89"-211"-48,-300 371 16,317-424-31,-229 317 16,230-299 0,-1 0-16,0 34 31,54-34 47,-1-18-62,247 106-1,-105-106 17,-142 0-17,71 35 1,-89-35 15,142-35 63</inkml:trace>
  <inkml:trace contextRef="#ctx0" brushRef="#br0" timeOffset="52436.68">13247 8837 0,'0'0'0,"-18"35"16,18 18 0,0 53-1,0-88 1,0 88 15,0-89-31,35 19 16,-17-36-16,53 0 31,176-18 0,-247-17-15,70-18-1,-52-53 17,-18 71-17,-18-89 1,0 106 0,1 1-16,-89-54 15,53 36 32,18 35-16,17 0-15,1 0 0,-54 88-1,18 18 32,35-88-16,36-1 1,70 1-32</inkml:trace>
  <inkml:trace contextRef="#ctx0" brushRef="#br0" timeOffset="52852.86">14005 8908 0,'0'247'47,"0"-230"-32,0 107 1,0-89 31</inkml:trace>
  <inkml:trace contextRef="#ctx0" brushRef="#br0" timeOffset="53530.52">14534 8520 0,'-88'70'32,"88"1"-17,0-54 32,18 19-31,0-19-1,34 19 1,-16-19 0,-1 36-1,18 0 17,-35-35-17,-1 17 1,-17-17-1,18-1 1,-18 1 15,0 17-15,-88-35 0,52 0-1,-17 0 1,53-88 46,0 35-62</inkml:trace>
  <inkml:trace contextRef="#ctx0" brushRef="#br0" timeOffset="54075.61">14605 8449 0,'35'0'156,"-17"0"-125,0 0 47</inkml:trace>
  <inkml:trace contextRef="#ctx0" brushRef="#br0" timeOffset="55502.71">9507 9472 0,'0'176'78,"0"-123"-62,0-70 78,18-19-79,17 1 1,124-124 0,-141 142-1,-1-1-15,36-17 16,-18 35 0,-35-18-1,18 18 16,17 0 1,-17 0-1,0 141 0,-18-123-15,0 105-1,0-52 17,17-71 61,-17-18-77,71-52 0</inkml:trace>
  <inkml:trace contextRef="#ctx0" brushRef="#br0" timeOffset="56254.97">10425 9384 0,'17'0'188,"-17"-35"-142,0-18-14,0 35-32,-35 18 15,-141 18 17,140-1-17,-140 124 1,123-52 15,35-72-15,18 36-1,0-35 1,18 88 0,0-71-1,-1-35-15,1 35 16,35 18-1,0-35 1,88 52 0,18-70 15,-18 0 16,-106 0-47,88-70 15,-105 52 1,0-17 0</inkml:trace>
  <inkml:trace contextRef="#ctx0" brushRef="#br0" timeOffset="56916.82">10460 9402 0,'0'35'93,"0"-18"-77,0 36-16,0 194 16,0-176-1,0-54-15,-35 89 16,-107 18 0,90-89-1,-1-17-15,-194 17 16,194-35-1,17 0 1,19 0 0,17-18-1,106-52 1</inkml:trace>
  <inkml:trace contextRef="#ctx0" brushRef="#br0" timeOffset="58732.42">10707 9560 0,'0'-17'31,"0"34"16,35 124-16,0-88-15,-17-35-1,70 17 1,-70-35 0,17 0-1,36 0 1,-36-17-1,18-36 1,0 17 0,-53 19-1,0-1 1,0-123 0,-71 53-1,54 88-15,-1 0 16,18 53 93,0-18-93,0 71-1,0-18 1,35 159 0,-35-194-1,0 211 1,0-122 0,0 157-1,-70 372 16,34-601-15,-17 54 0,36-124-1,-18-18 1,-1-52-16,-105-124 16,18-142-1,17-105 1,106 300-1,159-106-15</inkml:trace>
  <inkml:trace contextRef="#ctx0" brushRef="#br0" timeOffset="79216.11">24112 2399 0,'0'18'110,"0"105"-79,0 36 0,53-53 0,-35-106 16,17 0-31,36 0 15,-54-53 0,1 17 1,17-52-1,-35 71-31,0-54 31,0 0 0,-35 1 1,-106-1-1,70 54 0,54 17-15,-1 0 15,18 35 63</inkml:trace>
  <inkml:trace contextRef="#ctx0" brushRef="#br0" timeOffset="79642.28">24906 2540 0,'0'18'15,"0"-1"-15,-35 71 16,17 18 0,18 0-1,0-35 17,0-54-1</inkml:trace>
  <inkml:trace contextRef="#ctx0" brushRef="#br0" timeOffset="80403.62">25100 2399 0,'18'35'141,"70"0"-126,-70-35-15,229 71 32,-142-53-1,-87 17 0,53 35 0,-54-52-31,19 17 32,-36 1-1,-36-36 0,-193 35 0,53-35 1,158 0-17,0 0 16,1 0 1,-1-18-32</inkml:trace>
  <inkml:trace contextRef="#ctx0" brushRef="#br0" timeOffset="80954.86">25082 2346 0,'159'0'62,"617"-88"-30,-52 17-1,-707 71 0</inkml:trace>
  <inkml:trace contextRef="#ctx0" brushRef="#br0" timeOffset="81872.69">27146 2134 0,'-176'18'31,"352"-36"-31,-370 36 0,106 35 31,35-53-15,-53 123 15,0 1 0,106-71-15,-17-36-16,17 107 31,0-71-15,35 70 15,89-35 0,-1-70-15,89-18 15,-177 0-31,71-106 32,-106 89-32,17-19 15,19-17 16,-36 18 16,-159 0-15,-159 52-1,89 54 16,70 53-32,142-124 1,-107 105 0,107-87-16,17 0 46,35-18-30,0 0-16</inkml:trace>
  <inkml:trace contextRef="#ctx0" brushRef="#br0" timeOffset="82421.47">29192 2505 0,'0'0'0,"-53"229"31,36-88-15,17 282-1,0-70 1,0-247-16,0 159 15,0-230 1,0 18 0,0 0-1</inkml:trace>
  <inkml:trace contextRef="#ctx0" brushRef="#br0" timeOffset="84063.11">30162 2505 0,'0'0'0,"-17"0"15,-1 35 1,1 36 0,-1-1-1,18 89 1,0-89-1,35 36 1,-35-88 0,35 0-1,-17-18 1,0 0 15,35 0-15,-18-18-1,-17-35 1,-1 35 0,1-87-1,-18 69 1,0-17 0,0 36-16,0-1 15,-18-70 1,1 17 15,-1 71 47,0 0-62,1 0-1,-19 0 1,19 0-16,-54 36 16,1 16 15</inkml:trace>
  <inkml:trace contextRef="#ctx0" brushRef="#br0" timeOffset="84459.95">30692 2752 0,'0'0'0,"-18"53"15,0-18-15,18 18 16,-35 88-1,35-106-15,0 18 16,0 0 0,0-18-1,53-35 32,-35-35-47</inkml:trace>
  <inkml:trace contextRef="#ctx0" brushRef="#br0" timeOffset="85585.36">30992 2593 0,'-89'35'63,"72"-17"-48,17-1-15,-36 36 16,19 36 15,17-72-15,0 1 15,17-18 0,1 0-15,17-35 15,-17 35-31,17-53 31,-35 0 1,0 35-1,36 18 125,-1 35-125,-18 54 1,1-54-17,17 88 16,-35-34 1,0-54-1,0 0 0,-17-17 0,-142-1 1,124-17-32,-18 0 31,35 0 0,-17-35-15</inkml:trace>
  <inkml:trace contextRef="#ctx0" brushRef="#br0" timeOffset="87611.31">23848 2328 0,'0'53'32,"0"53"-17,0-53-15,0 406 31,0-248-15,17 54 15,-17-248-15,230-34 109,-72 17-109,178-71-1,528 1 1,-670 52-1,71 18 1,-177 0-16,70 0 16,160 0-1,-212 0 1,17 0 0,195 0 15,-54 0-16,-158 0 1,18 0 0,-36 0-1,-53 0 1,-17 0 109,-18-18-94,0 1-15,0-1-16,0 1 15,0-1 1,-18-17 0,0-159-1,1 141-15,-1-18 16,-17-158 0,0 88-1,35 88 1,0 35-1</inkml:trace>
  <inkml:trace contextRef="#ctx0" brushRef="#br0" timeOffset="89189.89">29827 2593 0,'0'18'31,"0"123"-15,0-71-16,0 36 15,36 282 16,-19-300-15,-17 53 0,18-17 15,-18-106-15,53-18 93,70 0-93,107 0-1,387-18 16,-529 18-31,-35 0 16,176-35 0,-70 17 15,-141 18 31,-18-53 63,0-18-109,-36-299 15,-69-265 1,105 617-17,0 36 79,0 0-78,0-1-16</inkml:trace>
  <inkml:trace contextRef="#ctx0" brushRef="#br0" timeOffset="104941.49">16545 4269 0,'-35'70'125,"35"-17"-109,0-18-16,0 71 15,0 0 1,0 17 0,0-87-1,0 17 1,0-18 0,0 0-1,0 18 16,0-35-15</inkml:trace>
  <inkml:trace contextRef="#ctx0" brushRef="#br0" timeOffset="107187.48">18080 3828 0,'0'158'125,"35"19"-109,-17-107-16,17 54 16,0-1-1,-35-105-15,18 0 16,-18-1 0</inkml:trace>
  <inkml:trace contextRef="#ctx0" brushRef="#br0" timeOffset="108380.63">19667 3492 0,'36'-17'203,"-36"229"-156,17-160-16,19 1 0,-36-35-15</inkml:trace>
  <inkml:trace contextRef="#ctx0" brushRef="#br0" timeOffset="109512.46">21237 3581 0,'18'0'78,"-18"35"-62,0-17 0,17 17-1,1-17 1,0 70-1,-18-71 1,35 72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0.26178" units="1/cm"/>
          <inkml:channelProperty channel="Y" name="resolution" value="50.23256" units="1/cm"/>
          <inkml:channelProperty channel="T" name="resolution" value="1" units="1/dev"/>
        </inkml:channelProperties>
      </inkml:inkSource>
      <inkml:timestamp xml:id="ts0" timeString="2026-10-07T09:54:14.288"/>
    </inkml:context>
    <inkml:brush xml:id="br0">
      <inkml:brushProperty name="width" value="0.05292" units="cm"/>
      <inkml:brushProperty name="height" value="0.05292" units="cm"/>
    </inkml:brush>
  </inkml:definitions>
  <inkml:trace contextRef="#ctx0" brushRef="#br0">5803 1499 0,'0'89'78,"0"-1"-63,0 53 1,0-18 0,0 1-1,0 70 1,0-177 0,0 89-1,0 0 1,18 70 15,-18-123 0,35-88 251,124 35-267,211-35 1,71 17-1,-317 18-15,458 0 16,-371 0 0,-87-17-16,193 17 15,107 0 1,-230 0 0,0 0-1,-35 0 1,229 0-1,582 0 17,-776 0-17,-88 0-15,246-36 16,-299 36-16,71-17 16,-1-1-1,-35 0 1,159 18-1,-105 0 1,140 0 0,0 0-1,-35 0 1,-141 0-16,511-17 16,-405 17-1,-89 0-15,124 0 16,35 0-1,-70 0 1,-177 0 0,36 0-16,88 0 15,1146 0 17,-1093 0-32,-18 0 15,317 0 1,-370 0-16,653 0 15,-565 0 1,177-18 0,-283 18-1,89-18 1,-124 1 0</inkml:trace>
  <inkml:trace contextRef="#ctx0" brushRef="#br0" timeOffset="3102.89">5768 1552 0,'264'0'78,"830"-70"-47,-353-36-15,-300 88-1,-318 1-15,-17 17 0,423-36 32,-299 36-17,-36 0 1,-124 0-16,601 0 31,405-35 0,-777 0-15,760-1 15,-936 36-31,107 0 16,158 0-1,-265 0-15,283 18 16,-106 0 0,387 17 15,-475-35-15,-106 0-16,176 0 15,18 18 1,176-18 15,-423 0-15,18 0-1,17 0 1,-70 0-16,123 0 31,-71 0-15,424 35 15,-176-35-15,-265 0-16,70 0 15,53 0 17,-158 18-17,0-18-15,176 0 31,-71 0-15,-87 0 0,-1 0-1,53 0 17,-35 0-17,0 0 1,70-53 15,-105 53-31,17 0 16,671-53 15,-636 53-31,124-18 16,-35 18-1,-159 71 266,0-1-265,0-52-16,0 17 16,0 283 15,18-213-15,-18-16-1,0-54-15,0 35 16,0 54-1,0-89 1,17 0 0,-17 18 15,0-35-15,0 17-1,0-17-15,0 0 16,0 35 15,-35-53 157,-194 0-157,194 0-31,-283 17 31,212-17-15,53 0-1,-35 0 17,35 0-17,0 0 1,-53 0-1,-17-17 17,35-19-1,52 36 0</inkml:trace>
  <inkml:trace contextRef="#ctx0" brushRef="#br0" timeOffset="4520.42">6703 1552 0,'0'124'63,"0"52"-47,0 53 15,0-17 0,0-71 0,0-106 1,0-17-1,0 0 0,17-18 47</inkml:trace>
  <inkml:trace contextRef="#ctx0" brushRef="#br0" timeOffset="5209.96">7620 1446 0,'0'71'94,"18"-36"-78,-1 195-1,-17-178 1,0 1-16,18 18 16,0 35-1,-18 17 1,0-52-1,0-54 1,17 36 0,-17-35-1,0 35 1,0-18 15,0-17-15</inkml:trace>
  <inkml:trace contextRef="#ctx0" brushRef="#br0" timeOffset="5955.26">8731 1358 0,'0'106'46,"0"-71"-30,0 89 0,0 246 15,0-335-31,0 36 16,0-36-1,0 53 1,0-35-1,0-17 17,0-1-17,0-17 1,0-1 0,0 19-1,0-19 1,0 1-1</inkml:trace>
  <inkml:trace contextRef="#ctx0" brushRef="#br0" timeOffset="6631.42">9684 1358 0,'0'18'15,"0"35"1,0-36-1,0 1-15,0 17 0,0 71 16,17-18 0,1 177 15,0-142-15,-18-87-16,17 69 15,19 90 1,-19-19 15,-17-123 0</inkml:trace>
  <inkml:trace contextRef="#ctx0" brushRef="#br0" timeOffset="8090.24">5944 2346 0,'0'-18'46,"36"-88"-14,-36 89-17,52-54 1,-52 54 0,18-1-1,-18-17 1,0 17-16,18 18 15,-18-35 1,17 35 0,-17-35-1,18 17 1,-18 0 0,0-17-1,0 106 63,0-36-62,0 35 0,0 19-1,0 34 1,0-105-1,0-1-15,0 1 16,0 0 0</inkml:trace>
  <inkml:trace contextRef="#ctx0" brushRef="#br0" timeOffset="9100.79">7073 1976 0,'0'0'0,"-17"17"15,-19 1 1,19 17 15,17-17 1,-18-18-17,18 106 16,35-36-15,-35-52 0,36 35 15,-19-53 0,1 0 0,17 0-15,18-36 15,18-69 1,-54 105-32,-17-18 15,18-53 1,35-52 15,-36 35-15,-17 70-1,0 0 1,0-17 0,0 18-1,0-1 16,-88 18 1,53 0-17,-53 53 1,52-18 0,-16 18 15,16 18 0,36-54 0</inkml:trace>
  <inkml:trace contextRef="#ctx0" brushRef="#br0" timeOffset="9863.21">7955 1976 0,'0'-18'78,"35"-35"-62,18 0 15,-35 35 0,-18 107 110,0 52-125,0-106-16,0 18 15,0 141 17,0-141-17,0-35 16,0-1-15,18-17 31</inkml:trace>
  <inkml:trace contextRef="#ctx0" brushRef="#br0" timeOffset="10729.03">9084 2064 0,'0'-18'63,"0"-35"-32,18 53-31,17-70 31,-17 52 0,-1 0 1,1-17-1,52-18 0,-70 88 47,18 36-47,-18 35 1,0 17-17,0-105-15,0 123 32,0-88-1</inkml:trace>
  <inkml:trace contextRef="#ctx0" brushRef="#br0" timeOffset="11538.06">10072 1834 0,'-18'71'31,"18"141"0,0-177-31,0 35 16,18-17 0,52 36-1,-34-54 17,87-53 14,-70 18-46,0-35 16,0 17 0,53-88-1,-89 18 32,1 71-47,-53-160 31,-106 71 1,123 89-32,-88 17 15,88 0 1,1-18 0,-18 18-1,17 0 1,-35 0-1,35 35 1,-17 1 0,-35 70-1,52-89-15,0 1 16,18-1 0,-17 1-1,17 0 1</inkml:trace>
  <inkml:trace contextRef="#ctx0" brushRef="#br0" timeOffset="12811.31">18627 1940 0,'0'-53'94,"35"18"-78,-17 0-16,34-36 15,37-35 1,-72 106-16,1 0 15,0-17 1,-18-1 0,0 177 156,0-18-157,0-35 1,0-36-1,0-17 1,0 18 0</inkml:trace>
  <inkml:trace contextRef="#ctx0" brushRef="#br0" timeOffset="13743.13">18168 1464 0,'0'35'109,"0"124"-93,0-88-1,0 105 1,0-88 0,0 106-1,0-159-15,-18 160 16,18-125-1,0 18 1,0-52 0,0-1-1,0 0 32,-35-88 47,35 0-78,-17 36-16</inkml:trace>
  <inkml:trace contextRef="#ctx0" brushRef="#br0" timeOffset="15945.77">10866 723 0,'0'-17'63,"88"-36"-48,-53 17-15,177-52 31,52-88 1,-211 158-1,-35 18 47,-1-17-62,-17 158 62,0 17-63,0-140-15,0 35 16,0-18 15</inkml:trace>
  <inkml:trace contextRef="#ctx0" brushRef="#br0" timeOffset="16624.43">12100 247 0,'0'0'0,"-17"88"31,17 36 1,0-54-1,53 1 0,17-18 0,36-18 1,-36-35-17,54-71 17,-106-34-1,-18-19 0,0-17 0,0 123-31,0 1 16,-53 17 15,-212 70 0,177-17 1,88-18-17</inkml:trace>
  <inkml:trace contextRef="#ctx0" brushRef="#br0" timeOffset="17379.82">13106 370 0,'0'71'31,"0"-53"-31,0 35 16,0-1 0,0-34-16,17 53 31,89-18 0,-88-53-31,52 0 31,177-106 1,-229 106-32,52-88 31,-70-1 0,0 72-31,-17-89 31,-71 0 1,-18 88-1,-18 18 0,89 0-31,-177 89 16,54 16 15,140-87 0</inkml:trace>
  <inkml:trace contextRef="#ctx0" brushRef="#br0" timeOffset="19684.32">6421 1305 0,'52'0'78,"19"-17"-62,70-36 0,406-35-1,-353 70 1,71 0-1,-124 18-15,17-17 16,-34-1 0,-71 18-1,123 18 17,-88 17-17,-70-35-15,105 18 16,-52-1-16,123-17 15,-35 0 1,158 18 0,-176-18-1,1 35 1,387-35 15,-459 0-31,36 0 16,35-18-1,-105 1-15,52-18 16,247-54 0,-282 89-16,0-17 15,158-36 1,-175 35-16,52-35 16,18-17-1,-89 70 1,36-18-1,-18 18 1,124-18 0,-141 18-1,176-35 1,-141 35-16,-36 0 16,89-35-1,-106 17-15,18 18 31,-18 18 63,0-1-78,0 1-1,0 0 1,53 88 15,0-54-15,17-16 0,36 17-1,-35-18 1,-1-35-1,-17 0 1,335 18 15,-282-36-15,529-229 15,-564 212-15,34-36-1,54 18 1,670-35 15,-582 88-15,-53 0 0,441 0 15,-494 0-16,265 0 1,282 35 15,-582-17-31,-18-18 0,106 0 16,670 18 15,-599-18 0,-177 0 1,106 88-1,-35-35-15,-124-53-1,0 70 16</inkml:trace>
  <inkml:trace contextRef="#ctx0" brushRef="#br0" timeOffset="23039.89">21237 1552 0,'0'36'46,"71"52"-14,-54-53-17,19 0 1,-1-17 0,0-18-1,-17 0 1,0 0-1,17 0 17,-18-35-17,1 35-15,17-71 16,-17 18 0,17-35 15,-35 70-16,0-52 17,-53 52-17,36-17 1,-19 35 0,19 0 15,-54 0-16,36 17 1,-124 125 15,142-125-15</inkml:trace>
  <inkml:trace contextRef="#ctx0" brushRef="#br0" timeOffset="23833.89">22066 1393 0,'-35'0'32,"0"0"-17,-36 18 1,36 0-1,17-18 17,36 70-1,17-34-15,0-19-1,107 71 16,-1-17 1,-106-36-1,-17-35-31,-18 18 31,-36 17 0,-122-17 1,122-18-32,-228 0 31,246 0 0</inkml:trace>
  <inkml:trace contextRef="#ctx0" brushRef="#br0" timeOffset="24584.02">22931 1482 0,'0'0'31,"-53"0"-31,-36 35 31,72 0 1,17-17-17,0 35 17,17-36-1,36 36 0,88-53 0,-70-53-15,-36 36 0,-17-36 15,-18 35 16,0 1-32,0-1 1,-53 18 0,0 0-1,35 0 1,1 0-1,-1 0 1,18 18 0</inkml:trace>
  <inkml:trace contextRef="#ctx0" brushRef="#br0" timeOffset="25694.34">23125 1605 0,'17'0'31,"1"0"16,17 0 0,-17 0-31,-18-35-16,0-18 15,-18 124 110,1-36-109,17 106 0,0-123-1,0-1-15,0 18 16,35 18 15,0-35-15,159 53-1,-123-71 1,70-18 0,-106 18-1,0 0-15,-17 0 16,17-18-1,0 1 1,-35-36 0,0 0-1,18-18 1,17-17 0,-17 53-1,-18-18 1,-18 53 62,-176 18-62,159-18-1,-159 105 1,176-87-16,1-18 15,-18 35-15,17 1 0,-88 52 16,18-53 0,35-17-16,35-1 15,1 1 1,17 0 0,35-18 62</inkml:trace>
  <inkml:trace contextRef="#ctx0" brushRef="#br0" timeOffset="26477.87">23266 917 0,'0'35'15,"0"54"1,0-36 0,0 211-1,0-246 1,-18 211 0,18-194-1,0 54 1,0-72 15</inkml:trace>
  <inkml:trace contextRef="#ctx0" brushRef="#br0" timeOffset="27398">24059 1535 0,'0'105'31,"0"-69"-15,18-1-1,0 36 1,-18-54 0,0-34 93,53-54-93,17 18-1,1-35 1,35 0 0,-18 17-1,-53 71 63,-17 0-62,-1 53 0,1-18-1,0 1-15,-18 69 16,17-34 15,-17-53-15,0-1 15</inkml:trace>
  <inkml:trace contextRef="#ctx0" brushRef="#br0" timeOffset="27788.35">24783 1535 0,'0'17'31,"0"1"-15,0 123-1,0-106 1,0-52 93</inkml:trace>
  <inkml:trace contextRef="#ctx0" brushRef="#br0" timeOffset="28214.47">24765 1217 0</inkml:trace>
  <inkml:trace contextRef="#ctx0" brushRef="#br0" timeOffset="28728.25">25118 1147 0,'0'0'0,"0"158"31,-18-34-15,18-89-16,-18 53 16,18 36-1,0-107-15,0 36 16,0-17 0,0-1 15,0 0 0,0-17-15</inkml:trace>
  <inkml:trace contextRef="#ctx0" brushRef="#br0" timeOffset="29536.6">25506 1482 0,'0'0'0,"-53"0"15,35 17 1,-88 36-1,71-53-15,-35 36 16,-107 87 0,160-123-1,140-35 142,89 17-142,-71 0 1,-35 18-1,-89 0 32,1 18-31,-18 17-16,18 1 16,-1-1-1,1 0 16,-18-17 1,18-18-17,52-18 17,-17-17-17,-35 17-15,52-35 16,-52 18-16</inkml:trace>
  <inkml:trace contextRef="#ctx0" brushRef="#br0" timeOffset="33701.4">5380 2417 0,'0'-18'16,"-106"36"46,-17 87-46,70-69-16,0 17 16,-35 35-1,-18 18 1,53-1-1,17-34 1,19 17 0,-1-35-16,1 53 15,17 211 1,0-281-16,0 17 16,0 211-1,0-193-15,0-54 16,0 160-1,0-142-15,0 124 32,0-124-17,-106 89 1,70-107 0,-228 89-1,246-88 1,1-18-16,-19 0 15,36-18 64,71 18-33,17 0-30,106 106 0,-141-53-1,0 70 1,-53-87 0,0-1-16,0 35 15,0 19 1,0 193-1,0 159 1,0-388 0,0 105-1,0-122-15,0 281 16,0-282 0,0 36-16,53 335 15,-53-389 1,123 248-1,-105-247 1,176 105 0,-141-105-1,-18-1-15,230 36 16,-195-35 0,-17-18-1,-53-71 16,0 36-15,-17 17-16</inkml:trace>
  <inkml:trace contextRef="#ctx0" brushRef="#br0" timeOffset="35069.1">1376 4286 0,'53'0'63,"141"0"-48,70 0 1,-193 0 0,-53 0-16,52 0 15,-52 0 1,-1 18 15,1-18-15,-18 18-16,18-18 15,-18 35 1,17 0 0,-17-17-1,18-1 1,-18 19-1,-18-1 1,-176 71 0,159-106-16,-36 17 15,54 1 1,-1-18-16,71 18 109,106 35-77,-124-36-32,36 1 31,70 17 0,-141-17 0,0 35 1,0-36-1,0 1-16,-141-18 17,17 0-17,54 0 1,-36 0 15,88 0-15,1 0-1,-1 0-15,0 0 32</inkml:trace>
  <inkml:trace contextRef="#ctx0" brushRef="#br0" timeOffset="36092.82">2646 4551 0,'-35'35'31,"-18"71"1,53 0-1,17-36 0,54-52 0,35-18 1,0-18-1,88-105 0,-177 52 0,-52-17 1,35 70-32,-18 18 0,-52-52 15,-1 16 1,-52-17 15,105 53-31,0 0 0,-35 0 31,-35 0 1,71 0-1,52 124 0,212-89 0</inkml:trace>
  <inkml:trace contextRef="#ctx0" brushRef="#br0" timeOffset="36851.97">3351 4463 0,'0'0'0,"-17"17"16,17 1-16,-36 35 16,36-36-1,0 1-15,0 17 16,-17 18-1,17-35-15,0 0 16,0-1 0,0 1-16,88 35 15,-53-36 1,1-17 0,-19 0-1,1 0 1,70-53-1,-70 53 1,52-70 0,-34 52-1,-1-35 1,-35 18 0,17 17-1,-17-34 1,-88-107-1,18 124 1,34 35-16,-69-36 16,-19 36-1,71 0 1,-53 36 0,36 34 15,52-52-16,18 17 1,0-17 0,0-1-1</inkml:trace>
  <inkml:trace contextRef="#ctx0" brushRef="#br0" timeOffset="39594.64">6315 6315 0,'0'70'32,"0"36"-17,88 317 1,-18-70 0,-34-265-1,-19 89 16,19-177 126,17 0-142,141 0 1,-18 0 0,-70 0-1,652 0 1,-229 0-1,512-141 1,-935 123-16,70-17 16,318-36-1,247 36 1,-247 17 0,-406 18-16,406 0 15,741 88 16,-1129-88-31,123 18 16,71 17 0,-194-35-16,105 36 15,548 17 17,-618-36-32,106 1 15,794 88 16,-777-71-15,89 0 0,-71 1-1,283 16 17,-530-34-32,71-18 15,52 18 16,36-1 1,-35 1-17,247 0 17,-318-18-17,177 0 16,-195 0 1,-87-124 77,17-70-78,0 177-31,-18-36 16,-17-353 15,35 282-15,-36-264-1,36 335-15,-17-229 32,17 247-17,-18 35 126,-246 18-110,-336 87 0,176 1-15,-475 71 15,564-124-15,-159-36 15,-106 36 0,530-53-31,-583 71 32,547-54-32,-317 19 15,-618 17 17,865-36-32,-724-17 31,-123 0 0,265 0 0,528 0-15,142 0-16,-529 0 31,-459 71 0,882-36-31,-212 0 16,-176 18 0,-53-53 15,388 0 0,229 0-31,-52 0 16,-389-35 15,124 35 0,265 0 1,140 0 46,-17 0-63</inkml:trace>
  <inkml:trace contextRef="#ctx0" brushRef="#br0" timeOffset="40192.86">7867 6897 0,'0'229'46,"0"-35"-30,0-159-16,0 124 16,0 88 15,0-229-31,0-1 16,18-17 46,17-53-62</inkml:trace>
  <inkml:trace contextRef="#ctx0" brushRef="#br0" timeOffset="40618.99">8749 7073 0,'0'53'47,"0"212"-32,0-212 1,0 35-1,0-71 17,229-105-1,-52 0-15</inkml:trace>
  <inkml:trace contextRef="#ctx0" brushRef="#br0" timeOffset="40976.11">10460 6438 0,'0'388'31,"0"-335"-31,0 0 16,0 18 0,0-36-1,0-17 16,0-1-15,18-17 0,-1 35-1,107-17 1</inkml:trace>
  <inkml:trace contextRef="#ctx0" brushRef="#br0" timeOffset="41789.67">17163 6473 0,'0'195'16,"17"-160"-1,36 882 1,0-494 0,-35-352-16,-1 70 15,107 423 1,-89-493 0,-17-18-1,-1-35 1</inkml:trace>
  <inkml:trace contextRef="#ctx0" brushRef="#br0" timeOffset="43646.31">23918 4904 0,'0'53'0,"0"-106"0,0 335 16,0-141-16,53 847 31,-17-847 0</inkml:trace>
  <inkml:trace contextRef="#ctx0" brushRef="#br0" timeOffset="44349.99">23583 5098 0,'0'-36'31,"0"1"0,159 0-15,0 17 0,158 18 15,-299 0-31,17 0 16,18 18-1,0 17 16,-53-17-15,18 52 15,-18-52-31,-212 70 32,-88-17-17,-35 35 1,176-71-1,159-18 17,35-52-17,-17 35-15,35 0 0,18-35 16,-1 0-16</inkml:trace>
  <inkml:trace contextRef="#ctx0" brushRef="#br0" timeOffset="44963.81">24342 5115 0,'17'0'16,"54"106"15,88 0 0,-89-106-15,-52 0-16,88-35 31,-36-177 0,-70 53 1,-159 89-1,-211 140-15,158 1-1,-158 140 16,670-105 1,-124-106-32</inkml:trace>
  <inkml:trace contextRef="#ctx0" brushRef="#br0" timeOffset="45376.43">25012 5027 0,'106'176'31,"-212"-352"-31,282 917 31,-176-653-31,0 71 31,0-212 32,-17-353-47</inkml:trace>
  <inkml:trace contextRef="#ctx0" brushRef="#br0" timeOffset="45879">25241 4939 0,'71'0'31,"-142"0"-31,248 0 32,-107 0-17,-70 18 32,0-1-31,0 36-1,0-18 1,0 1 0,-35-19-1,-36 36 1,54-53-1,-36 0 1,18 0 0,17 0-1</inkml:trace>
  <inkml:trace contextRef="#ctx0" brushRef="#br0" timeOffset="46896.21">26000 4762 0,'0'18'0,"-18"17"32,18-17-17,0 0 17,0-1 93,18 54-63,-1-71-46,36 35 15,-35-52-15,0 17-16,70-106 15,-18-35 16,-70 123-15,0 0 0,0-17 15,0 53 31,0 52-46,0 36 15,0-71-15,18-17 15,-18 0 0,53-18 1,247-53-1,-265 17 0</inkml:trace>
  <inkml:trace contextRef="#ctx0" brushRef="#br0" timeOffset="47364.36">26688 4286 0,'0'36'32,"0"-19"-17,0 142 16,0-71-15,0 53 15,17-70-15,-17-54 0,18 36 15,35-70 0,17-1-15,19-53 15</inkml:trace>
  <inkml:trace contextRef="#ctx0" brushRef="#br0" timeOffset="48204.33">27393 4604 0,'0'0'0,"-35"0"16,17 0-16,-70 0 31,0 88 1,70-70-32,-17 52 31,35-17 0,0-35 0,71-18 1,34 0-17,-52-71 16,-35 18 1,-18 0-1,0 18 0,0 70 47,35 53-46,-35-70-1,124-18 0,52 0-15</inkml:trace>
  <inkml:trace contextRef="#ctx0" brushRef="#br0" timeOffset="48912.81">27975 4604 0,'-70'35'31,"140"-70"-31,-176 141 32,106-89-32,0 36 15,0 53 16,89-35 1,16-107-1,19-87 0,-71-36-15,-53 141-1,18 36 48,-1 53-47,1-54-16,-1 71 15,54 212 16,-53-229-15,-18-54-16,17 1 16,-17-106 77</inkml:trace>
  <inkml:trace contextRef="#ctx0" brushRef="#br0" timeOffset="49240.88">28469 4392 0,'53'0'109,"53"0"-109</inkml:trace>
  <inkml:trace contextRef="#ctx0" brushRef="#br0" timeOffset="50151.42">28892 4480 0,'-70'-35'31,"140"70"-31,-334-70 31,229 53-31,-36 140 32,71-87-1,0-18 0,35-36 0,54-34 1,34-212-17,-88 176 16,-17 53 141,0 53-109,52-1-48,-52-16-15,141-1 16,705 0 0,-529-105-1,335-124 1,-52-53 0,-424 141-1,-247 88 1</inkml:trace>
  <inkml:trace contextRef="#ctx0" brushRef="#br0" timeOffset="64461.56">5909 13705 0,'0'106'47,"0"71"-31,0 87 15,0-158-15,0-88-16,0 123 15,0-71 1,0-34-1,0-19 1,0 1-16,0 0 31,35-18 94,689-18-93,69-53-17,424-17 16,-1023 88-31,865-70 32,-54 105-1,547 0 0,53-35 0,-1005 35-15,617-17 15,-1164-18-31,847 124 32,140-107-1,-581 1 0,-441-18 0,17 17 16,0 1-16,-17-18-15,17 18 15,124 35 1,-159-106 30,-35-18-31,35 18-15,0-70 0,0-89-1,0-158 1,0 70-1,35 0 17,-17 282-32,-18-35 0,0 36 15,-89 52 204,-210 18-188,210-18-31,36-35 0,-35 18 16,-529 35 15,-71 0 0,-18-18 1,89-35-1,-18 0 0,494 0-15,-141 18-1,-442-1 17,19 1-1,581-18-31,-458 70 31,194-52 0,247-18-15,-388 0 15,-124 0 1,230 0-17,300 0-15,-124 0 16,0 0-1,-71-18 17,18 18-1,-123 0 0,0 0 0,387 0-31,-158 0 32,141 0-17,1 0 17,-19 0-1,-123 0 0,88 0-15,18 0 15,-124-17 0,195 17-31,-195 0 31,18 0 1,176 0-32,-176 35 31,124-35 0,52 0 16,0 0-31,1 0-16,-1 0 15,1 18 1,-142-1 15,141-17 0,0 0 48,1 0-48</inkml:trace>
  <inkml:trace contextRef="#ctx0" brushRef="#br0" timeOffset="65445.67">6438 14199 0,'18'-17'94,"105"-89"-78,-70 71-16,106-36 15,229-123 17,-353 176-32,-17-17 15,-18 53 95,-88 370-79,88-300-16,0 177 1,0-213 0,0 19-1,0-53 1,0-36 62,0 0-78,17-52 0</inkml:trace>
  <inkml:trace contextRef="#ctx0" brushRef="#br0" timeOffset="65973.55">7920 13688 0,'0'53'31,"-18"105"0,18-122-31,-17 158 16,17-159 0,-18 230-1,0-195 1,1 18 0,17-35-1,0-35 1,0 0-1</inkml:trace>
  <inkml:trace contextRef="#ctx0" brushRef="#br0" timeOffset="66778.03">8290 14340 0,'18'-17'78,"17"-18"-62,53-18 0,89-18-1,458-158 1,-582 211 0,53-17-1,-106 70 126,-36 36-126,-34 176 17,52-212-17,0 0 1,18 18 15,0-35-15,0-1-1</inkml:trace>
  <inkml:trace contextRef="#ctx0" brushRef="#br0" timeOffset="67228.02">9895 13635 0,'-35'53'16,"-18"194"15,18-177-31,35 36 16,-35 35-1,-1 0 1,19 53 15,17-158-15</inkml:trace>
  <inkml:trace contextRef="#ctx0" brushRef="#br0" timeOffset="68055.2">10178 14235 0,'70'-36'94,"230"-70"-63,-124 36 0,-158 70 0,-18 18 188,0 52-203,-18 18-1,1 36 17,17-107-17,0 19 17</inkml:trace>
  <inkml:trace contextRef="#ctx0" brushRef="#br0" timeOffset="68523.6">11289 13705 0,'-18'159'31,"1"-106"-31,17-18 16,-53 318 15,53-265-15,0 18 15,0-88 0</inkml:trace>
  <inkml:trace contextRef="#ctx0" brushRef="#br0" timeOffset="68915.33">12471 14288 0,'35'0'110,"124"17"-95</inkml:trace>
  <inkml:trace contextRef="#ctx0" brushRef="#br0" timeOffset="69178.83">14323 14252 0,'35'0'109,"141"-17"-93</inkml:trace>
  <inkml:trace contextRef="#ctx0" brushRef="#br0" timeOffset="69478.16">15734 14217 0,'35'0'125</inkml:trace>
  <inkml:trace contextRef="#ctx0" brushRef="#br0" timeOffset="70380.12">17392 13547 0,'0'70'79,"-35"283"-48,17-177-16,0-17 1,1-124 0,17-17-1,-18 0 17,71-71 93</inkml:trace>
  <inkml:trace contextRef="#ctx0" brushRef="#br0" timeOffset="71126.17">17692 14199 0,'0'-17'78,"88"-177"-47,0 88-15,71-35 15,-141 141 0,-18 53 110,-53 246-110,53-281-15,-18 70 0,18-70-16,0 0 31</inkml:trace>
  <inkml:trace contextRef="#ctx0" brushRef="#br0" timeOffset="71887.64">22031 12982 0,'-18'0'15,"-87"0"1,87 0 0,-17 0-16,-18 18 15,-88 70 1,105-88-16,-34 88 15,70-52 1,-36 34 0,36 71-1,0 88 1,0-176 0,0-17-16,0 175 15,18-70 1,17 124-1,-17-247 1,-18-71 62</inkml:trace>
  <inkml:trace contextRef="#ctx0" brushRef="#br0" timeOffset="72654.8">21184 13723 0,'71'0'47,"-36"0"-31,-17 0-16,141 0 15,-142 0 17,89-18 124,88 18-140,-106-17-1,-17-1 1,-36 18-1,-141-18 48,0 18-47</inkml:trace>
  <inkml:trace contextRef="#ctx0" brushRef="#br0" timeOffset="74144.03">22331 13794 0,'-18'-18'47,"-70"-17"-15,70 35-17,-17 0 1,-53 53-1,-18 17 1,71-70-16,0 35 16,-36 18-1,36 0 17,35 0-1,17-35 0,19-18 0,122-18-15,54-88 0,-141 53-1,17-35 1,-88 71 15,0-1 0,0 36 110,0 35-125,0-36-16,0 1 15,0 17 1,0 18-1,0-35 95</inkml:trace>
  <inkml:trace contextRef="#ctx0" brushRef="#br0" timeOffset="79302.83">22613 13547 0,'159'-18'203,"35"18"-188,-53-35 17</inkml:trace>
  <inkml:trace contextRef="#ctx0" brushRef="#br0" timeOffset="80090.42">22842 13370 0,'53'36'94,"-17"-19"-63,-1 36 16,88 71-16,-52-107 1,-71 1 93,-53 35-94,-18 0 0,1-18 0,176-53 16</inkml:trace>
  <inkml:trace contextRef="#ctx0" brushRef="#br0" timeOffset="82527.93">23724 13617 0,'0'18'78,"0"-36"31,36-70-78,-19 53 1,1 17 46,35 18-47,-36 0 0,19 53 32,-1 88-32,-35-106 0,18-70 157,123-177-157,-124 212 0,1 124 110,-18-54-126,0-52 17,35-71 93,106-70-94,-105 123 0,-19 0 16,19 0-16,-1 0 1,-17 0-17,-18 17 1,0 19 15,0 17 0,0-36-15,0 1 15,0-1-15</inkml:trace>
  <inkml:trace contextRef="#ctx0" brushRef="#br0" timeOffset="83773.57">24853 13547 0,'-17'0'109,"-19"35"-78,1 53 1,35-53-1,18-35 31,52 36-30,-35-36-1,-35-18 0,18 0-15,-18-17-1,0-18 1,0 36 0,0-19-1,18 36 251,17 53-251,0-18 1,1-17 0,-36 0-16,35 17 15,-18-35-15,-17-18 172</inkml:trace>
  <inkml:trace contextRef="#ctx0" brushRef="#br0" timeOffset="84218.01">25347 13441 0,'18'17'79,"-1"1"-64,-17 0 1,36 17-1,-19-35-15,19 35 16,-19-17 0,18 17-1,1-17 17</inkml:trace>
  <inkml:trace contextRef="#ctx0" brushRef="#br0" timeOffset="84759.28">25682 13423 0,'-17'18'16,"-19"-18"-1,-17 17 1,0 36-1,36-53-15,-36 36 16,-18-1 0,-105 71 15</inkml:trace>
  <inkml:trace contextRef="#ctx0" brushRef="#br0" timeOffset="86022.7">26423 12806 0,'-35'0'47,"-53"53"-16,52-36-31,-52 142 31,-35 176 1,123-282-32,0 124 15,0 17 16,0-89 1,53-122 30,-18-1-62</inkml:trace>
  <inkml:trace contextRef="#ctx0" brushRef="#br0" timeOffset="86633.73">26511 13053 0,'177'0'47,"-89"0"-32,0-18 1,-17 1-1</inkml:trace>
  <inkml:trace contextRef="#ctx0" brushRef="#br0" timeOffset="87879.54">26547 13123 0,'35'36'94,"-18"-19"-94,19 19 16,17 16 15,-36-16 0,1 17 0,-18-18 1,-88 88-1,52-105-31,-16 35 0,16-35 15,19 17 1,-36-18 0,0 1 15,53 0-15,-18-18 15,71 0 47,123 0-47,-87 0 0,-72 0 1,1 0 46,105 0-47,-34 0-15</inkml:trace>
  <inkml:trace contextRef="#ctx0" brushRef="#br0" timeOffset="88650.99">26617 14270 0,'-18'35'62,"1"18"-46,-1 35 15,18 0 0,71-70 0,-18-18 1,0-18-1,17-70 0,-52 53-15</inkml:trace>
  <inkml:trace contextRef="#ctx0" brushRef="#br0" timeOffset="89145.72">26670 14076 0</inkml:trace>
  <inkml:trace contextRef="#ctx0" brushRef="#br0" timeOffset="90424.95">27393 13000 0,'0'53'47,"0"106"-15,0-124-32,0 124 31,0-71 0,0-71 16,35-17 15,-17 0-30,0 0-17,35-17 17,-36 17-1,1 0 0,0 0 0,-1 17-15,-17 19 15,0-1-15,0-17-1,0 17 1,-229 18 15,194-53-31,17 0 16,18-18 46,0 0-62</inkml:trace>
  <inkml:trace contextRef="#ctx0" brushRef="#br0" timeOffset="90972.93">27817 13476 0,'-18'71'16,"18"-36"-1,-35-17 1,35 34-1,0-34 17,0 17-17,17-17 17,-17 0-17,53-36 16,-35 18-15,-1-35 0,1 35-1</inkml:trace>
  <inkml:trace contextRef="#ctx0" brushRef="#br0" timeOffset="91373.67">27905 13406 0</inkml:trace>
  <inkml:trace contextRef="#ctx0" brushRef="#br0" timeOffset="91847.97">28328 12806 0,'0'17'0,"35"89"16,54 18-1,-37-54-15,-34-17 16,88 371 0,-106-389-16,-18 212 31,-88-141-15,-123 105-1,88-158 1,-106 35-1,71-17 1</inkml:trace>
  <inkml:trace contextRef="#ctx0" brushRef="#br0" timeOffset="97163.51">23566 15081 0,'0'0'0,"35"159"15,-35-53 1,0-89-16,0 54 16,0-53-1,17 17 1,-17-70 46</inkml:trace>
  <inkml:trace contextRef="#ctx0" brushRef="#br0" timeOffset="97541.17">23548 14852 0,'0'-18'31,"176"124"79,-123-71-110</inkml:trace>
  <inkml:trace contextRef="#ctx0" brushRef="#br0" timeOffset="98107.98">24465 14570 0,'-35'-18'31,"17"18"-31,-17 0 32,-141 194-1,140-35-16,19-106 1,17-18-16,-18 36 0,18-1 16,0-17-16,-35 123 15,35 248 17,0-213-1,0-140 0,0-53 0,-18-71-15</inkml:trace>
  <inkml:trace contextRef="#ctx0" brushRef="#br0" timeOffset="98853.25">23777 15222 0,'53'18'31,"-106"-36"-31,159 54 15,-35-1 1,34 0 0,-69-35 31,-19 0-16,1 0-31,17 0 47,1 0-32,-19 0 17,1 0 14,-1 0-14,1 0 77</inkml:trace>
  <inkml:trace contextRef="#ctx0" brushRef="#br0" timeOffset="99641.45">26441 15028 0,'0'-17'16,"-36"-89"15,-69 35-15,87 54-16,-17 17 15,17 0 1,0 0-16,-52 17 31,-1 107-15,18-54-16,0 54 15,-70 193 1,123-264-16,0 0 16,0 141-1,0-159 1,0 18-1,0 0 17</inkml:trace>
  <inkml:trace contextRef="#ctx0" brushRef="#br0" timeOffset="100045.25">25806 15399 0,'88'0'78,"-53"0"-63,-17 0-15,-1 0 16,19 0 47,87 0-32,-88 0-16</inkml:trace>
  <inkml:trace contextRef="#ctx0" brushRef="#br0" timeOffset="100969.21">26547 15416 0,'-53'-17'16,"35"-1"-1,0 18-15,-158 0 31,88 18 1,88-1-32,-18-17 15,-17 89 17,35-36-1,0-18 0,0-18 0,17-17 1,319-123-1,-231 52 0,-105 54 0,0-1 1,0 36 61,0-1-77,0 36 15,0-35 0,0 0 1</inkml:trace>
  <inkml:trace contextRef="#ctx0" brushRef="#br0" timeOffset="101486.82">27040 15205 0,'18'0'78,"141"17"-46,-18-17-1,-53 0 0</inkml:trace>
  <inkml:trace contextRef="#ctx0" brushRef="#br0" timeOffset="102009.01">27182 15363 0,'88'0'94,"-53"-17"-78,159 17-1,-176 0 1,17 0-1,-17 0 79</inkml:trace>
  <inkml:trace contextRef="#ctx0" brushRef="#br0" timeOffset="102472.37">27728 15240 0,'36'0'78,"17"0"-46,-36 0-17,18 0 1,124 0 15,-141 0-15,17 0-1</inkml:trace>
  <inkml:trace contextRef="#ctx0" brushRef="#br0" timeOffset="102969.93">27746 15346 0,'53'0'62,"-18"0"-46,89 0-1,-89 0 1,35 0 15,-52 0 16</inkml:trace>
  <inkml:trace contextRef="#ctx0" brushRef="#br0" timeOffset="103589.81">28363 15363 0,'18'-17'47,"-18"-18"-31,18-36-16,17-52 16,-35 70-16,18 0 15,17-36 1,18 1 15,-53 124 47,0 16-62,0-16-16,-36 175 31,1-69-15,35-19-1,18-176 110</inkml:trace>
  <inkml:trace contextRef="#ctx0" brushRef="#br0" timeOffset="104210.14">28804 15205 0,'0'0'0,"0"53"15,0 17 1,0 18 15,0-70-15,18 17-1,17 1 17,-17-36-17,-1 0 1,125-53 15,-107 17-31,0 1 16,53-71-1,-70 36 1,-18 34 0,-18 19-16,-70-36 15,53 18 1,-124 35 15,141 0-31,1 0 16,-1 0-16,-35 17 15,-123 89 17,158-88-17,1 17 1,175-35 31</inkml:trace>
  <inkml:trace contextRef="#ctx0" brushRef="#br0" timeOffset="104818.93">29422 15169 0,'-18'53'16,"18"-17"-1,0-1 1,18 124 15,-18-142-31,17 1 16,1 0-1,158-1 1,1-52 0,-124-71-1,0-17 17,-53 34-17,0 19 1,-18-18-1,-53 17 17,54 53-17,-19 18-15,-16 0 16,-178 142 15,213-107-31,-19-17 16,1 70 15</inkml:trace>
  <inkml:trace contextRef="#ctx0" brushRef="#br0" timeOffset="105227.72">30392 15258 0,'0'0'0,"17"0"16,36 0-1,565-18 17,281-123-1,-775 106 0</inkml:trace>
  <inkml:trace contextRef="#ctx0" brushRef="#br0" timeOffset="105785.19">31662 14922 0,'53'-52'32,"0"34"-17,0 18 1,-1 0-1,1 35 17,-53-17-32,53 70 31,-35-53 0,-18 18 0,0-17-15,-423 263 15,370-263-31,-53 17 32</inkml:trace>
  <inkml:trace contextRef="#ctx0" brushRef="#br0" timeOffset="108362.77">25277 14993 0,'0'318'47,"35"493"-16,-35-758-31,0 194 31,0-230 1,17-17 93,460 0-94,440-123-16,-811 105 1,35 18-16,564-88 31,-616 88-31,34 0 0,-35 0 16,-52 0-16,34 0 16,-17 0-1,0 0 1,70-18 15,-87 1-31,264-36 16,-71 0-1,88 0 1,-281 53 0,122 0-1,-140 0-15,17 0 16,71 0-1,-35 0 1,-18 0 47,123 18-32,-141-18-16,36 0 1,-54 0 15,1 0 1,0 0 61,-1 0-77,1 0 0,0 0-1,-18-18 16,0-17 32,0 17-47,0 1-1,0-1 1,0-17-1,0-142 1,0 142 0,0-124-1,0 142 1,0-54 0,0 36 15,0 17-16,0 0-15,0-34 32,0-1-17,0 17 1,0 19 0,0-1 15</inkml:trace>
  <inkml:trace contextRef="#ctx0" brushRef="#br0" timeOffset="150885.6">2558 9772 0,'300'0'110,"458"0"-79,-652 0-31,599 0 31,-564 0-31,442 0 16,175 0 15,-652-18-15,1058-52-1,-864 52 1,194-17 0,194 17-1,-177 18 1,195 0-1,-600 0 1,282 18 0,476-18-1,-652 0 1,-71 0-16,652-18 16,-228-35-1,864 0 1,-1200 53-1,970 0 1,-1022 0 0,-89 0-16,441 0 15,-458 0-15,511-17 32,-388 17-17,547-36 1,-477 36-1,283-17 1,-318 17 0,424-18-1,-494 18 1,-106 0-16,194 0 16,-71-17-1,-52 17-15,175 0 16,160 0-1,-300 0 1,105 0 0,-193 0-16,35 17 15,-89-17 1,-17-70 125</inkml:trace>
  <inkml:trace contextRef="#ctx0" brushRef="#br0" timeOffset="155511.66">23989 9543 0,'-18'0'31,"1"0"-15,-1 0-1,18-18 1,-35 0-16,-124-17 15,71 0 1,-142-18 0,160 18-1,-36-1 1,88 36-16,-17-17 16,0-19-1,-18-34 1,18 35-1,17 35-15,0-36 16,-17-17 0,0 0-16,17-35 15,18 53 1,0-36 0,18-158 15,17 159-16,-35 52-15,18-35 16,-1 18-16,125-247 31,-125 246-15,-17 19 15,106 17 0,-35 0-15,34-18 0,107 0 15,-194 18 63,17 18-63</inkml:trace>
  <inkml:trace contextRef="#ctx0" brushRef="#br0" timeOffset="156730.51">23336 7761 0,'106'53'47,"-53"0"-31,70 0-1,1 0 1,-89-53 0,0 0 15,-17 0 0,17 17 0,-17-17 32,-18 18-32,18-18 0,-18 35 1,-53 71-1,-177 71 0,178-160-15,34 1 15,0-53 94,-17-107-109,-18-16 15,0 34-16,36 71-15,-19 0 16,-17-70 0,-17 17 15</inkml:trace>
  <inkml:trace contextRef="#ctx0" brushRef="#br0" timeOffset="157895.03">25418 7990 0,'17'0'78,"195"0"-62,-159 0-16,53 0 15,0 0 1,-18 0 0,-71 18 15,-17 0 0,71 140 0,-71-16 1,0 87-1,0-17 0,0-160-31,0-34 16,0 158 15,0-140-15,0-1 15,0-17-16,-159-1 1,53 1 0,-423 35 15,494-53-31,-53 0 16,-1 0-1,72 0 1,-1 0-1,-52 0 17,-142 0-1,194 0-15,54 0 15</inkml:trace>
  <inkml:trace contextRef="#ctx0" brushRef="#br0" timeOffset="158938.44">25453 8837 0,'0'0'0,"-18"18"15,-140 70 17,-283 124-1,423-212-31,-70 35 16,35 18 15,70-36 125,301 1-140,-124-18 15,-176 0 0,-18-18 110,0 1-110,0-1-31,0-17 16,0-36-1,-18-35 1,0 71 0,18-88 15,-17 70 0</inkml:trace>
  <inkml:trace contextRef="#ctx0" brushRef="#br0" timeOffset="161942.23">27799 7302 0,'0'89'0,"0"-178"0,0 248 16,0-123-16,0 175 31,0-176 1,18-105 61,70-195-61,-53 230-32,71-124 31,-18 124 0,-53 35 0,-17 18 32,35-18-32</inkml:trace>
  <inkml:trace contextRef="#ctx0" brushRef="#br0" timeOffset="162644.9">28381 7214 0,'35'36'47,"1"-19"-16,-19-17 1,71 0-17,1-70 32,-89 52-47,0-53 31,-71 71 63,53 0-78,-87 142 15,87-19-15,71 1 31,-36-107-16,54-17-16,17 0 17,53-35 15</inkml:trace>
  <inkml:trace contextRef="#ctx0" brushRef="#br0" timeOffset="162954.7">29087 7250 0,'0'35'0,"0"0"0,0-105 0,0 193 15,0 89 1,0 370 0,0-441-1,0 35 1,0-140 0,0-1-1,0-123 48</inkml:trace>
  <inkml:trace contextRef="#ctx0" brushRef="#br0" timeOffset="163519.65">29069 7461 0,'0'-17'31,"0"-1"-15,0 0 15,35 1-15,18 17-1,-18-18 1,-17 18-16,0 0 31,-1 0 0,36 88 1,-53-70-17,0 0 1,0 17-1,-35 0 1,-247 18 15,246-53-15,1 0 0,35-18 15</inkml:trace>
  <inkml:trace contextRef="#ctx0" brushRef="#br0" timeOffset="164214.49">29616 7285 0,'-18'53'15,"-52"106"17,34 35-1,19-177 0,17-158 32,0 53-48,35 53 17,0-1-1,-17 36-16,17-17 1,53-1 15,-70 18-15,0 0 15,17 0-15,18 0 15,-36 0-15</inkml:trace>
  <inkml:trace contextRef="#ctx0" brushRef="#br0" timeOffset="164591.51">29968 7691 0</inkml:trace>
  <inkml:trace contextRef="#ctx0" brushRef="#br0" timeOffset="165428.81">27958 8273 0,'-18'141'47,"-17"17"-31,-18 54-1,35-124 17</inkml:trace>
  <inkml:trace contextRef="#ctx0" brushRef="#br0" timeOffset="166132.81">27675 8643 0,'36'124'31,"-36"-89"-31,35 53 15,0 88 17,-35-158-1,18-18 47,17-18-47,53-35 1,-17-52-17,-53 105 48,-1-18-48,1 18 1,-1-53 0</inkml:trace>
  <inkml:trace contextRef="#ctx0" brushRef="#br0" timeOffset="167260.99">27129 9313 0,'0'18'16,"0"17"-1,0 142 1,0 105 0,0-247-16,0 36 15,0 105 1,0-141-1,0 1 1,0-19 0,0 1 15,17-36 0</inkml:trace>
  <inkml:trace contextRef="#ctx0" brushRef="#br0" timeOffset="167995.42">27252 9701 0,'0'0'0,"-212"89"15,142-37-15,17-34 0,-317 141 32,334-141-17,19-18 1,122 0 109,37 0-94,-125 17-15,1 1-1,105 35 17,-34-53-1,-72 0 0,1 0-15,-1 0-1,54 0 17</inkml:trace>
  <inkml:trace contextRef="#ctx0" brushRef="#br0" timeOffset="168697.29">27658 9754 0,'0'0'0,"17"0"15,-17 36 32,0-19-31,0 1-16,-70 141 31,-142-89 0,195-70-31,-1 0 16,18 18 0,18-1 77,87 1-61</inkml:trace>
  <inkml:trace contextRef="#ctx0" brushRef="#br0" timeOffset="169210.83">27411 9684 0,'0'0'31,"0"141"-31,0 18 16,0-106-16,0 17 15,0-52-15,0 52 16,0-52 0,0 0 15,0-1-16</inkml:trace>
  <inkml:trace contextRef="#ctx0" brushRef="#br0" timeOffset="170256.42">27728 9842 0,'18'18'109,"-18"264"-77,0-229-17,-18-35 1,18 0 15,18-18 32,176-142-48,88-122 17,-246 211-1,-36 71 31,0 193-46,0 195 15,0-335 0,0-89 16,-53-317-15,53 299-32</inkml:trace>
  <inkml:trace contextRef="#ctx0" brushRef="#br0" timeOffset="170718.69">28469 9931 0,'35'0'31,"1"0"-31,-1 0 16,18 17 0,159 36 15,-212 0 0,-53 35 0,35-88-15,53 0 78,53-53-79</inkml:trace>
  <inkml:trace contextRef="#ctx0" brushRef="#br0" timeOffset="170993.17">28857 9737 0,'0'-18'125</inkml:trace>
  <inkml:trace contextRef="#ctx0" brushRef="#br0" timeOffset="171427.3">30339 8396 0,'70'335'47,"-52"-299"-32,0-19-15,158 283 16,-158-265 0,17 18-16,18 0 15,18 0 1,-54-53 15</inkml:trace>
  <inkml:trace contextRef="#ctx0" brushRef="#br0" timeOffset="171834.49">30868 9084 0,'35'53'32,"-35"-35"-32,0-1 15,18 1 1,-18 17-1,0-17 1,0-1 0,-35 19-1,-106 17 1,-547 105 0,582-140-1,-176 70 1,229-70-1,547-18 17,-336-53-17</inkml:trace>
  <inkml:trace contextRef="#ctx0" brushRef="#br0" timeOffset="172779.66">30692 9543 0,'0'0'0,"0"123"16,0-70-1,17 18 1,1-54-16,0-87 78,52-1-62,-52 36-1,299-247 1,-299 264-1,52-17 1,-52 35 0,0 158 15,-18-52-15,0 0-1,0-53 1,17-124 78,1 36-79,0-18 1,-1 36-1,54-54 1,-36 53 0,0 1-1,-17 52 32,0 18-31,-18 35-1,0-53 1,0-17 0,0-88 62</inkml:trace>
  <inkml:trace contextRef="#ctx0" brushRef="#br0" timeOffset="173976.62">31750 9260 0,'0'0'0,"0"18"15,0 53 1,0-36-1,0 141 1,0-88 15,18-88 47,-1-17-62,36-36 0,-35 35-1,17-70 1,-35 70 0,0-17 15,0-18 0,0 141 32,0 54-32,0-125-31,18 18 15,35-17 1,53-53 15,123-142 16,-18-17-16,-211 177-31,18 17 0,53-88 16,-54 52-16,1-17 16,0 0-1,-18 36-15,0-36 32,0 35-17,0 1-15,0-1 31,-53 230 16,35-195-31,0 160 0,18-71 30,0-89-46,0 1 32,53-1-17,-17-17 1,-1 0-16,106 0 16,-88-17-1,-35 17 1,-1-35-1,-17-36 17,0 36-1</inkml:trace>
  <inkml:trace contextRef="#ctx0" brushRef="#br0" timeOffset="174556.24">32262 9084 0,'440'-18'94,"-298"1"-79,440-89 1,-565 106 0,1 0-1,-265 0 48,212 0-48,-36 35-15,-88 0 16</inkml:trace>
  <inkml:trace contextRef="#ctx0" brushRef="#br0" timeOffset="180019.37">20726 8467 0,'-18'35'31,"0"-35"-15,-17 88-1,0-35 1,17-18 0,1 1-1,17-19 1,0 19 0,17-19-1,19 1 1,16-18-1,-16 0 1,-1-141 15,-35 105 1,0 19-17,18 87 157,-1 1-156,36 35-1,53 211 1,-106-229 0,18 89-1,-18-160 1,0 19-1,-18-36 17,0-18-1,18-17-15,-17-18-1,17-18-15</inkml:trace>
  <inkml:trace contextRef="#ctx0" brushRef="#br0" timeOffset="180903.95">21272 8802 0,'0'0'0,"18"17"16,0 1 15,17-18-15,-17 0-1,105-18 1,-52-34 0,-1-1-1,-52 17 1,-18 19 0,-18-19 15,18 19-16,-17 17 17,-36 35-1,-53 36-15,71 34 15,35-87-16,0 35 17,0-35-17,0 17 1,17-35 0,19 18-1,-19-18 1,18 0 15,-17 0-15,17 0-1,89-18 17</inkml:trace>
  <inkml:trace contextRef="#ctx0" brushRef="#br0" timeOffset="181773.81">21925 8767 0,'0'17'32,"0"18"-17,0 71 17,0-88-1,0-53 47,35-71-47,18 88 0,-35 18 1,0-17-17,35 17 17,-36 0-1,36 17 0,-35 1-15,-18-1 15,0 177 0,0-176-31,0 53 31</inkml:trace>
  <inkml:trace contextRef="#ctx0" brushRef="#br0" timeOffset="182863.57">22631 8855 0,'-18'0'31,"-53"70"-15,54 1-1,-1-54-15,18 19 16,0-19 15,18-34 32,35-107-32,-36 89 0,19 17 0,-19 18 32,1 0-32,17 0 0,18 36 1,-18-19-1,-35 1-16,0 17 17,0 36-1,0-54-15,-17 36-1</inkml:trace>
  <inkml:trace contextRef="#ctx0" brushRef="#br0" timeOffset="184598.81">22437 8872 0,'0'18'31,"0"0"1,0 35-1,0-36 0,17 1-15,-17 17-1,0-17 1,0 17-16,0 18 16,0-18-1,0-17 1</inkml:trace>
  <inkml:trace contextRef="#ctx0" brushRef="#br0" timeOffset="191100.44">25682 17022 0,'-35'0'32,"0"0"-17,17 0 1,0 0 0,1 0-1,-36 88 1,35-53-1,18 0 1,0-17-16,0 35 31,18-53 32,-1 0-48,36 0 17,-17-53-1,-36-88 0,0 194 79,0 105-79,0-140-31,0 70 31,0 71 0,0-53 1,-36 0-1,-17-106 0,-17-88 0,70 70-31</inkml:trace>
  <inkml:trace contextRef="#ctx0" brushRef="#br0" timeOffset="192101.34">25841 17180 0,'35'0'78,"-17"0"-47,-18 18-15,159-18 15,-106-18-15,-1-70 15,-52-18 0,0 53 1,0 36-17,-70 17 16,52 0 1,18 17 30,0 36-46,0 35 15,0-17 0,0-36 1,18-17-1,0 0-16,87-18 1,-87 0 0,0 0 31,35-53-16,-18 35 0,-18 18 0</inkml:trace>
  <inkml:trace contextRef="#ctx0" brushRef="#br0" timeOffset="193027.61">26441 17004 0,'0'70'47,"0"-34"-31,0-1-16,0 18 15,70-124 157,177-105-141,-212 141-31,1 35 32,-1 0 30,0 0-31,1 0 16,-19 158-15,-17-52-17,0-88 1,0 0 15,0-36 63</inkml:trace>
  <inkml:trace contextRef="#ctx0" brushRef="#br0" timeOffset="194454.44">28152 16722 0,'-124'53'93,"-176"123"-61,194-123-17,54-35-15,-1-1 16,-141 107-1,211-124 126,36 0-125,-18 0-1,18 0 1,-17 0-16,105 0 16,123-53-1,-246 53 1,17 0 93,-17 0-93</inkml:trace>
  <inkml:trace contextRef="#ctx0" brushRef="#br0" timeOffset="195272.31">27252 17357 0,'0'0'0,"18"0"15,-1 0-15,1 0 63,0 0-48,17 0 1,124 0 0,-106 0-16,17 0 15,71-18 1,-123 18 0,105 0-1</inkml:trace>
  <inkml:trace contextRef="#ctx0" brushRef="#br0" timeOffset="196321.28">28416 17074 0,'71'-105'62,"70"-142"-31,-88 176-15,-18 36 0,-35 17-16,18 1 15,-18 211 95,0 88-79,-18-265-31,18 1 15,0 17 1,18-35 109</inkml:trace>
  <inkml:trace contextRef="#ctx0" brushRef="#br0" timeOffset="196976.14">29316 16898 0,'-35'71'15,"-1"-18"1,19-1-1,17 1 17,17-35 15,54-18-32,70-18 16,-35-70 1,-106 35-1,-18-105 0,1 105 0,-89 53 1,-35 88-1,17 53 0,124-106-15,0-17-1,124-1 17,-89-17-17</inkml:trace>
  <inkml:trace contextRef="#ctx0" brushRef="#br0" timeOffset="197775.48">29686 16916 0,'0'17'32,"0"19"-17,0-19 1,0 36-1,0-35 1,0-1 0,71-17 15,-18 0-15,17-70-1,-34 52 1,-19 18-1,-17-17 1,0-1-16,0-17 16,0 17-1,0-17 1,0 17 0,0 1-1,0-19 1,0 19-1,-35 17 48,0 0-47,17 0-1,-35 0 1,18 0-1,-18 53 1,-18 123 0,71-158-1,0-1 1</inkml:trace>
  <inkml:trace contextRef="#ctx0" brushRef="#br0" timeOffset="198584.21">30233 16933 0,'-53'0'16,"35"0"-1,-17 36 1,18-36-16,-1 17 15,-17 54 1,17-71-16,18 17 16,0 19 15,0-19 0,35-17-15,18 18-1,18-18 1,35-35 0,-36-1-1,1-16 1,17-19 0,-53 53-1,-35-17 1,0-18-1,0 0 1,-17 36 0,-1-72 15,-35 54 0,18 35-15,17 0-16,0 0 15,-211 106 17,211-88-32,-52 35 15,-36 35 1,36-18 0,70-34-1,-18-36-15,18 17 16,0 1-1,0 17 17,18-35-32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Otwarcie szkolenia. Program bazowy: załączony PDF Centrum Szkoleniowego Comarch, Sztuczna inteligencja – poziom średnio zaawansowany, Algorytmy uczenia maszynowego. Zapytaj o doświadczenie z Pythonem i jeden problem, który uczestnik chce rozwiązać. Tło to ilustracja koncepcyjna, nie wizualizacja danych.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Przedstaw sześć części zgodnie z programem źródłowym. Ocena modeli pojawi się operacyjnie już w pierwszym dniu, a jej pełne omówienie w module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autorska propozycja organizacji 24 godzin z PDF, nie narzucony harmonogram organizatora. W bloki wliczono ćwiczenia. Przy grupie wymagającej dłuższego kodowania przykłady portfelowe i równanie różniczkowe omów jako demonstracje.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Biogram na podstawie informacji przekazanych przez prowadzącego w rozmowach. Możesz opowiedzieć, jak przejście między badaniami, dydaktyką i wdrożeniami wpływa na sposób prowadzenia szkolenia. Nie podano niepotwierdzonych nazw klientów, liczb wdrożeń ani lat doświadczenia.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Osobisty slajd prowadzącego. Rozwiń obszary zgodnie z własnym doświadczeniem. Pokaż, że dobór metody zaczyna się od danych i decyzji, którą ma wspierać model. Dane biograficzne pochodzą z informacji użytkownika.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Poproś uczestników o wybranie efektu, który jest dla nich najważniejszy. Na końcu wróć do tych deklaracji.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Windows: .venv\Scripts\activate. macOS/Linux: source .venv/bin/activate. Sprawdź środowisko przed zajęciami. Demonstracje nie wymagają GPU ani pobierania dużych danych. GA implementujemy w NumPy, DEAP jest materiałem do dalszego rozwoju. Polecenie pip freeze pozwala zapisać wersje. Kod w slajdach jest materiałem do demonstracji, a nie oddzielnym pakietem notebooków.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Dzień 1. Zapowiedz trzy laboratoria: porównanie klasyfikatorów, grupowanie i drzewa. Zanim zaczniecie trenować, zdefiniujcie jednostkę obserwacji oraz sposób podziału danych.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 programie źródłowym regresja logistyczna i SVM widnieją pod modelami regresji. Doprecyzuj: regresja logistyczna jest klasyfikatorem, rodzina SVM obejmuje SVC i SVR. Optymalizacja nie musi oznaczać uczenia z danych.</a:t>
            </a:r>
          </a:p>
          <a:p>
            <a:endParaRPr/>
          </a:p>
          <a:p>
            <a:r>
              <a:t>Źródło techniczne: https://scikit-learn.org/stable/supervised_learning.html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Przykład: powtarzające się wizyty tego samego klienta wymagają rozważenia podziału grupowego. Losowy podział wierszy może dać pozornie dobry wynik. Zbioru testowego nie używamy do wyboru progu ani hiperparametrów.</a:t>
            </a:r>
          </a:p>
          <a:p>
            <a:endParaRPr/>
          </a:p>
          <a:p>
            <a:r>
              <a:t>Źródło techniczne: https://scikit-learn.org/stable/modules/cross_validation.html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Imputer i skaler dopasowane przed walidacją krzyżową ujawniają walidacji informacje z całego zbioru. Drzewa zwykle nie wymagają standaryzacji, ale nadal wymagają właściwego przygotowania danych i braku wycieku.</a:t>
            </a:r>
          </a:p>
          <a:p>
            <a:endParaRPr/>
          </a:p>
          <a:p>
            <a:r>
              <a:t>Źródło techniczne: https://scikit-learn.org/stable/common_pitfalls.html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uczymy minimalizując stratę logistyczną z karą. Prawdopodobieństwo dotyczy klasy wskazanej w classes_. Przy interpretowaniu współczynników uwzględnij skalę i korelację cech. Dla binarnego modelu granica przy progu 0,5 odpowiada z=0.</a:t>
            </a:r>
          </a:p>
          <a:p>
            <a:endParaRPr/>
          </a:p>
          <a:p>
            <a:r>
              <a:t>Źródło techniczne: https://scikit-learn.org/stable/modules/linear_model.html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Pokaż obszar najbardziej stromej zmiany przy z=0. Zapytaj: czy p=0,8 jest wystarczające, aby podjąć decyzję? Odpowiedź zależy od kalibracji i kosztu pomyłek.</a:t>
            </a:r>
          </a:p>
          <a:p>
            <a:endParaRPr/>
          </a:p>
          <a:p>
            <a:r>
              <a:t>Źródło techniczne: https://scikit-learn.org/stable/modules/linear_model.html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Liczby są przykładem dydaktycznym. Nie sugeruj, że obniżenie progu polepsza każdy aspekt jakości. Dla stałych ocen zwiększa lub utrzymuje recall, ale może zwiększyć liczbę fałszywych alarmów. Koszty omówimy w module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Komórka tworzy zmienne używane w kolejnych przykładach klasyfikacji. make_classification domyślnie dodaje niewielki szum etykiet. Rozkład klas nie będzie idealnie równy zadanym wagom. CV wykonujemy na Xtr, ytr. Dane są syntetyczne i nie opisują rzeczywistych klientów.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Kod kontynuuje przykład z poprzedniego slajdu. cv=5 w klasyfikacji używa stratified folds, domyślnie bez shuffle. W pełnym eksperymencie przekaż jawny StratifiedKFold z losowaniem i ziarnem. Klasa dodatnia ma etykietę 1.</a:t>
            </a:r>
          </a:p>
          <a:p>
            <a:endParaRPr/>
          </a:p>
          <a:p>
            <a:r>
              <a:t>Źródło techniczne: https://scikit-learn.org/stable/modules/cross_validation.html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SVM szuka kompromisu między szerokim marginesem a błędami. Duże C silniej karze naruszenia. W jądrze RBF duża gamma oznacza bardziej lokalny wpływ obserwacji. Zależność od liczby próbek ma znaczenie dla czasu uczenia.</a:t>
            </a:r>
          </a:p>
          <a:p>
            <a:endParaRPr/>
          </a:p>
          <a:p>
            <a:r>
              <a:t>Źródło techniczne: https://scikit-learn.org/stable/modules/svm.html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Uruchom kilka punktów siatki C × gamma. Nie interpretuj parametrów w oderwaniu od standaryzacji. W ćwiczeniu warto porównać czas uczenia i liczbę wektorów nośnych.</a:t>
            </a:r>
          </a:p>
          <a:p>
            <a:endParaRPr/>
          </a:p>
          <a:p>
            <a:r>
              <a:t>Źródło techniczne: https://scikit-learn.org/stable/modules/svm.html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SVR stosujemy do ciągłej wartości docelowej. Porównaj z Ridge i predykcją stałej. MAE ma jednostkę zmiennej docelowej. Przy przekształcaniu celu można użyć TransformedTargetRegressor. Nie myl epsilon z dopuszczalnym błędem każdego punktu.</a:t>
            </a:r>
          </a:p>
          <a:p>
            <a:endParaRPr/>
          </a:p>
          <a:p>
            <a:r>
              <a:t>Źródło techniczne: https://scikit-learn.org/stable/modules/svm.html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Praca 30 min, omówienie 15 min. Startowe ustawienia SVC: C=1, gamma="scale". Następnie C w [0.1,1,10], gamma w [0.01,0.1,1]. Nie ujawniaj testu. Kryterium ukończenia: co najmniej dwa modele, wspólne foldy, podana średnia F1 i zmienność. Zapytaj, czy mała różnica wyniku uzasadnia droższy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Omów rolę n_init i k-means++. Algorytm preferuje zwarte grupy w metryce euklidesowej. Wynik zależy od k oraz inicjalizacji. Nazwy segmentów wymagają interpretacji cech, a numer klastra nie oznacza rankingu.</a:t>
            </a:r>
          </a:p>
          <a:p>
            <a:endParaRPr/>
          </a:p>
          <a:p>
            <a:r>
              <a:t>Źródło techniczne: https://scikit-learn.org/stable/modules/clustering.html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Brak wyraźnego łokcia jest częsty. Silhouette korzysta z odległości i może preferować pewne geometrie klastrów. Uczestnik powinien umieć opisać segmenty, a nie tylko podać metrykę.</a:t>
            </a:r>
          </a:p>
          <a:p>
            <a:endParaRPr/>
          </a:p>
          <a:p>
            <a:r>
              <a:t>Źródło techniczne: https://scikit-learn.org/stable/modules/clustering.html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 scikit-learn min_samples obejmuje sam punkt. Punkt brzegowy nie musi spełniać warunku rdzenia, ale jest osiągalny z rdzenia. Szum to interpretacja algorytmu w danej metryce, nie automatycznie błąd w danych.</a:t>
            </a:r>
          </a:p>
          <a:p>
            <a:endParaRPr/>
          </a:p>
          <a:p>
            <a:r>
              <a:t>Źródło techniczne: https://scikit-learn.org/stable/modules/clustering.html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Porównanie jakościowe. Oba algorytmy są zależne od reprezentacji cech. Wysoki wymiar może osłabiać użyteczność odległości. Nie porównuj wyłącznie silhouette bez raportowania odsetka szumu w DBSCAN.</a:t>
            </a:r>
          </a:p>
          <a:p>
            <a:endParaRPr/>
          </a:p>
          <a:p>
            <a:r>
              <a:t>Źródło techniczne: https://scikit-learn.org/stable/modules/clustering.html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Praca 25 min, omówienie 15 min. Start: make_moons(n_samples=400, noise=0.06, random_state=42). DBSCAN eps sprawdź w [0.15,0.25,0.35] po skalowaniu, min_samples=5. KMeans(n_clusters=2,n_init=10,random_state=42). Jeżeli liczysz silhouette, wyklucz szum i upewnij się, że zostały co najmniej 2 grupy i mniej grup niż punktów. Raportuj liczbę odrzuconych punktów.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 klasyfikacji omów Gini: 1 minus suma kwadratów udziałów klas. W regresji podział może minimalizować błąd kwadratowy. Małe drzewo można prześledzić ręcznie. Bardzo głębokie drzewo może zapamiętać szum.</a:t>
            </a:r>
          </a:p>
          <a:p>
            <a:endParaRPr/>
          </a:p>
          <a:p>
            <a:r>
              <a:t>Źródło techniczne: https://scikit-learn.org/stable/supervised_learning.html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 tym schemacie głębokość 4 ma najlepszy wynik walidacyjny. To nie jest uniwersalne ustawienie. Zapytaj, jak większa liczba danych lub zwiększenie min_samples_leaf może zmienić krzywą.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 scikit-learn RandomForestClassifier uśrednia prawdopodobieństwa z drzew, a następnie wybiera klasę. OOB jest dodatkowym oszacowaniem przy bootstrap, ale nie zastępuje prawidłowo zaprojektowanej oceny. Więcej drzew stabilizuje agregację kosztem czasu.</a:t>
            </a:r>
          </a:p>
          <a:p>
            <a:endParaRPr/>
          </a:p>
          <a:p>
            <a:r>
              <a:t>Źródło techniczne: https://scikit-learn.org/stable/modules/ensemble.html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h_m dopasowujemy do ujemnego gradientu funkcji straty. Tylko dla straty kwadratowej odpowiada to dopasowaniu do reszt. W klasyfikacji aktualizujemy wynik modelu zgodnie z odpowiednią stratą. Omów early stopping i HistGradientBoosting.</a:t>
            </a:r>
          </a:p>
          <a:p>
            <a:endParaRPr/>
          </a:p>
          <a:p>
            <a:r>
              <a:t>Źródło techniczne: https://scikit-learn.org/stable/modules/ensemble.html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Nie wskazuj zwycięzcy bez eksperymentu. Do porównania dochodzą czas, pamięć, kalibracja i możliwość uzasadnienia decyzji. W pierwszym dniu dobór modelu ma być świadomą hipotezą.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Praca 35 min i 15 min dyskusji. Start: DecisionTreeClassifier(max_depth=4), RandomForestClassifier(n_estimators=200,min_samples_leaf=3), GradientBoostingClassifier(n_estimators=150,learning_rate=0.05,max_depth=2), wszystkie random_state=42. Kryterium: wspólny protokół i komentarz do trade-off, bez oceniania na treningu. Test nadal odłożony.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Dzień 2, pierwsza część. Wprowadź algorytmy ewolucyjne jako heurystyki optymalizacji. Nie gwarantują globalnego optimum. Uczestnicy zbudują prosty GA i porównają go z losowym wyszukiwaniem.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Dobór reprezentacji jest pierwszą decyzją projektową. Krzyżowanie dwóch permutacji przez zwykłe przecięcie może dać powtórzenia. Wybierz operator permutacyjny lub naprawę. W kodzie ćwiczenia użyjemy dwóch zmiennych rzeczywistych.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Waga kary nie powinna przypadkowo zdominować celu ani być zbyt mała. Odróżniaj jakość rozwiązania dopuszczalnego od ukaranego wyniku. Dla zadań wielokryterialnych można użyć rankingu Pareto. W prostym ćwiczeniu granice realizujemy przez clipping.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Przy minimalizacji surowy koszt nie jest poprawną wagą ruletki. Zastosuj transformację albo selekcję rankingową. Elityzm jest strategią przeżywania, nie zamiennikiem wszystkich operatorów selekcji.</a:t>
            </a:r>
          </a:p>
          <a:p>
            <a:endParaRPr/>
          </a:p>
          <a:p>
            <a:r>
              <a:t>Źródło techniczne: https://deap.readthedocs.io/en/master/tutorials/basic/part2.html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Dziecko znajduje się na odcinku między rodzicami dla wspólnego alfa. Wariant z osobnym alfa dla genu daje inny obszar eksploracji. Pokaż BLX-alfa jako rozszerzenie, które może wyjść poza przedział rodziców. Dla bitów stosuje się inne operatory.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Rozróżnij prawdopodobieństwo na osobnika i na gen. W granicach przedziału clipping jest prosty, lecz może gromadzić osobniki przy brzegach. Inne opcje to odbicie lub ponowne losowanie. Zanik różnorodności może oznaczać przedwczesną zbieżność.</a:t>
            </a:r>
          </a:p>
          <a:p>
            <a:endParaRPr/>
          </a:p>
          <a:p>
            <a:r>
              <a:t>Źródło techniczne: https://deap.readthedocs.io/en/master/tutorials/basic/part2.html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Pseudokod pokazuje kolejność operacji i nie jest samodzielnym programem. Zachowaj stałą liczebność populacji. Przy elityzmie dzieci uzupełniają populację do żądanego rozmiaru. W DEAP wiele operatorów modyfikuje obiekty w miejscu: potrzebne są kopie i unieważnienie fitness.</a:t>
            </a:r>
          </a:p>
          <a:p>
            <a:endParaRPr/>
          </a:p>
          <a:p>
            <a:r>
              <a:t>Źródło techniczne: https://deap.readthedocs.io/en/master/tutorials/basic/part2.html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Przy elityzmie i deterministycznej funkcji celu najlepszy koszt nie powinien rosnąć. Dla funkcji zaszumionej rozważ powtórne oceny. Malejąca mediana nie dowodzi znalezienia optimum globalnego.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f(x)=10d+sum(x_i^2-10*cos(2*pi*x_i)), d=2, x_i w [-5.12,5.12]. Minimum globalne f(0,0)=0. Turniej wielkości 3. Mutacja na gen 0.2 i sigma 0.3 to punkt startowy. Każdemu algorytmowi przydziel faktycznie tę samą liczbę wywołań funkcji. Kryterium: wszystkie osobniki dopuszczalne, log ma pokolenie/best/median/evaluations, wyniki z 5 ziaren. Sukcesem dydaktycznym jest rzetelne porównanie, nie obowiązkowe wygranie GA.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Wyłącznie syntetyczny przykład dydaktyczny. Nie używamy notowań ani rekomendacji inwestycyjnych. Załóż jawnie wektor średnich i macierz kowariancji dodatnio półokreśloną. GA ma uzasadnienie przy dodatkowych ograniczeniach dyskretnych, np. liczbie aktywnych pozycji. W klasycznym wypukłym problemie warto użyć wyspecjalizowanego solwera jako baseline. Samo normalizowanie wag nie gwarantuje limitu koncentracji.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Zdefiniuj yθ jako wielomian i policz pochodną analitycznie. Minimalizuj resztę równania na siatce treningowej w [0,1]. GA szuka współczynników, nie rozwiązuje symbolicznie równania. Oceń błąd maksymalny na gęstszej siatce i porównaj z klasycznym solwerem. To demonstracja koncepcji optymalizacji, nie twierdzenie o przewadze metody.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Druga część dnia 2. Przejdź od ostrego warunku temperatury do stopniowego pojęcia „ciepło”. Zbudujemy sterownik wentylatora. Podkreśl różnicę między przynależnością a prawdopodobieństwem.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Liczby są ilustracyjne. Człowiek może znać dokładną temperaturę, a mimo to oceniać stopień jej ciepła. Przynależności do zbiorów nie muszą sumować się do 1. To częsty punkt wymagający powtórzenia.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Zdefiniowane tu funkcje odpowiadają ćwiczeniu wentylatora: chłodno trap[0,0,10,20], ciepło tri[10,20,30], gorąco trap[20,30,40,40]. Nie traktuj granic jako norm komfortu cieplnego.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Nie przedstawiaj min/max jako jedynych poprawnych operatorów. W regule z dwoma poprzednikami sprawdź, jaka definicja AND obowiązuje w implementacji. OR oparty na max jest odpowiadającą popularną s-normą.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Wyjście ma trzy funkcje: niska trap[0,0,20,40], średnia tri[20,50,80], wysoka trap[60,80,100,100]. Reguły pokrywają cały zakres wejścia. W rozbudowie dodaj wilgotność, pamiętając o konflikcie i pokryciu kombinacji warunków.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 przykładzie używamy aktywacji typu min, agregacji max i centroidu. Wynik ma interpretację dopiero po określeniu wszystkich tych wyborów. Najpierw przeprowadź dla 25°C krok ręcznie: ciepło=0.5, gorąco=0.5.</a:t>
            </a:r>
          </a:p>
          <a:p>
            <a:endParaRPr/>
          </a:p>
          <a:p>
            <a:r>
              <a:t>Źródło techniczne: https://scikit-fuzzy.readthedocs.io/en/latest/auto_examples/plot_tipping_problem_newapi.html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Dla dyskretnego uniwersum stosuje się obliczenia numeryczne. Centroid Mamdaniego nie jest ogólnie zwykłą średnią środków zbiorów. Przeanalizuj, co się stanie przy wejściu spoza zakresu lub luce w regułach.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kompletny przykład samych funkcji przynależności. Pełny system można zbudować przez skfuzzy.control: Antecedent, Consequent, Rule, ControlSystem i ControlSystemSimulation. Na zajęciach wykonaj kolejno rozmywanie, przycięcie, maksimum i defuzz, aby mechanizm nie był ukryty.</a:t>
            </a:r>
          </a:p>
          <a:p>
            <a:endParaRPr/>
          </a:p>
          <a:p>
            <a:r>
              <a:t>Źródło techniczne: https://scikit-fuzzy.readthedocs.io/en/latest/auto_examples/plot_tipping_problem_newapi.html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Praca 35 min i 15 min omówienia. Użyj zakresów z poprzednich slajdów. Dla każdego t oblicz aktywacje, przytnij funkcje wyjścia operatorem min, zagreguj max i zastosuj fuzz.defuzz(u,agg,"centroid"). Kryteria: skończony wynik 0–100 dla każdej temperatury, pokrycie wszystkich wejść i sensowna monotoniczność. Omów, dlaczego skrajny wynik może nie osiągać dokładnie 0 lub 100.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Dla Sugeno rzędu zerowego konsekwencje są stałymi, dla pierwszego rzędu funkcjami liniowymi wejść. W obu rodzinach potrzebna jest kontrola pokrycia reguł i danych wejściowych. W programie podstawowym pozostajemy przy Mamdanim.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Dzień 3, pierwsza część. Wróć do rankingu z dnia 1. Zapytaj, czy wygrałby ten sam model, gdyby koszt pominięcia klasy dodatniej wzrósł dziesięciokrotnie.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Najpierw upewnij się, która klasa jest dodatnia. FP to fałszywy alarm, FN to przeoczenie. W sklearn confusion_matrix domyślnie ma wiersze rzeczywiste i kolumny przewidziane w porządku etykiet; dla labels=[0,1] układ liczbowy będzie [[TN,FP],[FN,TP]].</a:t>
            </a:r>
          </a:p>
          <a:p>
            <a:endParaRPr/>
          </a:p>
          <a:p>
            <a:r>
              <a:t>Źródło techniczne: https://scikit-learn.org/stable/modules/model_evaluation.html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Dane z macierzy na poprzednim slajdzie. Obliczenia: accuracy=170/200, precision=40/60, recall=40/50, F1=80/110. Gdy mianownik wynosi zero, trzeba jawnie ustalić konwencję. W wieloklasowości omów różnicę macro i weighted.</a:t>
            </a:r>
          </a:p>
          <a:p>
            <a:endParaRPr/>
          </a:p>
          <a:p>
            <a:r>
              <a:t>Źródło techniczne: https://scikit-learn.org/stable/modules/model_evaluation.html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Przykład hipotetyczny. Na 10000 obserwacji 100 jest dodatnich. Zawsze przewidując zero, uzyskujemy 9900 trafień i zero wykrytych dodatnich. Wartość precision nie ma wtedy dodatniego mianownika. Porównaj model z DummyClassifier i określ koszt pomyłek.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 każdym wierszu 50 dodatnich i 150 ujemnych. Dla tej ilustracji niższy próg minimalizuje koszt spośród trzech opcji, ale nie dowodzi optimum dla dowolnego progu. W praktyce koszt i próg ustala się na walidacji, uwzględniając przepustowość obsługi alarmów.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AUC nie mierzy kalibracji. Przy silnej nierównowadze niski FPR może nadal oznaczać wiele fałszywych alarmów. Average precision i trapezowe pole pod krzywą PR nie są identyczne. Przy porównaniu zbiorów zwróć uwagę na zmianę częstości klasy.</a:t>
            </a:r>
          </a:p>
          <a:p>
            <a:endParaRPr/>
          </a:p>
          <a:p>
            <a:r>
              <a:t>Źródło techniczne: https://scikit-learn.org/stable/modules/model_evaluation.html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 końcowy pozostaje poza tą tabelą. Pięć iteracji daje pięć wyników. Dla klasyfikacji użyj stratification, kiedy jest zgodne z problemem. Zachowaj wspólne podziały przy porównywaniu modeli.</a:t>
            </a:r>
          </a:p>
          <a:p>
            <a:endParaRPr/>
          </a:p>
          <a:p>
            <a:r>
              <a:t>Źródło techniczne: https://scikit-learn.org/stable/modules/cross_validation.html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Stratyfikacja nie usuwa zależności między rekordami. Przy szeregu czasowym rozważ gap, opóźnienia i okna cech. Dla produkcji model musi znać tylko informacje dostępne w chwili decyzji. Ostatni wiersz to zasada projektowa, nie nazwa jednego API.</a:t>
            </a:r>
          </a:p>
          <a:p>
            <a:endParaRPr/>
          </a:p>
          <a:p>
            <a:r>
              <a:t>Źródło techniczne: https://scikit-learn.org/stable/modules/cross_validation.html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Poproś grupę o przykłady z własnych danych. Pipeline rozwiązuje tylko niektóre problemy: nie usuwa cechy z przyszłości ani nie naprawia złego podziału grupowego. To ważne rozróżnienie.</a:t>
            </a:r>
          </a:p>
          <a:p>
            <a:endParaRPr/>
          </a:p>
          <a:p>
            <a:r>
              <a:t>Źródło techniczne: https://scikit-learn.org/stable/common_pitfalls.html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Dla C lub learning_rate stosuj logarytmiczną skalę kandydatów. Wynik najlepszego CV jest optymistyczny jako estymata jakości po szerokim strojeniu. Użyj odłożonego testu albo nested CV, gdy potrzebna jest niezależna ocena procedury wyboru.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Kod używa importów make_pipeline i StandardScaler z wcześniejszego przykładu. GridSearchCV klonuje pełny pipeline w każdym foldzie. Na małych laptopach zmniejsz n_jobs, jeśli występuje presja na pamięć. Nie zmieniaj siatki po zobaczeniu testu.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Praca 25 min i 15 min omówienia. Wykorzystaj wcześniejszy eksperyment. W raporcie oddziel best CV od test F1. Wyświetl confusion_matrix(yte,pred) i classification_report. Kryteria: zero uczenia transformacji na teście, jawna metryka, baseline, jedna końcowa ocena. Jeżeli test był już wielokrotnie używany, nie przedstawiaj go jako niezależnego.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Przed interpretacją upewnij się, że model ma jakość predykcyjną. Wyjaśnianie modelu słabego może dać pozornie interesujące wyniki. Gdy analiza ważności wpływa na dalszy wybór cech, wykonuj ją na walidacji, nie na końcowym teście.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Nawet prosty CSV i zapis konfiguracji w JSON wystarczą do rozpoczęcia. Różne modele porównuj na tych samych danych. Ziarno poprawia powtarzalność, lecz nie gwarantuje identyczności między platformami i wersjami bibliotek.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Dzień 3, druga część. Sieci przedstawiamy w kontekście tych samych zasad walidacji. W ćwiczeniach wykorzystamy MLP na małych obrazach oraz prosty model tekstowy. Nie potrzeba GPU.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Perceptron historyczny stosuje progowanie. W MLP używamy różniczkowalnych lub prawie wszędzie różniczkowalnych aktywacji. Złożenie wielu warstw liniowych bez nieliniowości nadal jest przekształceniem liniowym.</a:t>
            </a:r>
          </a:p>
          <a:p>
            <a:endParaRPr/>
          </a:p>
          <a:p>
            <a:r>
              <a:t>Źródło techniczne: https://scikit-learn.org/stable/modules/neural_networks_supervised.html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Wyjaśnij nasycenie sigmoidy i małe pochodne przy dużych wartościach bezwzględnych. ReLU ma zerową pochodną dla ujemnych wejść. Dla klasyfikacji wieloklasowej często używamy softmax na wyjściu. Próbkowanie wykresu jest dyskretne.</a:t>
            </a:r>
          </a:p>
          <a:p>
            <a:endParaRPr/>
          </a:p>
          <a:p>
            <a:r>
              <a:t>Źródło techniczne: https://scikit-learn.org/stable/modules/neural_networks_supervised.html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Prześledź wymiary macierzy i liczenie biasów. W pełni połączona sieć nie uwzględnia jawnie sąsiedztwa pikseli. To pozwala przejść do motywacji CNN jako rozszerzenia, bez konieczności ich implementowania w tym kursie.</a:t>
            </a:r>
          </a:p>
          <a:p>
            <a:endParaRPr/>
          </a:p>
          <a:p>
            <a:r>
              <a:t>Źródło techniczne: https://scikit-learn.org/stable/modules/neural_networks_supervised.html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Backpropagation oblicza gradient, a optymalizator używa go do zmiany parametrów. To dwa odrębne elementy. Learning rate kontroluje rozmiar kroku. Przy Adamie krok zależy również od estymat momentów gradientów.</a:t>
            </a:r>
          </a:p>
          <a:p>
            <a:endParaRPr/>
          </a:p>
          <a:p>
            <a:r>
              <a:t>Źródło techniczne: https://scikit-learn.org/stable/modules/neural_networks_supervised.html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 tej ilustracji najlepsza walidacyjna strata jest około epoki 30. W sklearn MLPClassifier early_stopping monitoruje accuracy, nie walidacyjny loss. Przy analizie używanego frameworka zawsze sprawdź monitorowaną wielkość.</a:t>
            </a:r>
          </a:p>
          <a:p>
            <a:endParaRPr/>
          </a:p>
          <a:p>
            <a:r>
              <a:t>Źródło techniczne: https://scikit-learn.org/stable/modules/neural_networks_supervised.html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Dropout jest kolejną techniką w bibliotekach sieciowych, ale nie jest parametrem MLPClassifier scikit-learn. Większa sieć nie jest automatycznie lepsza. Zbyt silna kara może spowodować niedouczenie.</a:t>
            </a:r>
          </a:p>
          <a:p>
            <a:endParaRPr/>
          </a:p>
          <a:p>
            <a:r>
              <a:t>Źródło techniczne: https://scikit-learn.org/stable/modules/neural_networks_supervised.html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Dla digits sklearn wartości pikseli są w zakresie 0–16. Dzielenie przez 16 używa znanej stałej, więc nie uczy się na teście. Przy rzeczywistych zdjęciach z jednej serii zdjęciowej potrzebny jest podział grupowy.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Kod korzysta z train_test_split zaimportowanego wcześniej. Test: Bd, dd. Najpierw zapisz konfigurację, a dopiero potem wykonaj ocenę. MLPClassifier używa domyślnie ReLU i Adam. Nie deklarujemy oczekiwanej accuracy bez uruchomienia konkretnej wersji środowiska.</a:t>
            </a:r>
          </a:p>
          <a:p>
            <a:endParaRPr/>
          </a:p>
          <a:p>
            <a:r>
              <a:t>Źródło techniczne: https://scikit-learn.org/stable/modules/neural_networks_supervised.html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Praca 30 min i 15 min omówienia. Użyj accuracy i macro F1. Zapisz liczbę iteracji oraz czas. W sklearn loss_curve_ pokazuje stratę treningową. validation_scores_ przy early_stopping dotyczy accuracy. Nie używaj błędów testowych do wielokrotnego strojenia, jeśli test ma pozostać końcowym oszacowaniem.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TF-IDF to reprezentacja statystyczna, nie pełna semantyka tekstu. W praktyce porównuj prosty model liniowy z siecią. Dla dużych rzadkich macierzy MLP może być mniej korzystne obliczeniowo. Embeddingi i transformery są kierunkiem dalszego rozwoju.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Ten przykład wymaga przygotowanych zmiennych tekstowych, nie jest samodzielnym skryptem. Zdefiniuj etykiety i usuń duplikaty przed podziałem. min_df=2 wymaga wystarczającej liczby dokumentów. Na bardzo małej próbce może usunąć cały słownik. Nie używaj poufnych wiadomości na szkoleniu bez uzgodnienia.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ćwiczenie projektowe, możliwe bez zewnętrznego korpusu. Praca w parach 20 min, prezentacja 15 min. Jeżeli grupa ma uzgodnione dane tekstowe, można wykonać trening. Kryterium: jednostka obserwacji, podział, baseline, metryka, koszt błędów i procedura obsługi niepewności. Nie oceniaj skuteczności na kilku ręcznie napisanych zdaniach.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Nie utożsamiaj wysokiej wartości softmax z poprawnością. W zastosowaniach wrażliwych potrzebne są dodatkowe testy, nadzór i analiza skutków. Przykłady pozostają techniczne, bez formułowania porad prawnych lub medycznych.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Ostatnia godzina szkoleniowa. Projekt końcowy jest krótką obroną projektu, nie pełnym nowym wdrożeniem. W zależności od tempa grupy quiz i lektury mogą stanowić pracę po zajęciach.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Mapa jest wskazówką dydaktyczną, a nie rankingiem uniwersalnym. Każdy następny krok musi być uzasadniony porównaniem. W niektórych zadaniach najprostszy model spełni wszystkie wymagania.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Praca 15 min, prezentacje wybranych zespołów 15 min. Możliwe problemy: klasyfikacja zgłoszeń, segmentacja, strojenie sterownika lub optymalizacja harmonogramu. Kryteria: zgodność metryki z celem, brak oczywistego wycieku, wykonalny baseline i jawne ograniczenia. Próg akceptacji powinien wynikać z potrzeb, nie z przypadkowo uzyskanego wyniku.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Uczestnicy mogą użyć tej listy do własnego projektu. Rozróżnij techniczną możliwość uruchomienia modelu od gotowości do użycia w procesie. Każdy punkt powinien mieć dowód lub świadomie zapisane ograniczenie.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Daj 2 minuty na indywidualne odpowiedzi. Następnie omów wybrane pytania. Można użyć jako szybkiego sprawdzenia efektów bez formalnego oceniania.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pytania 5 dodaj, że rozbieżność może też wynikać ze zmiany rozkładu lub niewłaściwego podziału. Nie każda luka jest automatycznie dowodem jednego mechanizmu. Zwróć uwagę na poprawne użycie słowa „może”.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Nazwy dalszych poziomów pochodzą z załączonego programu. Wybierz jeden konkretny projekt na najbliższe dwa tygodnie: dane, baseline, protokół i raport błędów. Nie rozszerzaj od razu zakresu na wszystkie techniki.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Program źródłowy: Sztuczna_inteligencja_poziom_srednio_zaawansowany_Machine_learning.pdf, 3 strony. Dokumentacja oficjalna zweryfikowana podczas opracowania 05.10.2026. Dokładne odnośniki tematyczne znajdują się także w notatkach odpowiednich slajdów. Autorskie przykłady liczbowe oznaczono na slajdach. Biogram opracowano z informacji prowadzącego.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Zamknięcie szkolenia. Poproś uczestników o konkretną deklarację: dane, model bazowy i miara sukcesu. Pozostaw czas na pytania. Marcin Albiniak, Ph.D.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B5E62C2E-35CC-43B6-BF1E-8695FC9EAE3D}"/>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A3991E5-3E22-4438-870C-38A3F594C31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F921F3FF-D24E-482D-9DA5-3ABF25BE9EA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F29821A8-FCA9-461E-A2B9-431CD2ABF8AF}"/>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CBABDCFA-6B27-49FF-BAC1-32F1A31CDEB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1693643-69E5-4483-A179-484B7E7F364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8B828D7-449A-4DCC-B91A-A6326881353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2DAF1F6-CF07-46AA-A550-8E430E934D1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4235D7AC-0212-407F-BD14-17EF49286A3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C6E09C7C-E2D3-4B3B-BE61-388A301D1A7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0A845FEF-1E5B-4BFA-97DC-42F7D084875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790131CF-E06D-458E-9CE1-F2DC704ECC7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CEC743A5-D5F8-4C26-A73E-E09B01E186C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4815B7C2-69FD-4BDD-B86A-C0B25BA22D3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AE9D0EF0-A4B8-4327-BF87-D62D8F2E5FF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2.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pic>
        <p:nvPicPr>
          <p:cNvPr id="8" name="Obraz 7"/>
          <p:cNvPicPr>
            <a:picLocks noChangeAspect="1"/>
          </p:cNvPicPr>
          <p:nvPr/>
        </p:nvPicPr>
        <p:blipFill>
          <a:blip r:embed="rId3"/>
          <a:srcRect t="27" b="27"/>
          <a:stretch>
            <a:fillRect/>
          </a:stretch>
        </p:blipFill>
        <p:spPr>
          <a:xfrm>
            <a:off x="0" y="0"/>
            <a:ext cx="12192000" cy="6858000"/>
          </a:xfrm>
          <a:prstGeom prst="rect">
            <a:avLst/>
          </a:prstGeom>
        </p:spPr>
      </p:pic>
      <p:sp>
        <p:nvSpPr>
          <p:cNvPr id="2" name="text-0">
            <a:extLst>
              <a:ext uri="{FF2B5EF4-FFF2-40B4-BE49-F238E27FC236}">
                <a16:creationId xmlns:a16="http://schemas.microsoft.com/office/drawing/2014/main" id="{EB4DB6D9-BA7A-432F-A6DB-8B44DF4D65AB}"/>
              </a:ext>
            </a:extLst>
          </p:cNvPr>
          <p:cNvSpPr>
            <a:spLocks noGrp="1"/>
          </p:cNvSpPr>
          <p:nvPr/>
        </p:nvSpPr>
        <p:spPr>
          <a:xfrm>
            <a:off x="609600" y="533400"/>
            <a:ext cx="7143750" cy="285750"/>
          </a:xfrm>
          <a:prstGeom prst="rect">
            <a:avLst/>
          </a:prstGeom>
          <a:noFill/>
          <a:ln w="0">
            <a:noFill/>
          </a:ln>
        </p:spPr>
        <p:txBody>
          <a:bodyPr wrap="square" lIns="0" tIns="0" rIns="0" bIns="0" anchor="t">
            <a:noAutofit/>
          </a:bodyPr>
          <a:lstStyle/>
          <a:p>
            <a:pPr>
              <a:defRPr sz="1275" b="1">
                <a:solidFill>
                  <a:srgbClr val="62DCCB"/>
                </a:solidFill>
                <a:latin typeface="Nimbus Sans"/>
                <a:ea typeface="Nimbus Sans"/>
                <a:cs typeface="Nimbus Sans"/>
              </a:defRPr>
            </a:pPr>
            <a:r>
              <a:rPr sz="1275" b="1">
                <a:solidFill>
                  <a:srgbClr val="62DCCB"/>
                </a:solidFill>
                <a:latin typeface="Nimbus Sans"/>
                <a:ea typeface="Nimbus Sans"/>
                <a:cs typeface="Nimbus Sans"/>
              </a:rPr>
              <a:t>3 DNI / 24 GODZINY SZKOLENIOWE</a:t>
            </a:r>
          </a:p>
        </p:txBody>
      </p:sp>
      <p:sp>
        <p:nvSpPr>
          <p:cNvPr id="3" name="text-1">
            <a:extLst>
              <a:ext uri="{FF2B5EF4-FFF2-40B4-BE49-F238E27FC236}">
                <a16:creationId xmlns:a16="http://schemas.microsoft.com/office/drawing/2014/main" id="{184DC73E-241E-4322-9301-3C8FABDDEFB6}"/>
              </a:ext>
            </a:extLst>
          </p:cNvPr>
          <p:cNvSpPr>
            <a:spLocks noGrp="1"/>
          </p:cNvSpPr>
          <p:nvPr/>
        </p:nvSpPr>
        <p:spPr>
          <a:xfrm>
            <a:off x="561975" y="1381125"/>
            <a:ext cx="8096250" cy="2095500"/>
          </a:xfrm>
          <a:prstGeom prst="rect">
            <a:avLst/>
          </a:prstGeom>
          <a:noFill/>
          <a:ln w="0">
            <a:noFill/>
          </a:ln>
        </p:spPr>
        <p:txBody>
          <a:bodyPr wrap="square" lIns="0" tIns="0" rIns="0" bIns="0" anchor="t">
            <a:noAutofit/>
          </a:bodyPr>
          <a:lstStyle/>
          <a:p>
            <a:pPr>
              <a:defRPr sz="7050" b="1">
                <a:solidFill>
                  <a:srgbClr val="FFFFFF"/>
                </a:solidFill>
                <a:latin typeface="Nimbus Sans"/>
                <a:ea typeface="Nimbus Sans"/>
                <a:cs typeface="Nimbus Sans"/>
              </a:defRPr>
            </a:pPr>
            <a:r>
              <a:rPr sz="7050" b="1">
                <a:solidFill>
                  <a:srgbClr val="FFFFFF"/>
                </a:solidFill>
                <a:latin typeface="Nimbus Sans"/>
                <a:ea typeface="Nimbus Sans"/>
                <a:cs typeface="Nimbus Sans"/>
              </a:rPr>
              <a:t>Machine</a:t>
            </a:r>
          </a:p>
          <a:p>
            <a:pPr>
              <a:defRPr sz="7050" b="1">
                <a:solidFill>
                  <a:srgbClr val="FFFFFF"/>
                </a:solidFill>
                <a:latin typeface="Nimbus Sans"/>
                <a:ea typeface="Nimbus Sans"/>
                <a:cs typeface="Nimbus Sans"/>
              </a:defRPr>
            </a:pPr>
            <a:r>
              <a:rPr sz="7050" b="1">
                <a:solidFill>
                  <a:srgbClr val="FFFFFF"/>
                </a:solidFill>
                <a:latin typeface="Nimbus Sans"/>
                <a:ea typeface="Nimbus Sans"/>
                <a:cs typeface="Nimbus Sans"/>
              </a:rPr>
              <a:t>Learning</a:t>
            </a:r>
          </a:p>
        </p:txBody>
      </p:sp>
      <p:sp>
        <p:nvSpPr>
          <p:cNvPr id="4" name="text-2">
            <a:extLst>
              <a:ext uri="{FF2B5EF4-FFF2-40B4-BE49-F238E27FC236}">
                <a16:creationId xmlns:a16="http://schemas.microsoft.com/office/drawing/2014/main" id="{BB8474C1-6235-487B-A92E-01DA82E59DEB}"/>
              </a:ext>
            </a:extLst>
          </p:cNvPr>
          <p:cNvSpPr>
            <a:spLocks noGrp="1"/>
          </p:cNvSpPr>
          <p:nvPr/>
        </p:nvSpPr>
        <p:spPr>
          <a:xfrm>
            <a:off x="628650" y="3667125"/>
            <a:ext cx="6810375" cy="1000125"/>
          </a:xfrm>
          <a:prstGeom prst="rect">
            <a:avLst/>
          </a:prstGeom>
          <a:noFill/>
          <a:ln w="0">
            <a:noFill/>
          </a:ln>
        </p:spPr>
        <p:txBody>
          <a:bodyPr wrap="square" lIns="0" tIns="0" rIns="0" bIns="0" anchor="t">
            <a:noAutofit/>
          </a:bodyPr>
          <a:lstStyle/>
          <a:p>
            <a:pPr>
              <a:defRPr sz="2475" b="0">
                <a:solidFill>
                  <a:srgbClr val="D7E3E8"/>
                </a:solidFill>
                <a:latin typeface="Nimbus Sans"/>
                <a:ea typeface="Nimbus Sans"/>
                <a:cs typeface="Nimbus Sans"/>
              </a:defRPr>
            </a:pPr>
            <a:r>
              <a:rPr sz="2475" b="0">
                <a:solidFill>
                  <a:srgbClr val="D7E3E8"/>
                </a:solidFill>
                <a:latin typeface="Nimbus Sans"/>
                <a:ea typeface="Nimbus Sans"/>
                <a:cs typeface="Nimbus Sans"/>
              </a:rPr>
              <a:t>Sztuczna inteligencja</a:t>
            </a:r>
          </a:p>
          <a:p>
            <a:pPr>
              <a:defRPr sz="2475" b="0">
                <a:solidFill>
                  <a:srgbClr val="D7E3E8"/>
                </a:solidFill>
                <a:latin typeface="Nimbus Sans"/>
                <a:ea typeface="Nimbus Sans"/>
                <a:cs typeface="Nimbus Sans"/>
              </a:defRPr>
            </a:pPr>
            <a:r>
              <a:rPr sz="2475" b="0">
                <a:solidFill>
                  <a:srgbClr val="D7E3E8"/>
                </a:solidFill>
                <a:latin typeface="Nimbus Sans"/>
                <a:ea typeface="Nimbus Sans"/>
                <a:cs typeface="Nimbus Sans"/>
              </a:rPr>
              <a:t>Poziom średnio zaawansowany</a:t>
            </a:r>
          </a:p>
        </p:txBody>
      </p:sp>
      <p:sp>
        <p:nvSpPr>
          <p:cNvPr id="5" name="text-3">
            <a:extLst>
              <a:ext uri="{FF2B5EF4-FFF2-40B4-BE49-F238E27FC236}">
                <a16:creationId xmlns:a16="http://schemas.microsoft.com/office/drawing/2014/main" id="{82F9A4E2-1574-4BA1-854A-894D25CAA34C}"/>
              </a:ext>
            </a:extLst>
          </p:cNvPr>
          <p:cNvSpPr>
            <a:spLocks noGrp="1"/>
          </p:cNvSpPr>
          <p:nvPr/>
        </p:nvSpPr>
        <p:spPr>
          <a:xfrm>
            <a:off x="628650" y="5448300"/>
            <a:ext cx="6667500" cy="495300"/>
          </a:xfrm>
          <a:prstGeom prst="rect">
            <a:avLst/>
          </a:prstGeom>
          <a:noFill/>
          <a:ln w="0">
            <a:noFill/>
          </a:ln>
        </p:spPr>
        <p:txBody>
          <a:bodyPr wrap="square" lIns="0" tIns="0" rIns="0" bIns="0" anchor="t">
            <a:noAutofit/>
          </a:bodyPr>
          <a:lstStyle/>
          <a:p>
            <a:pPr>
              <a:defRPr sz="2100" b="1">
                <a:solidFill>
                  <a:srgbClr val="FFFFFF"/>
                </a:solidFill>
                <a:latin typeface="Nimbus Sans"/>
                <a:ea typeface="Nimbus Sans"/>
                <a:cs typeface="Nimbus Sans"/>
              </a:defRPr>
            </a:pPr>
            <a:r>
              <a:rPr sz="2100" b="1">
                <a:solidFill>
                  <a:srgbClr val="FFFFFF"/>
                </a:solidFill>
                <a:latin typeface="Nimbus Sans"/>
                <a:ea typeface="Nimbus Sans"/>
                <a:cs typeface="Nimbus Sans"/>
              </a:rPr>
              <a:t>Marcin Albiniak, Ph.D.</a:t>
            </a:r>
          </a:p>
        </p:txBody>
      </p:sp>
      <p:sp>
        <p:nvSpPr>
          <p:cNvPr id="6" name="text-4">
            <a:extLst>
              <a:ext uri="{FF2B5EF4-FFF2-40B4-BE49-F238E27FC236}">
                <a16:creationId xmlns:a16="http://schemas.microsoft.com/office/drawing/2014/main" id="{10FAB43D-EBE5-40E1-BB94-0C813A715AC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7" name="text-5">
            <a:extLst>
              <a:ext uri="{FF2B5EF4-FFF2-40B4-BE49-F238E27FC236}">
                <a16:creationId xmlns:a16="http://schemas.microsoft.com/office/drawing/2014/main" id="{422F5656-5629-4694-BA41-E485D06AC956}"/>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01</a:t>
            </a:r>
          </a:p>
        </p:txBody>
      </p:sp>
    </p:spTree>
    <p:extLst>
      <p:ext uri="{BB962C8B-B14F-4D97-AF65-F5344CB8AC3E}">
        <p14:creationId xmlns:p14="http://schemas.microsoft.com/office/powerpoint/2010/main" val="1348922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3" name="text-0">
            <a:extLst>
              <a:ext uri="{FF2B5EF4-FFF2-40B4-BE49-F238E27FC236}">
                <a16:creationId xmlns:a16="http://schemas.microsoft.com/office/drawing/2014/main" id="{89D6581B-6040-4452-A27C-3CA316457C29}"/>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WPROWADZENIE</a:t>
            </a:r>
          </a:p>
        </p:txBody>
      </p:sp>
      <p:sp>
        <p:nvSpPr>
          <p:cNvPr id="2" name="text-1">
            <a:extLst>
              <a:ext uri="{FF2B5EF4-FFF2-40B4-BE49-F238E27FC236}">
                <a16:creationId xmlns:a16="http://schemas.microsoft.com/office/drawing/2014/main" id="{5EC670FD-FC23-453A-9DEF-B213943806CB}"/>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Agenda szkolenia</a:t>
            </a:r>
          </a:p>
        </p:txBody>
      </p:sp>
      <p:sp>
        <p:nvSpPr>
          <p:cNvPr id="3" name="text-2">
            <a:extLst>
              <a:ext uri="{FF2B5EF4-FFF2-40B4-BE49-F238E27FC236}">
                <a16:creationId xmlns:a16="http://schemas.microsoft.com/office/drawing/2014/main" id="{8B1EBC68-4EF7-4CD8-9253-8F70E5B38B5D}"/>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D4F7BA8A-2537-47C4-9CE8-4C9ACBC57B1A}"/>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02</a:t>
            </a:r>
          </a:p>
        </p:txBody>
      </p:sp>
      <p:sp>
        <p:nvSpPr>
          <p:cNvPr id="5" name="text-4">
            <a:extLst>
              <a:ext uri="{FF2B5EF4-FFF2-40B4-BE49-F238E27FC236}">
                <a16:creationId xmlns:a16="http://schemas.microsoft.com/office/drawing/2014/main" id="{2C03C31D-F415-480C-AB95-ECBF2006B0A6}"/>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D98C5386-74DC-44D5-9A2E-CBD70E186256}"/>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Algorytmy uczenia maszynowego</a:t>
            </a:r>
          </a:p>
        </p:txBody>
      </p:sp>
      <p:sp>
        <p:nvSpPr>
          <p:cNvPr id="7" name="text-6">
            <a:extLst>
              <a:ext uri="{FF2B5EF4-FFF2-40B4-BE49-F238E27FC236}">
                <a16:creationId xmlns:a16="http://schemas.microsoft.com/office/drawing/2014/main" id="{FF5091C6-BF13-43E2-846B-D8D1C199F4A9}"/>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Regresja, SVM, klasteryzacja i zespoły drzew</a:t>
            </a:r>
          </a:p>
        </p:txBody>
      </p:sp>
      <p:sp>
        <p:nvSpPr>
          <p:cNvPr id="8" name="text-7">
            <a:extLst>
              <a:ext uri="{FF2B5EF4-FFF2-40B4-BE49-F238E27FC236}">
                <a16:creationId xmlns:a16="http://schemas.microsoft.com/office/drawing/2014/main" id="{2988C0ED-C571-4A78-9C11-B9C120AD8021}"/>
              </a:ext>
            </a:extLst>
          </p:cNvPr>
          <p:cNvSpPr>
            <a:spLocks noGrp="1"/>
          </p:cNvSpPr>
          <p:nvPr/>
        </p:nvSpPr>
        <p:spPr>
          <a:xfrm>
            <a:off x="609600" y="26003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BE49B3F1-18DC-47D8-A565-179A295EFA4C}"/>
              </a:ext>
            </a:extLst>
          </p:cNvPr>
          <p:cNvSpPr>
            <a:spLocks noGrp="1"/>
          </p:cNvSpPr>
          <p:nvPr/>
        </p:nvSpPr>
        <p:spPr>
          <a:xfrm>
            <a:off x="1562100" y="26003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Algorytmy genetyczne</a:t>
            </a:r>
          </a:p>
        </p:txBody>
      </p:sp>
      <p:sp>
        <p:nvSpPr>
          <p:cNvPr id="10" name="text-9">
            <a:extLst>
              <a:ext uri="{FF2B5EF4-FFF2-40B4-BE49-F238E27FC236}">
                <a16:creationId xmlns:a16="http://schemas.microsoft.com/office/drawing/2014/main" id="{8A2BE346-7956-4A6E-A5F4-3EE8A0DEDD52}"/>
              </a:ext>
            </a:extLst>
          </p:cNvPr>
          <p:cNvSpPr>
            <a:spLocks noGrp="1"/>
          </p:cNvSpPr>
          <p:nvPr/>
        </p:nvSpPr>
        <p:spPr>
          <a:xfrm>
            <a:off x="1562100" y="29718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Reprezentacja, operatory i optymalizacja</a:t>
            </a:r>
          </a:p>
        </p:txBody>
      </p:sp>
      <p:sp>
        <p:nvSpPr>
          <p:cNvPr id="11" name="text-10">
            <a:extLst>
              <a:ext uri="{FF2B5EF4-FFF2-40B4-BE49-F238E27FC236}">
                <a16:creationId xmlns:a16="http://schemas.microsoft.com/office/drawing/2014/main" id="{C0F40E90-D1B6-41EA-867E-2DE81AAC22CB}"/>
              </a:ext>
            </a:extLst>
          </p:cNvPr>
          <p:cNvSpPr>
            <a:spLocks noGrp="1"/>
          </p:cNvSpPr>
          <p:nvPr/>
        </p:nvSpPr>
        <p:spPr>
          <a:xfrm>
            <a:off x="609600" y="32861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D8B995BC-EEC0-46DE-A529-2C0D072474E9}"/>
              </a:ext>
            </a:extLst>
          </p:cNvPr>
          <p:cNvSpPr>
            <a:spLocks noGrp="1"/>
          </p:cNvSpPr>
          <p:nvPr/>
        </p:nvSpPr>
        <p:spPr>
          <a:xfrm>
            <a:off x="1562100" y="32861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Logika rozmyta</a:t>
            </a:r>
          </a:p>
        </p:txBody>
      </p:sp>
      <p:sp>
        <p:nvSpPr>
          <p:cNvPr id="13" name="text-12">
            <a:extLst>
              <a:ext uri="{FF2B5EF4-FFF2-40B4-BE49-F238E27FC236}">
                <a16:creationId xmlns:a16="http://schemas.microsoft.com/office/drawing/2014/main" id="{B9ABE040-556B-48BC-A24A-5720C1720130}"/>
              </a:ext>
            </a:extLst>
          </p:cNvPr>
          <p:cNvSpPr>
            <a:spLocks noGrp="1"/>
          </p:cNvSpPr>
          <p:nvPr/>
        </p:nvSpPr>
        <p:spPr>
          <a:xfrm>
            <a:off x="1562100" y="36576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Funkcje przynależności i systemy reguł</a:t>
            </a:r>
          </a:p>
        </p:txBody>
      </p:sp>
      <p:sp>
        <p:nvSpPr>
          <p:cNvPr id="14" name="text-13">
            <a:extLst>
              <a:ext uri="{FF2B5EF4-FFF2-40B4-BE49-F238E27FC236}">
                <a16:creationId xmlns:a16="http://schemas.microsoft.com/office/drawing/2014/main" id="{14077A78-3048-4755-9706-DB49791A3628}"/>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74ADEC2B-7211-4418-B154-71A60002BCD4}"/>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Modelowanie i ocena</a:t>
            </a:r>
          </a:p>
        </p:txBody>
      </p:sp>
      <p:sp>
        <p:nvSpPr>
          <p:cNvPr id="16" name="text-15">
            <a:extLst>
              <a:ext uri="{FF2B5EF4-FFF2-40B4-BE49-F238E27FC236}">
                <a16:creationId xmlns:a16="http://schemas.microsoft.com/office/drawing/2014/main" id="{7A50E9EA-8E39-4F13-872B-0D7D88A0C7ED}"/>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Walidacja, metryki i hiperparametry</a:t>
            </a:r>
          </a:p>
        </p:txBody>
      </p:sp>
      <p:sp>
        <p:nvSpPr>
          <p:cNvPr id="17" name="text-16">
            <a:extLst>
              <a:ext uri="{FF2B5EF4-FFF2-40B4-BE49-F238E27FC236}">
                <a16:creationId xmlns:a16="http://schemas.microsoft.com/office/drawing/2014/main" id="{083E454B-7CAE-4345-9EAE-2DB7704815E3}"/>
              </a:ext>
            </a:extLst>
          </p:cNvPr>
          <p:cNvSpPr>
            <a:spLocks noGrp="1"/>
          </p:cNvSpPr>
          <p:nvPr/>
        </p:nvSpPr>
        <p:spPr>
          <a:xfrm>
            <a:off x="609600" y="46577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05</a:t>
            </a:r>
          </a:p>
        </p:txBody>
      </p:sp>
      <p:sp>
        <p:nvSpPr>
          <p:cNvPr id="18" name="text-17">
            <a:extLst>
              <a:ext uri="{FF2B5EF4-FFF2-40B4-BE49-F238E27FC236}">
                <a16:creationId xmlns:a16="http://schemas.microsoft.com/office/drawing/2014/main" id="{E142994D-F845-4D12-A194-5191A15EF93D}"/>
              </a:ext>
            </a:extLst>
          </p:cNvPr>
          <p:cNvSpPr>
            <a:spLocks noGrp="1"/>
          </p:cNvSpPr>
          <p:nvPr/>
        </p:nvSpPr>
        <p:spPr>
          <a:xfrm>
            <a:off x="1562100" y="46577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Sieci neuronowe</a:t>
            </a:r>
          </a:p>
        </p:txBody>
      </p:sp>
      <p:sp>
        <p:nvSpPr>
          <p:cNvPr id="19" name="text-18">
            <a:extLst>
              <a:ext uri="{FF2B5EF4-FFF2-40B4-BE49-F238E27FC236}">
                <a16:creationId xmlns:a16="http://schemas.microsoft.com/office/drawing/2014/main" id="{764BF939-5FBC-49EA-AE44-3FB21AE6C61C}"/>
              </a:ext>
            </a:extLst>
          </p:cNvPr>
          <p:cNvSpPr>
            <a:spLocks noGrp="1"/>
          </p:cNvSpPr>
          <p:nvPr/>
        </p:nvSpPr>
        <p:spPr>
          <a:xfrm>
            <a:off x="1562100" y="50292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Uczenie, obrazy i tekst</a:t>
            </a:r>
          </a:p>
        </p:txBody>
      </p:sp>
      <p:sp>
        <p:nvSpPr>
          <p:cNvPr id="20" name="text-19">
            <a:extLst>
              <a:ext uri="{FF2B5EF4-FFF2-40B4-BE49-F238E27FC236}">
                <a16:creationId xmlns:a16="http://schemas.microsoft.com/office/drawing/2014/main" id="{27E9A923-90F0-4390-884C-9728ADE458DC}"/>
              </a:ext>
            </a:extLst>
          </p:cNvPr>
          <p:cNvSpPr>
            <a:spLocks noGrp="1"/>
          </p:cNvSpPr>
          <p:nvPr/>
        </p:nvSpPr>
        <p:spPr>
          <a:xfrm>
            <a:off x="609600" y="5343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06</a:t>
            </a:r>
          </a:p>
        </p:txBody>
      </p:sp>
      <p:sp>
        <p:nvSpPr>
          <p:cNvPr id="21" name="text-20">
            <a:extLst>
              <a:ext uri="{FF2B5EF4-FFF2-40B4-BE49-F238E27FC236}">
                <a16:creationId xmlns:a16="http://schemas.microsoft.com/office/drawing/2014/main" id="{AE718530-40E0-4E97-9321-CEE42DB29AB0}"/>
              </a:ext>
            </a:extLst>
          </p:cNvPr>
          <p:cNvSpPr>
            <a:spLocks noGrp="1"/>
          </p:cNvSpPr>
          <p:nvPr/>
        </p:nvSpPr>
        <p:spPr>
          <a:xfrm>
            <a:off x="1562100" y="53435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Podsumowanie</a:t>
            </a:r>
          </a:p>
        </p:txBody>
      </p:sp>
      <p:sp>
        <p:nvSpPr>
          <p:cNvPr id="22" name="text-21">
            <a:extLst>
              <a:ext uri="{FF2B5EF4-FFF2-40B4-BE49-F238E27FC236}">
                <a16:creationId xmlns:a16="http://schemas.microsoft.com/office/drawing/2014/main" id="{37D338B9-64E1-465C-AA0E-7F48F02E2AF2}"/>
              </a:ext>
            </a:extLst>
          </p:cNvPr>
          <p:cNvSpPr>
            <a:spLocks noGrp="1"/>
          </p:cNvSpPr>
          <p:nvPr/>
        </p:nvSpPr>
        <p:spPr>
          <a:xfrm>
            <a:off x="1562100" y="57150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Projekt przekrojowy i dalszy rozwój</a:t>
            </a:r>
          </a:p>
        </p:txBody>
      </p:sp>
    </p:spTree>
    <p:extLst>
      <p:ext uri="{BB962C8B-B14F-4D97-AF65-F5344CB8AC3E}">
        <p14:creationId xmlns:p14="http://schemas.microsoft.com/office/powerpoint/2010/main" val="1119466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D61FB1C6-7DF7-47AB-8403-3DBEE6FAEA6B}"/>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WPROWADZENIE</a:t>
            </a:r>
          </a:p>
        </p:txBody>
      </p:sp>
      <p:sp>
        <p:nvSpPr>
          <p:cNvPr id="2" name="text-1">
            <a:extLst>
              <a:ext uri="{FF2B5EF4-FFF2-40B4-BE49-F238E27FC236}">
                <a16:creationId xmlns:a16="http://schemas.microsoft.com/office/drawing/2014/main" id="{84B59294-6C6C-40D8-9F44-28255CE1142B}"/>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Plan trzech dni</a:t>
            </a:r>
          </a:p>
        </p:txBody>
      </p:sp>
      <p:sp>
        <p:nvSpPr>
          <p:cNvPr id="3" name="text-2">
            <a:extLst>
              <a:ext uri="{FF2B5EF4-FFF2-40B4-BE49-F238E27FC236}">
                <a16:creationId xmlns:a16="http://schemas.microsoft.com/office/drawing/2014/main" id="{399FE050-6019-4C2F-B6F4-A5DE6C283ED6}"/>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20828F55-85F6-4B43-A4D6-244FB94463D9}"/>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03</a:t>
            </a:r>
          </a:p>
        </p:txBody>
      </p:sp>
      <p:graphicFrame>
        <p:nvGraphicFramePr>
          <p:cNvPr id="11" name="Tabela 10"/>
          <p:cNvGraphicFramePr/>
          <p:nvPr/>
        </p:nvGraphicFramePr>
        <p:xfrm>
          <a:off x="609600" y="1971675"/>
          <a:ext cx="10972800" cy="2771775"/>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92944">
                <a:tc>
                  <a:txBody>
                    <a:bodyPr/>
                    <a:lstStyle/>
                    <a:p>
                      <a:r>
                        <a:rPr sz="1725" b="1">
                          <a:solidFill>
                            <a:srgbClr val="FFFFFF"/>
                          </a:solidFill>
                          <a:latin typeface="Nimbus Sans"/>
                          <a:ea typeface="Nimbus Sans"/>
                          <a:cs typeface="Nimbus Sans"/>
                        </a:rPr>
                        <a:t>Dzień</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Zakres</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Godziny szkoleniowe</a:t>
                      </a:r>
                    </a:p>
                  </a:txBody>
                  <a:tcPr marL="133350" marR="114300" marT="123825" marB="104775" anchor="ctr">
                    <a:solidFill>
                      <a:srgbClr val="0B1426"/>
                    </a:solidFill>
                  </a:tcPr>
                </a:tc>
                <a:extLst>
                  <a:ext uri="{0D108BD9-81ED-4DB2-BD59-A6C34878D82A}">
                    <a16:rowId xmlns:a16="http://schemas.microsoft.com/office/drawing/2014/main" val="10000"/>
                  </a:ext>
                </a:extLst>
              </a:tr>
              <a:tr h="692944">
                <a:tc>
                  <a:txBody>
                    <a:bodyPr/>
                    <a:lstStyle/>
                    <a:p>
                      <a:r>
                        <a:rPr sz="1875" b="1">
                          <a:solidFill>
                            <a:srgbClr val="17243A"/>
                          </a:solidFill>
                          <a:latin typeface="Nimbus Sans"/>
                          <a:ea typeface="Nimbus Sans"/>
                          <a:cs typeface="Nimbus Sans"/>
                        </a:rPr>
                        <a:t>1</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Wprowadzenie i środowisko</a:t>
                      </a:r>
                    </a:p>
                    <a:p>
                      <a:r>
                        <a:rPr sz="1875" b="0">
                          <a:solidFill>
                            <a:srgbClr val="17243A"/>
                          </a:solidFill>
                          <a:latin typeface="Nimbus Sans"/>
                          <a:ea typeface="Nimbus Sans"/>
                          <a:cs typeface="Nimbus Sans"/>
                        </a:rPr>
                        <a:t>Modele nadzorowane, klastry, drzewa</a:t>
                      </a:r>
                    </a:p>
                    <a:p>
                      <a:r>
                        <a:rPr sz="1875" b="0">
                          <a:solidFill>
                            <a:srgbClr val="17243A"/>
                          </a:solidFill>
                          <a:latin typeface="Nimbus Sans"/>
                          <a:ea typeface="Nimbus Sans"/>
                          <a:cs typeface="Nimbus Sans"/>
                        </a:rPr>
                        <a:t>Ćwiczenia i omówienie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1 + 6 + 1 = 8</a:t>
                      </a:r>
                    </a:p>
                  </a:txBody>
                  <a:tcPr marL="133350" marR="114300" marT="123825" marB="104775" anchor="ctr">
                    <a:solidFill>
                      <a:srgbClr val="FFFFFF"/>
                    </a:solidFill>
                  </a:tcPr>
                </a:tc>
                <a:extLst>
                  <a:ext uri="{0D108BD9-81ED-4DB2-BD59-A6C34878D82A}">
                    <a16:rowId xmlns:a16="http://schemas.microsoft.com/office/drawing/2014/main" val="10001"/>
                  </a:ext>
                </a:extLst>
              </a:tr>
              <a:tr h="692944">
                <a:tc>
                  <a:txBody>
                    <a:bodyPr/>
                    <a:lstStyle/>
                    <a:p>
                      <a:r>
                        <a:rPr sz="1875" b="1">
                          <a:solidFill>
                            <a:srgbClr val="17243A"/>
                          </a:solidFill>
                          <a:latin typeface="Nimbus Sans"/>
                          <a:ea typeface="Nimbus Sans"/>
                          <a:cs typeface="Nimbus Sans"/>
                        </a:rPr>
                        <a:t>2</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Algorytmy genetyczne</a:t>
                      </a:r>
                    </a:p>
                    <a:p>
                      <a:r>
                        <a:rPr sz="1875" b="0">
                          <a:solidFill>
                            <a:srgbClr val="17243A"/>
                          </a:solidFill>
                          <a:latin typeface="Nimbus Sans"/>
                          <a:ea typeface="Nimbus Sans"/>
                          <a:cs typeface="Nimbus Sans"/>
                        </a:rPr>
                        <a:t>Logika rozmyta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4 + 4 = 8</a:t>
                      </a:r>
                    </a:p>
                  </a:txBody>
                  <a:tcPr marL="133350" marR="114300" marT="123825" marB="104775" anchor="ctr">
                    <a:solidFill>
                      <a:srgbClr val="E9EFED"/>
                    </a:solidFill>
                  </a:tcPr>
                </a:tc>
                <a:extLst>
                  <a:ext uri="{0D108BD9-81ED-4DB2-BD59-A6C34878D82A}">
                    <a16:rowId xmlns:a16="http://schemas.microsoft.com/office/drawing/2014/main" val="10002"/>
                  </a:ext>
                </a:extLst>
              </a:tr>
              <a:tr h="692944">
                <a:tc>
                  <a:txBody>
                    <a:bodyPr/>
                    <a:lstStyle/>
                    <a:p>
                      <a:r>
                        <a:rPr sz="1875" b="1">
                          <a:solidFill>
                            <a:srgbClr val="17243A"/>
                          </a:solidFill>
                          <a:latin typeface="Nimbus Sans"/>
                          <a:ea typeface="Nimbus Sans"/>
                          <a:cs typeface="Nimbus Sans"/>
                        </a:rPr>
                        <a:t>3</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Ocena modeli</a:t>
                      </a:r>
                    </a:p>
                    <a:p>
                      <a:r>
                        <a:rPr sz="1875" b="0">
                          <a:solidFill>
                            <a:srgbClr val="17243A"/>
                          </a:solidFill>
                          <a:latin typeface="Nimbus Sans"/>
                          <a:ea typeface="Nimbus Sans"/>
                          <a:cs typeface="Nimbus Sans"/>
                        </a:rPr>
                        <a:t>Sieci neuronowe</a:t>
                      </a:r>
                    </a:p>
                    <a:p>
                      <a:r>
                        <a:rPr sz="1875" b="0">
                          <a:solidFill>
                            <a:srgbClr val="17243A"/>
                          </a:solidFill>
                          <a:latin typeface="Nimbus Sans"/>
                          <a:ea typeface="Nimbus Sans"/>
                          <a:cs typeface="Nimbus Sans"/>
                        </a:rPr>
                        <a:t>Projekt i podsumowanie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3 + 4 + 1 = 8</a:t>
                      </a:r>
                    </a:p>
                  </a:txBody>
                  <a:tcPr marL="133350" marR="114300" marT="123825" marB="104775" anchor="ctr">
                    <a:solidFill>
                      <a:srgbClr val="FFFFFF"/>
                    </a:solidFill>
                  </a:tcPr>
                </a:tc>
                <a:extLst>
                  <a:ext uri="{0D108BD9-81ED-4DB2-BD59-A6C34878D82A}">
                    <a16:rowId xmlns:a16="http://schemas.microsoft.com/office/drawing/2014/main" val="10003"/>
                  </a:ext>
                </a:extLst>
              </a:tr>
            </a:tbl>
          </a:graphicData>
        </a:graphic>
      </p:graphicFrame>
      <p:sp>
        <p:nvSpPr>
          <p:cNvPr id="6" name="text-4">
            <a:extLst>
              <a:ext uri="{FF2B5EF4-FFF2-40B4-BE49-F238E27FC236}">
                <a16:creationId xmlns:a16="http://schemas.microsoft.com/office/drawing/2014/main" id="{BC2CE510-BD9A-4A8F-9906-DEA8366A01D8}"/>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Proponowany podział dydaktyczny. 1 godzina szkoleniowa = 45 minut. Przerwy poza bilansem.</a:t>
            </a:r>
          </a:p>
        </p:txBody>
      </p:sp>
    </p:spTree>
    <p:extLst>
      <p:ext uri="{BB962C8B-B14F-4D97-AF65-F5344CB8AC3E}">
        <p14:creationId xmlns:p14="http://schemas.microsoft.com/office/powerpoint/2010/main" val="121769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17DE674C-142D-42A1-A565-F72417D51CDB}"/>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E560DFC0-BF4C-4841-8B8A-5413A89470B0}"/>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04</a:t>
            </a:r>
          </a:p>
        </p:txBody>
      </p:sp>
      <p:sp>
        <p:nvSpPr>
          <p:cNvPr id="3" name="text-2">
            <a:extLst>
              <a:ext uri="{FF2B5EF4-FFF2-40B4-BE49-F238E27FC236}">
                <a16:creationId xmlns:a16="http://schemas.microsoft.com/office/drawing/2014/main" id="{E395B70A-13C7-493B-A930-7E40A88F0307}"/>
              </a:ext>
            </a:extLst>
          </p:cNvPr>
          <p:cNvSpPr>
            <a:spLocks noGrp="1"/>
          </p:cNvSpPr>
          <p:nvPr/>
        </p:nvSpPr>
        <p:spPr>
          <a:xfrm>
            <a:off x="609600" y="466725"/>
            <a:ext cx="4667250" cy="228600"/>
          </a:xfrm>
          <a:prstGeom prst="rect">
            <a:avLst/>
          </a:prstGeom>
          <a:noFill/>
          <a:ln w="0">
            <a:noFill/>
          </a:ln>
        </p:spPr>
        <p:txBody>
          <a:bodyPr wrap="square" lIns="0" tIns="0" rIns="0" bIns="0" anchor="t">
            <a:noAutofit/>
          </a:bodyPr>
          <a:lstStyle/>
          <a:p>
            <a:pPr>
              <a:defRPr sz="1200" b="1">
                <a:solidFill>
                  <a:srgbClr val="62DCCB"/>
                </a:solidFill>
                <a:latin typeface="Nimbus Sans"/>
                <a:ea typeface="Nimbus Sans"/>
                <a:cs typeface="Nimbus Sans"/>
              </a:defRPr>
            </a:pPr>
            <a:r>
              <a:rPr sz="1200" b="1">
                <a:solidFill>
                  <a:srgbClr val="62DCCB"/>
                </a:solidFill>
                <a:latin typeface="Nimbus Sans"/>
                <a:ea typeface="Nimbus Sans"/>
                <a:cs typeface="Nimbus Sans"/>
              </a:rPr>
              <a:t>PROWADZĄCY</a:t>
            </a:r>
          </a:p>
        </p:txBody>
      </p:sp>
      <p:sp>
        <p:nvSpPr>
          <p:cNvPr id="4" name="text-3">
            <a:extLst>
              <a:ext uri="{FF2B5EF4-FFF2-40B4-BE49-F238E27FC236}">
                <a16:creationId xmlns:a16="http://schemas.microsoft.com/office/drawing/2014/main" id="{00F52FCE-A8C8-4F56-9C6B-498159BCBB41}"/>
              </a:ext>
            </a:extLst>
          </p:cNvPr>
          <p:cNvSpPr>
            <a:spLocks noGrp="1"/>
          </p:cNvSpPr>
          <p:nvPr/>
        </p:nvSpPr>
        <p:spPr>
          <a:xfrm>
            <a:off x="581025" y="1466850"/>
            <a:ext cx="4857750" cy="1790700"/>
          </a:xfrm>
          <a:prstGeom prst="rect">
            <a:avLst/>
          </a:prstGeom>
          <a:noFill/>
          <a:ln w="0">
            <a:noFill/>
          </a:ln>
        </p:spPr>
        <p:txBody>
          <a:bodyPr wrap="square" lIns="0" tIns="0" rIns="0" bIns="0" anchor="t">
            <a:noAutofit/>
          </a:bodyPr>
          <a:lstStyle/>
          <a:p>
            <a:pPr>
              <a:defRPr sz="5850" b="1">
                <a:solidFill>
                  <a:srgbClr val="FFFFFF"/>
                </a:solidFill>
                <a:latin typeface="Nimbus Sans"/>
                <a:ea typeface="Nimbus Sans"/>
                <a:cs typeface="Nimbus Sans"/>
              </a:defRPr>
            </a:pPr>
            <a:r>
              <a:rPr sz="5850" b="1">
                <a:solidFill>
                  <a:srgbClr val="FFFFFF"/>
                </a:solidFill>
                <a:latin typeface="Nimbus Sans"/>
                <a:ea typeface="Nimbus Sans"/>
                <a:cs typeface="Nimbus Sans"/>
              </a:rPr>
              <a:t>Marcin</a:t>
            </a:r>
          </a:p>
          <a:p>
            <a:pPr>
              <a:defRPr sz="5850" b="1">
                <a:solidFill>
                  <a:srgbClr val="FFFFFF"/>
                </a:solidFill>
                <a:latin typeface="Nimbus Sans"/>
                <a:ea typeface="Nimbus Sans"/>
                <a:cs typeface="Nimbus Sans"/>
              </a:defRPr>
            </a:pPr>
            <a:r>
              <a:rPr sz="5850" b="1">
                <a:solidFill>
                  <a:srgbClr val="FFFFFF"/>
                </a:solidFill>
                <a:latin typeface="Nimbus Sans"/>
                <a:ea typeface="Nimbus Sans"/>
                <a:cs typeface="Nimbus Sans"/>
              </a:rPr>
              <a:t>Albiniak</a:t>
            </a:r>
          </a:p>
        </p:txBody>
      </p:sp>
      <p:sp>
        <p:nvSpPr>
          <p:cNvPr id="5" name="text-4">
            <a:extLst>
              <a:ext uri="{FF2B5EF4-FFF2-40B4-BE49-F238E27FC236}">
                <a16:creationId xmlns:a16="http://schemas.microsoft.com/office/drawing/2014/main" id="{32BC7655-5B44-4117-9D5F-4F51CEDF9460}"/>
              </a:ext>
            </a:extLst>
          </p:cNvPr>
          <p:cNvSpPr>
            <a:spLocks noGrp="1"/>
          </p:cNvSpPr>
          <p:nvPr/>
        </p:nvSpPr>
        <p:spPr>
          <a:xfrm>
            <a:off x="619125" y="3581400"/>
            <a:ext cx="4572000" cy="666750"/>
          </a:xfrm>
          <a:prstGeom prst="rect">
            <a:avLst/>
          </a:prstGeom>
          <a:noFill/>
          <a:ln w="0">
            <a:noFill/>
          </a:ln>
        </p:spPr>
        <p:txBody>
          <a:bodyPr wrap="square" lIns="0" tIns="0" rIns="0" bIns="0" anchor="t">
            <a:noAutofit/>
          </a:bodyPr>
          <a:lstStyle/>
          <a:p>
            <a:pPr>
              <a:defRPr sz="2175" b="0">
                <a:solidFill>
                  <a:srgbClr val="62DCCB"/>
                </a:solidFill>
                <a:latin typeface="Nimbus Sans"/>
                <a:ea typeface="Nimbus Sans"/>
                <a:cs typeface="Nimbus Sans"/>
              </a:defRPr>
            </a:pPr>
            <a:r>
              <a:rPr sz="2175" b="0">
                <a:solidFill>
                  <a:srgbClr val="62DCCB"/>
                </a:solidFill>
                <a:latin typeface="Nimbus Sans"/>
                <a:ea typeface="Nimbus Sans"/>
                <a:cs typeface="Nimbus Sans"/>
              </a:rPr>
              <a:t>Ph.D. / AI i Deep Learning</a:t>
            </a:r>
          </a:p>
        </p:txBody>
      </p:sp>
      <p:sp>
        <p:nvSpPr>
          <p:cNvPr id="6" name="text-5">
            <a:extLst>
              <a:ext uri="{FF2B5EF4-FFF2-40B4-BE49-F238E27FC236}">
                <a16:creationId xmlns:a16="http://schemas.microsoft.com/office/drawing/2014/main" id="{BD8327BB-6641-4678-92FC-E09C60199847}"/>
              </a:ext>
            </a:extLst>
          </p:cNvPr>
          <p:cNvSpPr>
            <a:spLocks noGrp="1"/>
          </p:cNvSpPr>
          <p:nvPr/>
        </p:nvSpPr>
        <p:spPr>
          <a:xfrm>
            <a:off x="619125" y="4819650"/>
            <a:ext cx="4476750" cy="857250"/>
          </a:xfrm>
          <a:prstGeom prst="rect">
            <a:avLst/>
          </a:prstGeom>
          <a:noFill/>
          <a:ln w="0">
            <a:noFill/>
          </a:ln>
        </p:spPr>
        <p:txBody>
          <a:bodyPr wrap="square" lIns="0" tIns="0" rIns="0" bIns="0" anchor="t">
            <a:noAutofit/>
          </a:bodyPr>
          <a:lstStyle/>
          <a:p>
            <a:pPr>
              <a:defRPr sz="2250" b="0">
                <a:solidFill>
                  <a:srgbClr val="D7E3E8"/>
                </a:solidFill>
                <a:latin typeface="Nimbus Sans"/>
                <a:ea typeface="Nimbus Sans"/>
                <a:cs typeface="Nimbus Sans"/>
              </a:defRPr>
            </a:pPr>
            <a:r>
              <a:rPr sz="2250" b="0">
                <a:solidFill>
                  <a:srgbClr val="D7E3E8"/>
                </a:solidFill>
                <a:latin typeface="Nimbus Sans"/>
                <a:ea typeface="Nimbus Sans"/>
                <a:cs typeface="Nimbus Sans"/>
              </a:rPr>
              <a:t>Badacz. Wykładowca.</a:t>
            </a:r>
          </a:p>
          <a:p>
            <a:pPr>
              <a:defRPr sz="2250" b="0">
                <a:solidFill>
                  <a:srgbClr val="D7E3E8"/>
                </a:solidFill>
                <a:latin typeface="Nimbus Sans"/>
                <a:ea typeface="Nimbus Sans"/>
                <a:cs typeface="Nimbus Sans"/>
              </a:defRPr>
            </a:pPr>
            <a:r>
              <a:rPr sz="2250" b="0">
                <a:solidFill>
                  <a:srgbClr val="D7E3E8"/>
                </a:solidFill>
                <a:latin typeface="Nimbus Sans"/>
                <a:ea typeface="Nimbus Sans"/>
                <a:cs typeface="Nimbus Sans"/>
              </a:rPr>
              <a:t>Przedsiębiorca.</a:t>
            </a:r>
          </a:p>
        </p:txBody>
      </p:sp>
      <p:sp>
        <p:nvSpPr>
          <p:cNvPr id="7" name="text-6">
            <a:extLst>
              <a:ext uri="{FF2B5EF4-FFF2-40B4-BE49-F238E27FC236}">
                <a16:creationId xmlns:a16="http://schemas.microsoft.com/office/drawing/2014/main" id="{2C5E8E0E-8FE0-482D-AD9F-C8E1EF4C8137}"/>
              </a:ext>
            </a:extLst>
          </p:cNvPr>
          <p:cNvSpPr>
            <a:spLocks noGrp="1"/>
          </p:cNvSpPr>
          <p:nvPr/>
        </p:nvSpPr>
        <p:spPr>
          <a:xfrm>
            <a:off x="6115050" y="933450"/>
            <a:ext cx="5467350" cy="285750"/>
          </a:xfrm>
          <a:prstGeom prst="rect">
            <a:avLst/>
          </a:prstGeom>
          <a:noFill/>
          <a:ln w="0">
            <a:noFill/>
          </a:ln>
        </p:spPr>
        <p:txBody>
          <a:bodyPr wrap="square" lIns="0" tIns="0" rIns="0" bIns="0" anchor="t">
            <a:noAutofit/>
          </a:bodyPr>
          <a:lstStyle/>
          <a:p>
            <a:pPr>
              <a:defRPr sz="1425" b="1">
                <a:solidFill>
                  <a:srgbClr val="62DCCB"/>
                </a:solidFill>
                <a:latin typeface="Nimbus Sans"/>
                <a:ea typeface="Nimbus Sans"/>
                <a:cs typeface="Nimbus Sans"/>
              </a:defRPr>
            </a:pPr>
            <a:r>
              <a:rPr sz="1425" b="1">
                <a:solidFill>
                  <a:srgbClr val="62DCCB"/>
                </a:solidFill>
                <a:latin typeface="Nimbus Sans"/>
                <a:ea typeface="Nimbus Sans"/>
                <a:cs typeface="Nimbus Sans"/>
              </a:rPr>
              <a:t>NAUKA</a:t>
            </a:r>
          </a:p>
        </p:txBody>
      </p:sp>
      <p:sp>
        <p:nvSpPr>
          <p:cNvPr id="8" name="text-7">
            <a:extLst>
              <a:ext uri="{FF2B5EF4-FFF2-40B4-BE49-F238E27FC236}">
                <a16:creationId xmlns:a16="http://schemas.microsoft.com/office/drawing/2014/main" id="{492F4E31-978D-4188-8E98-29DF9FCF9856}"/>
              </a:ext>
            </a:extLst>
          </p:cNvPr>
          <p:cNvSpPr>
            <a:spLocks noGrp="1"/>
          </p:cNvSpPr>
          <p:nvPr/>
        </p:nvSpPr>
        <p:spPr>
          <a:xfrm>
            <a:off x="6115050" y="1362075"/>
            <a:ext cx="5467350" cy="1085850"/>
          </a:xfrm>
          <a:prstGeom prst="rect">
            <a:avLst/>
          </a:prstGeom>
          <a:noFill/>
          <a:ln w="0">
            <a:noFill/>
          </a:ln>
        </p:spPr>
        <p:txBody>
          <a:bodyPr wrap="square" lIns="0" tIns="0" rIns="0" bIns="0" anchor="t">
            <a:noAutofit/>
          </a:bodyPr>
          <a:lstStyle/>
          <a:p>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Doktorat obroniony z wyróżnieniem w 2020 roku. Teoria gier w weryfikacji jakości e-learningu.</a:t>
            </a:r>
          </a:p>
        </p:txBody>
      </p:sp>
      <p:sp>
        <p:nvSpPr>
          <p:cNvPr id="9" name="text-8">
            <a:extLst>
              <a:ext uri="{FF2B5EF4-FFF2-40B4-BE49-F238E27FC236}">
                <a16:creationId xmlns:a16="http://schemas.microsoft.com/office/drawing/2014/main" id="{673461CD-0867-4C69-B4ED-5F69B0727746}"/>
              </a:ext>
            </a:extLst>
          </p:cNvPr>
          <p:cNvSpPr>
            <a:spLocks noGrp="1"/>
          </p:cNvSpPr>
          <p:nvPr/>
        </p:nvSpPr>
        <p:spPr>
          <a:xfrm>
            <a:off x="6115050" y="2657475"/>
            <a:ext cx="5467350" cy="285750"/>
          </a:xfrm>
          <a:prstGeom prst="rect">
            <a:avLst/>
          </a:prstGeom>
          <a:noFill/>
          <a:ln w="0">
            <a:noFill/>
          </a:ln>
        </p:spPr>
        <p:txBody>
          <a:bodyPr wrap="square" lIns="0" tIns="0" rIns="0" bIns="0" anchor="t">
            <a:noAutofit/>
          </a:bodyPr>
          <a:lstStyle/>
          <a:p>
            <a:pPr>
              <a:defRPr sz="1425" b="1">
                <a:solidFill>
                  <a:srgbClr val="62DCCB"/>
                </a:solidFill>
                <a:latin typeface="Nimbus Sans"/>
                <a:ea typeface="Nimbus Sans"/>
                <a:cs typeface="Nimbus Sans"/>
              </a:defRPr>
            </a:pPr>
            <a:r>
              <a:rPr sz="1425" b="1">
                <a:solidFill>
                  <a:srgbClr val="62DCCB"/>
                </a:solidFill>
                <a:latin typeface="Nimbus Sans"/>
                <a:ea typeface="Nimbus Sans"/>
                <a:cs typeface="Nimbus Sans"/>
              </a:rPr>
              <a:t>DYDAKTYKA</a:t>
            </a:r>
          </a:p>
        </p:txBody>
      </p:sp>
      <p:sp>
        <p:nvSpPr>
          <p:cNvPr id="10" name="text-9">
            <a:extLst>
              <a:ext uri="{FF2B5EF4-FFF2-40B4-BE49-F238E27FC236}">
                <a16:creationId xmlns:a16="http://schemas.microsoft.com/office/drawing/2014/main" id="{30EE9F26-674F-4484-AFD1-F2EDA4C7877D}"/>
              </a:ext>
            </a:extLst>
          </p:cNvPr>
          <p:cNvSpPr>
            <a:spLocks noGrp="1"/>
          </p:cNvSpPr>
          <p:nvPr/>
        </p:nvSpPr>
        <p:spPr>
          <a:xfrm>
            <a:off x="6115050" y="3086100"/>
            <a:ext cx="5467350" cy="1085850"/>
          </a:xfrm>
          <a:prstGeom prst="rect">
            <a:avLst/>
          </a:prstGeom>
          <a:noFill/>
          <a:ln w="0">
            <a:noFill/>
          </a:ln>
        </p:spPr>
        <p:txBody>
          <a:bodyPr wrap="square" lIns="0" tIns="0" rIns="0" bIns="0" anchor="t">
            <a:noAutofit/>
          </a:bodyPr>
          <a:lstStyle/>
          <a:p>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Wykładowca i trener Comarch. Kierownik studiów podyplomowych związanych z AI na Uniwersytecie SWPS.</a:t>
            </a:r>
          </a:p>
        </p:txBody>
      </p:sp>
      <p:sp>
        <p:nvSpPr>
          <p:cNvPr id="11" name="text-10">
            <a:extLst>
              <a:ext uri="{FF2B5EF4-FFF2-40B4-BE49-F238E27FC236}">
                <a16:creationId xmlns:a16="http://schemas.microsoft.com/office/drawing/2014/main" id="{A1C9E4FB-6AF2-4872-8A00-9898D61E9D6E}"/>
              </a:ext>
            </a:extLst>
          </p:cNvPr>
          <p:cNvSpPr>
            <a:spLocks noGrp="1"/>
          </p:cNvSpPr>
          <p:nvPr/>
        </p:nvSpPr>
        <p:spPr>
          <a:xfrm>
            <a:off x="6115050" y="4381500"/>
            <a:ext cx="5467350" cy="285750"/>
          </a:xfrm>
          <a:prstGeom prst="rect">
            <a:avLst/>
          </a:prstGeom>
          <a:noFill/>
          <a:ln w="0">
            <a:noFill/>
          </a:ln>
        </p:spPr>
        <p:txBody>
          <a:bodyPr wrap="square" lIns="0" tIns="0" rIns="0" bIns="0" anchor="t">
            <a:noAutofit/>
          </a:bodyPr>
          <a:lstStyle/>
          <a:p>
            <a:pPr>
              <a:defRPr sz="1425" b="1">
                <a:solidFill>
                  <a:srgbClr val="62DCCB"/>
                </a:solidFill>
                <a:latin typeface="Nimbus Sans"/>
                <a:ea typeface="Nimbus Sans"/>
                <a:cs typeface="Nimbus Sans"/>
              </a:defRPr>
            </a:pPr>
            <a:r>
              <a:rPr sz="1425" b="1">
                <a:solidFill>
                  <a:srgbClr val="62DCCB"/>
                </a:solidFill>
                <a:latin typeface="Nimbus Sans"/>
                <a:ea typeface="Nimbus Sans"/>
                <a:cs typeface="Nimbus Sans"/>
              </a:rPr>
              <a:t>PRAKTYKA</a:t>
            </a:r>
          </a:p>
        </p:txBody>
      </p:sp>
      <p:sp>
        <p:nvSpPr>
          <p:cNvPr id="12" name="text-11">
            <a:extLst>
              <a:ext uri="{FF2B5EF4-FFF2-40B4-BE49-F238E27FC236}">
                <a16:creationId xmlns:a16="http://schemas.microsoft.com/office/drawing/2014/main" id="{BFF35AE9-66CF-4571-81AA-894BFA4F6EAC}"/>
              </a:ext>
            </a:extLst>
          </p:cNvPr>
          <p:cNvSpPr>
            <a:spLocks noGrp="1"/>
          </p:cNvSpPr>
          <p:nvPr/>
        </p:nvSpPr>
        <p:spPr>
          <a:xfrm>
            <a:off x="6115050" y="4810125"/>
            <a:ext cx="5467350" cy="1085850"/>
          </a:xfrm>
          <a:prstGeom prst="rect">
            <a:avLst/>
          </a:prstGeom>
          <a:noFill/>
          <a:ln w="0">
            <a:noFill/>
          </a:ln>
        </p:spPr>
        <p:txBody>
          <a:bodyPr wrap="square" lIns="0" tIns="0" rIns="0" bIns="0" anchor="t">
            <a:noAutofit/>
          </a:bodyPr>
          <a:lstStyle/>
          <a:p>
            <a:pPr>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Prezes Synapse X. Badania i rozwój rozwiązań opartych na uczeniu maszynowym i agentach AI.</a:t>
            </a:r>
          </a:p>
        </p:txBody>
      </p:sp>
    </p:spTree>
    <p:extLst>
      <p:ext uri="{BB962C8B-B14F-4D97-AF65-F5344CB8AC3E}">
        <p14:creationId xmlns:p14="http://schemas.microsoft.com/office/powerpoint/2010/main" val="1293731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4" name="text-0">
            <a:extLst>
              <a:ext uri="{FF2B5EF4-FFF2-40B4-BE49-F238E27FC236}">
                <a16:creationId xmlns:a16="http://schemas.microsoft.com/office/drawing/2014/main" id="{119855C3-861F-42D3-94C5-B91DA8A8C716}"/>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WPROWADZENIE</a:t>
            </a:r>
          </a:p>
        </p:txBody>
      </p:sp>
      <p:sp>
        <p:nvSpPr>
          <p:cNvPr id="2" name="text-1">
            <a:extLst>
              <a:ext uri="{FF2B5EF4-FFF2-40B4-BE49-F238E27FC236}">
                <a16:creationId xmlns:a16="http://schemas.microsoft.com/office/drawing/2014/main" id="{207CA756-FD3C-4285-A191-7016E103AED6}"/>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Moja perspektywa na AI</a:t>
            </a:r>
          </a:p>
        </p:txBody>
      </p:sp>
      <p:sp>
        <p:nvSpPr>
          <p:cNvPr id="3" name="text-2">
            <a:extLst>
              <a:ext uri="{FF2B5EF4-FFF2-40B4-BE49-F238E27FC236}">
                <a16:creationId xmlns:a16="http://schemas.microsoft.com/office/drawing/2014/main" id="{A286E9D7-C60D-4A8C-8B5F-F92700CB9F02}"/>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CC8CED32-3A8B-4F11-A9B8-B4D762FFE278}"/>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05</a:t>
            </a:r>
          </a:p>
        </p:txBody>
      </p:sp>
      <p:sp>
        <p:nvSpPr>
          <p:cNvPr id="5" name="text-4">
            <a:extLst>
              <a:ext uri="{FF2B5EF4-FFF2-40B4-BE49-F238E27FC236}">
                <a16:creationId xmlns:a16="http://schemas.microsoft.com/office/drawing/2014/main" id="{CD22C71D-F258-43FB-8684-C855DEEC77B1}"/>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BADANIA</a:t>
            </a:r>
          </a:p>
        </p:txBody>
      </p:sp>
      <p:sp>
        <p:nvSpPr>
          <p:cNvPr id="6" name="text-5">
            <a:extLst>
              <a:ext uri="{FF2B5EF4-FFF2-40B4-BE49-F238E27FC236}">
                <a16:creationId xmlns:a16="http://schemas.microsoft.com/office/drawing/2014/main" id="{4D93A5BA-841B-4EF9-9295-10A89410D0A5}"/>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Uczenie maszynowe i głębokie</a:t>
            </a:r>
          </a:p>
        </p:txBody>
      </p:sp>
      <p:sp>
        <p:nvSpPr>
          <p:cNvPr id="7" name="text-6">
            <a:extLst>
              <a:ext uri="{FF2B5EF4-FFF2-40B4-BE49-F238E27FC236}">
                <a16:creationId xmlns:a16="http://schemas.microsoft.com/office/drawing/2014/main" id="{1959CCD8-4A98-406E-BCC3-A3CF46E347BC}"/>
              </a:ext>
            </a:extLst>
          </p:cNvPr>
          <p:cNvSpPr>
            <a:spLocks noGrp="1"/>
          </p:cNvSpPr>
          <p:nvPr/>
        </p:nvSpPr>
        <p:spPr>
          <a:xfrm>
            <a:off x="609600" y="327069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NLP i wyjaśnialność modeli</a:t>
            </a:r>
          </a:p>
        </p:txBody>
      </p:sp>
      <p:sp>
        <p:nvSpPr>
          <p:cNvPr id="8" name="text-7">
            <a:extLst>
              <a:ext uri="{FF2B5EF4-FFF2-40B4-BE49-F238E27FC236}">
                <a16:creationId xmlns:a16="http://schemas.microsoft.com/office/drawing/2014/main" id="{5D548010-E5B9-4EF7-BFFE-73609718288F}"/>
              </a:ext>
            </a:extLst>
          </p:cNvPr>
          <p:cNvSpPr>
            <a:spLocks noGrp="1"/>
          </p:cNvSpPr>
          <p:nvPr/>
        </p:nvSpPr>
        <p:spPr>
          <a:xfrm>
            <a:off x="609600" y="3864864"/>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Algorytmy ewolucyjne i teoria gier</a:t>
            </a:r>
          </a:p>
        </p:txBody>
      </p:sp>
      <p:sp>
        <p:nvSpPr>
          <p:cNvPr id="9" name="text-8">
            <a:extLst>
              <a:ext uri="{FF2B5EF4-FFF2-40B4-BE49-F238E27FC236}">
                <a16:creationId xmlns:a16="http://schemas.microsoft.com/office/drawing/2014/main" id="{C2892570-C553-4752-97B5-CAF2D6014C10}"/>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WDROŻENIA</a:t>
            </a:r>
          </a:p>
        </p:txBody>
      </p:sp>
      <p:sp>
        <p:nvSpPr>
          <p:cNvPr id="10" name="text-9">
            <a:extLst>
              <a:ext uri="{FF2B5EF4-FFF2-40B4-BE49-F238E27FC236}">
                <a16:creationId xmlns:a16="http://schemas.microsoft.com/office/drawing/2014/main" id="{2016ADB6-7AA8-4817-AB5A-B02BA2DDB536}"/>
              </a:ext>
            </a:extLst>
          </p:cNvPr>
          <p:cNvSpPr>
            <a:spLocks noGrp="1"/>
          </p:cNvSpPr>
          <p:nvPr/>
        </p:nvSpPr>
        <p:spPr>
          <a:xfrm>
            <a:off x="6515100" y="267652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Agenci LLM i systemy RAG</a:t>
            </a:r>
          </a:p>
        </p:txBody>
      </p:sp>
      <p:sp>
        <p:nvSpPr>
          <p:cNvPr id="11" name="text-10">
            <a:extLst>
              <a:ext uri="{FF2B5EF4-FFF2-40B4-BE49-F238E27FC236}">
                <a16:creationId xmlns:a16="http://schemas.microsoft.com/office/drawing/2014/main" id="{73EADBEE-71E8-4C01-9AC9-7764D6A3BD28}"/>
              </a:ext>
            </a:extLst>
          </p:cNvPr>
          <p:cNvSpPr>
            <a:spLocks noGrp="1"/>
          </p:cNvSpPr>
          <p:nvPr/>
        </p:nvSpPr>
        <p:spPr>
          <a:xfrm>
            <a:off x="6515100" y="327069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MLOps oraz orkiestracja rozwiązań</a:t>
            </a:r>
          </a:p>
        </p:txBody>
      </p:sp>
      <p:sp>
        <p:nvSpPr>
          <p:cNvPr id="12" name="text-11">
            <a:extLst>
              <a:ext uri="{FF2B5EF4-FFF2-40B4-BE49-F238E27FC236}">
                <a16:creationId xmlns:a16="http://schemas.microsoft.com/office/drawing/2014/main" id="{AE5E8D05-C6EB-4275-9BF1-5FC68156D6A8}"/>
              </a:ext>
            </a:extLst>
          </p:cNvPr>
          <p:cNvSpPr>
            <a:spLocks noGrp="1"/>
          </p:cNvSpPr>
          <p:nvPr/>
        </p:nvSpPr>
        <p:spPr>
          <a:xfrm>
            <a:off x="6515100" y="3864864"/>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Python, scikit-learn, TensorFlow</a:t>
            </a:r>
          </a:p>
        </p:txBody>
      </p:sp>
      <p:sp>
        <p:nvSpPr>
          <p:cNvPr id="13" name="text-12">
            <a:extLst>
              <a:ext uri="{FF2B5EF4-FFF2-40B4-BE49-F238E27FC236}">
                <a16:creationId xmlns:a16="http://schemas.microsoft.com/office/drawing/2014/main" id="{0ABE4FC0-6B23-4DAE-A60E-16C4C67D5350}"/>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Na szkoleniu łączymy intuicję algorytmu z kodem i krytyczną oceną wyniku.</a:t>
            </a:r>
          </a:p>
        </p:txBody>
      </p:sp>
    </p:spTree>
    <p:extLst>
      <p:ext uri="{BB962C8B-B14F-4D97-AF65-F5344CB8AC3E}">
        <p14:creationId xmlns:p14="http://schemas.microsoft.com/office/powerpoint/2010/main" val="1658528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7" name="text-0">
            <a:extLst>
              <a:ext uri="{FF2B5EF4-FFF2-40B4-BE49-F238E27FC236}">
                <a16:creationId xmlns:a16="http://schemas.microsoft.com/office/drawing/2014/main" id="{D739DD5D-9B2D-41DB-B8EB-2ACE0EFA886D}"/>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WPROWADZENIE</a:t>
            </a:r>
          </a:p>
        </p:txBody>
      </p:sp>
      <p:sp>
        <p:nvSpPr>
          <p:cNvPr id="2" name="text-1">
            <a:extLst>
              <a:ext uri="{FF2B5EF4-FFF2-40B4-BE49-F238E27FC236}">
                <a16:creationId xmlns:a16="http://schemas.microsoft.com/office/drawing/2014/main" id="{DC0B8AD4-3051-4B95-8793-318EF8AAC14D}"/>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Efekty pracy uczestnika</a:t>
            </a:r>
          </a:p>
        </p:txBody>
      </p:sp>
      <p:sp>
        <p:nvSpPr>
          <p:cNvPr id="3" name="text-2">
            <a:extLst>
              <a:ext uri="{FF2B5EF4-FFF2-40B4-BE49-F238E27FC236}">
                <a16:creationId xmlns:a16="http://schemas.microsoft.com/office/drawing/2014/main" id="{B5BEB104-0B3F-4C55-AB0A-675BA58C62DF}"/>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F69339BA-5540-4727-9B76-BF4EC243F5FB}"/>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06</a:t>
            </a:r>
          </a:p>
        </p:txBody>
      </p:sp>
      <p:sp>
        <p:nvSpPr>
          <p:cNvPr id="5" name="text-4">
            <a:extLst>
              <a:ext uri="{FF2B5EF4-FFF2-40B4-BE49-F238E27FC236}">
                <a16:creationId xmlns:a16="http://schemas.microsoft.com/office/drawing/2014/main" id="{0615C732-7DCE-4356-9CD0-209404EB5A90}"/>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E6E85FAE-229A-47D6-8260-AD76F8BD9AD8}"/>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Dobór modelu</a:t>
            </a:r>
          </a:p>
        </p:txBody>
      </p:sp>
      <p:sp>
        <p:nvSpPr>
          <p:cNvPr id="7" name="text-6">
            <a:extLst>
              <a:ext uri="{FF2B5EF4-FFF2-40B4-BE49-F238E27FC236}">
                <a16:creationId xmlns:a16="http://schemas.microsoft.com/office/drawing/2014/main" id="{118233C2-EDD4-42C3-B089-1117661C520B}"/>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Wybierzesz rodzinę algorytmów do zadania i danych.</a:t>
            </a:r>
          </a:p>
        </p:txBody>
      </p:sp>
      <p:sp>
        <p:nvSpPr>
          <p:cNvPr id="8" name="text-7">
            <a:extLst>
              <a:ext uri="{FF2B5EF4-FFF2-40B4-BE49-F238E27FC236}">
                <a16:creationId xmlns:a16="http://schemas.microsoft.com/office/drawing/2014/main" id="{8F28AE6E-0E8D-48BA-8A6B-BCBFDBCA6685}"/>
              </a:ext>
            </a:extLst>
          </p:cNvPr>
          <p:cNvSpPr>
            <a:spLocks noGrp="1"/>
          </p:cNvSpPr>
          <p:nvPr/>
        </p:nvSpPr>
        <p:spPr>
          <a:xfrm>
            <a:off x="609600" y="29432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79193F36-6263-4C31-925F-86AA44DC6F45}"/>
              </a:ext>
            </a:extLst>
          </p:cNvPr>
          <p:cNvSpPr>
            <a:spLocks noGrp="1"/>
          </p:cNvSpPr>
          <p:nvPr/>
        </p:nvSpPr>
        <p:spPr>
          <a:xfrm>
            <a:off x="1562100" y="29432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Rzetelny eksperyment</a:t>
            </a:r>
          </a:p>
        </p:txBody>
      </p:sp>
      <p:sp>
        <p:nvSpPr>
          <p:cNvPr id="10" name="text-9">
            <a:extLst>
              <a:ext uri="{FF2B5EF4-FFF2-40B4-BE49-F238E27FC236}">
                <a16:creationId xmlns:a16="http://schemas.microsoft.com/office/drawing/2014/main" id="{9963334C-F778-4633-ACF3-7C371261E510}"/>
              </a:ext>
            </a:extLst>
          </p:cNvPr>
          <p:cNvSpPr>
            <a:spLocks noGrp="1"/>
          </p:cNvSpPr>
          <p:nvPr/>
        </p:nvSpPr>
        <p:spPr>
          <a:xfrm>
            <a:off x="1562100" y="33147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Zbudujesz pipeline, porównasz wyniki i rozpoznasz wyciek danych.</a:t>
            </a:r>
          </a:p>
        </p:txBody>
      </p:sp>
      <p:sp>
        <p:nvSpPr>
          <p:cNvPr id="11" name="text-10">
            <a:extLst>
              <a:ext uri="{FF2B5EF4-FFF2-40B4-BE49-F238E27FC236}">
                <a16:creationId xmlns:a16="http://schemas.microsoft.com/office/drawing/2014/main" id="{4811C16E-698A-4475-ACB5-A2D63699D049}"/>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2F2D31C3-61FA-46CE-8AC7-F49AB1AD5F47}"/>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Optymalizacja i reguły</a:t>
            </a:r>
          </a:p>
        </p:txBody>
      </p:sp>
      <p:sp>
        <p:nvSpPr>
          <p:cNvPr id="13" name="text-12">
            <a:extLst>
              <a:ext uri="{FF2B5EF4-FFF2-40B4-BE49-F238E27FC236}">
                <a16:creationId xmlns:a16="http://schemas.microsoft.com/office/drawing/2014/main" id="{B0276EBC-F38E-4DC7-AAD4-063DF1B2476E}"/>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Zaprojektujesz prosty algorytm genetyczny i system rozmyty.</a:t>
            </a:r>
          </a:p>
        </p:txBody>
      </p:sp>
      <p:sp>
        <p:nvSpPr>
          <p:cNvPr id="14" name="text-13">
            <a:extLst>
              <a:ext uri="{FF2B5EF4-FFF2-40B4-BE49-F238E27FC236}">
                <a16:creationId xmlns:a16="http://schemas.microsoft.com/office/drawing/2014/main" id="{F84AB857-A4C1-436F-9618-66E44C6C214F}"/>
              </a:ext>
            </a:extLst>
          </p:cNvPr>
          <p:cNvSpPr>
            <a:spLocks noGrp="1"/>
          </p:cNvSpPr>
          <p:nvPr/>
        </p:nvSpPr>
        <p:spPr>
          <a:xfrm>
            <a:off x="609600" y="50006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531C84E3-DAE5-4E8E-A684-C890E57DA4E7}"/>
              </a:ext>
            </a:extLst>
          </p:cNvPr>
          <p:cNvSpPr>
            <a:spLocks noGrp="1"/>
          </p:cNvSpPr>
          <p:nvPr/>
        </p:nvSpPr>
        <p:spPr>
          <a:xfrm>
            <a:off x="1562100" y="50006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Sieć neuronowa</a:t>
            </a:r>
          </a:p>
        </p:txBody>
      </p:sp>
      <p:sp>
        <p:nvSpPr>
          <p:cNvPr id="16" name="text-15">
            <a:extLst>
              <a:ext uri="{FF2B5EF4-FFF2-40B4-BE49-F238E27FC236}">
                <a16:creationId xmlns:a16="http://schemas.microsoft.com/office/drawing/2014/main" id="{5F17BF60-39D3-45F3-970F-723368AEBB22}"/>
              </a:ext>
            </a:extLst>
          </p:cNvPr>
          <p:cNvSpPr>
            <a:spLocks noGrp="1"/>
          </p:cNvSpPr>
          <p:nvPr/>
        </p:nvSpPr>
        <p:spPr>
          <a:xfrm>
            <a:off x="1562100" y="53721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Wytrenujesz MLP i zinterpretujesz przebieg uczenia.</a:t>
            </a:r>
          </a:p>
        </p:txBody>
      </p:sp>
    </p:spTree>
    <p:extLst>
      <p:ext uri="{BB962C8B-B14F-4D97-AF65-F5344CB8AC3E}">
        <p14:creationId xmlns:p14="http://schemas.microsoft.com/office/powerpoint/2010/main" val="1956220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4C8B334B-86A7-42C5-9997-6B12D9DE41A1}"/>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CDE53469-CC43-47BC-A6E6-FFEE8B14F0EC}"/>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07</a:t>
            </a:r>
          </a:p>
        </p:txBody>
      </p:sp>
      <p:sp>
        <p:nvSpPr>
          <p:cNvPr id="3" name="text-2">
            <a:extLst>
              <a:ext uri="{FF2B5EF4-FFF2-40B4-BE49-F238E27FC236}">
                <a16:creationId xmlns:a16="http://schemas.microsoft.com/office/drawing/2014/main" id="{53A29EAF-4D56-4B79-BAD2-9CDE154E7ADC}"/>
              </a:ext>
            </a:extLst>
          </p:cNvPr>
          <p:cNvSpPr>
            <a:spLocks noGrp="1"/>
          </p:cNvSpPr>
          <p:nvPr/>
        </p:nvSpPr>
        <p:spPr>
          <a:xfrm>
            <a:off x="609600" y="352425"/>
            <a:ext cx="10972800" cy="238125"/>
          </a:xfrm>
          <a:prstGeom prst="rect">
            <a:avLst/>
          </a:prstGeom>
          <a:noFill/>
          <a:ln w="0">
            <a:noFill/>
          </a:ln>
        </p:spPr>
        <p:txBody>
          <a:bodyPr wrap="square" lIns="0" tIns="0" rIns="0" bIns="0" anchor="t">
            <a:noAutofit/>
          </a:bodyPr>
          <a:lstStyle/>
          <a:p>
            <a:pPr>
              <a:defRPr sz="1125" b="1">
                <a:solidFill>
                  <a:srgbClr val="62DCCB"/>
                </a:solidFill>
                <a:latin typeface="Nimbus Sans"/>
                <a:ea typeface="Nimbus Sans"/>
                <a:cs typeface="Nimbus Sans"/>
              </a:defRPr>
            </a:pPr>
            <a:r>
              <a:rPr sz="1125" b="1">
                <a:solidFill>
                  <a:srgbClr val="62DCCB"/>
                </a:solidFill>
                <a:latin typeface="Nimbus Sans"/>
                <a:ea typeface="Nimbus Sans"/>
                <a:cs typeface="Nimbus Sans"/>
              </a:rPr>
              <a:t>PYTHON  /  WPROWADZENIE</a:t>
            </a:r>
          </a:p>
        </p:txBody>
      </p:sp>
      <p:sp>
        <p:nvSpPr>
          <p:cNvPr id="4" name="text-3">
            <a:extLst>
              <a:ext uri="{FF2B5EF4-FFF2-40B4-BE49-F238E27FC236}">
                <a16:creationId xmlns:a16="http://schemas.microsoft.com/office/drawing/2014/main" id="{36B49853-9F06-4A33-AB47-DC4B6F857144}"/>
              </a:ext>
            </a:extLst>
          </p:cNvPr>
          <p:cNvSpPr>
            <a:spLocks noGrp="1"/>
          </p:cNvSpPr>
          <p:nvPr/>
        </p:nvSpPr>
        <p:spPr>
          <a:xfrm>
            <a:off x="609600" y="828675"/>
            <a:ext cx="10972800" cy="1047750"/>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Środowisko warsztatowe</a:t>
            </a:r>
          </a:p>
        </p:txBody>
      </p:sp>
      <p:sp>
        <p:nvSpPr>
          <p:cNvPr id="5" name="text-4">
            <a:extLst>
              <a:ext uri="{FF2B5EF4-FFF2-40B4-BE49-F238E27FC236}">
                <a16:creationId xmlns:a16="http://schemas.microsoft.com/office/drawing/2014/main" id="{229EF6B5-E199-45DF-AAB8-B095D833E95E}"/>
              </a:ext>
            </a:extLst>
          </p:cNvPr>
          <p:cNvSpPr>
            <a:spLocks noGrp="1"/>
          </p:cNvSpPr>
          <p:nvPr/>
        </p:nvSpPr>
        <p:spPr>
          <a:xfrm>
            <a:off x="609600" y="2095500"/>
            <a:ext cx="7839075" cy="3838575"/>
          </a:xfrm>
          <a:prstGeom prst="rect">
            <a:avLst/>
          </a:prstGeom>
          <a:noFill/>
          <a:ln w="0">
            <a:noFill/>
          </a:ln>
        </p:spPr>
        <p:txBody>
          <a:bodyPr wrap="square" lIns="0" tIns="0" rIns="0" bIns="0" anchor="t">
            <a:noAutofit/>
          </a:bodyPr>
          <a:lstStyle/>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python -m venv .venv</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Aktywuj środowisko w swoim systemie</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pip install numpy pandas scipy</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pip install scikit-learn matplotlib jupyter</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pip install scikit-fuzzy networkx</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python -m jupyter notebook</a:t>
            </a:r>
          </a:p>
        </p:txBody>
      </p:sp>
      <p:sp>
        <p:nvSpPr>
          <p:cNvPr id="6" name="text-5">
            <a:extLst>
              <a:ext uri="{FF2B5EF4-FFF2-40B4-BE49-F238E27FC236}">
                <a16:creationId xmlns:a16="http://schemas.microsoft.com/office/drawing/2014/main" id="{6798F2E4-C8C6-4953-ADBF-E0512DD5FEC0}"/>
              </a:ext>
            </a:extLst>
          </p:cNvPr>
          <p:cNvSpPr>
            <a:spLocks noGrp="1"/>
          </p:cNvSpPr>
          <p:nvPr/>
        </p:nvSpPr>
        <p:spPr>
          <a:xfrm>
            <a:off x="8924925" y="2057400"/>
            <a:ext cx="2657475" cy="495300"/>
          </a:xfrm>
          <a:prstGeom prst="rect">
            <a:avLst/>
          </a:prstGeom>
          <a:noFill/>
          <a:ln w="0">
            <a:noFill/>
          </a:ln>
        </p:spPr>
        <p:txBody>
          <a:bodyPr wrap="square" lIns="0" tIns="0" rIns="0" bIns="0" anchor="t">
            <a:noAutofit/>
          </a:bodyPr>
          <a:lstStyle/>
          <a:p>
            <a:pPr>
              <a:defRPr sz="1575" b="1">
                <a:solidFill>
                  <a:srgbClr val="62DCCB"/>
                </a:solidFill>
                <a:latin typeface="Nimbus Sans"/>
                <a:ea typeface="Nimbus Sans"/>
                <a:cs typeface="Nimbus Sans"/>
              </a:defRPr>
            </a:pPr>
            <a:r>
              <a:rPr sz="1575" b="1">
                <a:solidFill>
                  <a:srgbClr val="62DCCB"/>
                </a:solidFill>
                <a:latin typeface="Nimbus Sans"/>
                <a:ea typeface="Nimbus Sans"/>
                <a:cs typeface="Nimbus Sans"/>
              </a:rPr>
              <a:t>Python i Jupyter</a:t>
            </a:r>
          </a:p>
        </p:txBody>
      </p:sp>
      <p:sp>
        <p:nvSpPr>
          <p:cNvPr id="7" name="text-6">
            <a:extLst>
              <a:ext uri="{FF2B5EF4-FFF2-40B4-BE49-F238E27FC236}">
                <a16:creationId xmlns:a16="http://schemas.microsoft.com/office/drawing/2014/main" id="{46F080D7-0FE1-4859-8A59-466AFABE79D8}"/>
              </a:ext>
            </a:extLst>
          </p:cNvPr>
          <p:cNvSpPr>
            <a:spLocks noGrp="1"/>
          </p:cNvSpPr>
          <p:nvPr/>
        </p:nvSpPr>
        <p:spPr>
          <a:xfrm>
            <a:off x="8924925" y="2657475"/>
            <a:ext cx="2657475" cy="1596390"/>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Przykłady korzystają z danych syntetycznych oraz zbiorów wbudowanych w scikit-learn.</a:t>
            </a:r>
          </a:p>
        </p:txBody>
      </p:sp>
      <p:sp>
        <p:nvSpPr>
          <p:cNvPr id="8" name="text-7">
            <a:extLst>
              <a:ext uri="{FF2B5EF4-FFF2-40B4-BE49-F238E27FC236}">
                <a16:creationId xmlns:a16="http://schemas.microsoft.com/office/drawing/2014/main" id="{29305822-FF6E-4AE4-97FA-FD39DB60E284}"/>
              </a:ext>
            </a:extLst>
          </p:cNvPr>
          <p:cNvSpPr>
            <a:spLocks noGrp="1"/>
          </p:cNvSpPr>
          <p:nvPr/>
        </p:nvSpPr>
        <p:spPr>
          <a:xfrm>
            <a:off x="8924925" y="4425315"/>
            <a:ext cx="2657475" cy="992124"/>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Stałe ziarno losowe: 42. Zapisujemy wersje bibliotek.</a:t>
            </a:r>
          </a:p>
        </p:txBody>
      </p:sp>
    </p:spTree>
    <p:extLst>
      <p:ext uri="{BB962C8B-B14F-4D97-AF65-F5344CB8AC3E}">
        <p14:creationId xmlns:p14="http://schemas.microsoft.com/office/powerpoint/2010/main" val="1172373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pic>
        <p:nvPicPr>
          <p:cNvPr id="7" name="Obraz 6"/>
          <p:cNvPicPr>
            <a:picLocks noChangeAspect="1"/>
          </p:cNvPicPr>
          <p:nvPr/>
        </p:nvPicPr>
        <p:blipFill>
          <a:blip r:embed="rId3"/>
          <a:srcRect t="27" b="27"/>
          <a:stretch>
            <a:fillRect/>
          </a:stretch>
        </p:blipFill>
        <p:spPr>
          <a:xfrm>
            <a:off x="0" y="0"/>
            <a:ext cx="12192000" cy="6858000"/>
          </a:xfrm>
          <a:prstGeom prst="rect">
            <a:avLst/>
          </a:prstGeom>
        </p:spPr>
      </p:pic>
      <p:sp>
        <p:nvSpPr>
          <p:cNvPr id="2" name="text-0">
            <a:extLst>
              <a:ext uri="{FF2B5EF4-FFF2-40B4-BE49-F238E27FC236}">
                <a16:creationId xmlns:a16="http://schemas.microsoft.com/office/drawing/2014/main" id="{7AE09423-7434-42B5-B361-7BAE4528CD89}"/>
              </a:ext>
            </a:extLst>
          </p:cNvPr>
          <p:cNvSpPr>
            <a:spLocks noGrp="1"/>
          </p:cNvSpPr>
          <p:nvPr/>
        </p:nvSpPr>
        <p:spPr>
          <a:xfrm>
            <a:off x="581025" y="504825"/>
            <a:ext cx="2857500" cy="1428750"/>
          </a:xfrm>
          <a:prstGeom prst="rect">
            <a:avLst/>
          </a:prstGeom>
          <a:noFill/>
          <a:ln w="0">
            <a:noFill/>
          </a:ln>
        </p:spPr>
        <p:txBody>
          <a:bodyPr wrap="square" lIns="0" tIns="0" rIns="0" bIns="0" anchor="t">
            <a:noAutofit/>
          </a:bodyPr>
          <a:lstStyle/>
          <a:p>
            <a:pPr>
              <a:defRPr sz="9300" b="1">
                <a:solidFill>
                  <a:srgbClr val="62DCCB"/>
                </a:solidFill>
                <a:latin typeface="Nimbus Sans"/>
                <a:ea typeface="Nimbus Sans"/>
                <a:cs typeface="Nimbus Sans"/>
              </a:defRPr>
            </a:pPr>
            <a:r>
              <a:rPr sz="9300" b="1">
                <a:solidFill>
                  <a:srgbClr val="62DCCB"/>
                </a:solidFill>
                <a:latin typeface="Nimbus Sans"/>
                <a:ea typeface="Nimbus Sans"/>
                <a:cs typeface="Nimbus Sans"/>
              </a:rPr>
              <a:t>01</a:t>
            </a:r>
          </a:p>
        </p:txBody>
      </p:sp>
      <p:sp>
        <p:nvSpPr>
          <p:cNvPr id="3" name="text-1">
            <a:extLst>
              <a:ext uri="{FF2B5EF4-FFF2-40B4-BE49-F238E27FC236}">
                <a16:creationId xmlns:a16="http://schemas.microsoft.com/office/drawing/2014/main" id="{E853FD7B-8F7C-4B50-A962-CA9627B752F8}"/>
              </a:ext>
            </a:extLst>
          </p:cNvPr>
          <p:cNvSpPr>
            <a:spLocks noGrp="1"/>
          </p:cNvSpPr>
          <p:nvPr/>
        </p:nvSpPr>
        <p:spPr>
          <a:xfrm>
            <a:off x="609600" y="2219325"/>
            <a:ext cx="8858250" cy="1885950"/>
          </a:xfrm>
          <a:prstGeom prst="rect">
            <a:avLst/>
          </a:prstGeom>
          <a:noFill/>
          <a:ln w="0">
            <a:noFill/>
          </a:ln>
        </p:spPr>
        <p:txBody>
          <a:bodyPr wrap="square" lIns="0" tIns="0" rIns="0" bIns="0" anchor="t">
            <a:noAutofit/>
          </a:bodyPr>
          <a:lstStyle/>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Algorytmy</a:t>
            </a:r>
          </a:p>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uczenia maszynowego</a:t>
            </a:r>
          </a:p>
        </p:txBody>
      </p:sp>
      <p:sp>
        <p:nvSpPr>
          <p:cNvPr id="4" name="text-2">
            <a:extLst>
              <a:ext uri="{FF2B5EF4-FFF2-40B4-BE49-F238E27FC236}">
                <a16:creationId xmlns:a16="http://schemas.microsoft.com/office/drawing/2014/main" id="{6776820B-2AF2-438B-9DB0-DF2D3F29C3B5}"/>
              </a:ext>
            </a:extLst>
          </p:cNvPr>
          <p:cNvSpPr>
            <a:spLocks noGrp="1"/>
          </p:cNvSpPr>
          <p:nvPr/>
        </p:nvSpPr>
        <p:spPr>
          <a:xfrm>
            <a:off x="638175" y="4314825"/>
            <a:ext cx="5048250" cy="1047750"/>
          </a:xfrm>
          <a:prstGeom prst="rect">
            <a:avLst/>
          </a:prstGeom>
          <a:noFill/>
          <a:ln w="0">
            <a:noFill/>
          </a:ln>
        </p:spPr>
        <p:txBody>
          <a:bodyPr wrap="square" lIns="0" tIns="0" rIns="0" bIns="0" anchor="t">
            <a:noAutofit/>
          </a:bodyPr>
          <a:lstStyle/>
          <a:p>
            <a:pPr>
              <a:defRPr sz="2100" b="0">
                <a:solidFill>
                  <a:srgbClr val="D7E3E8"/>
                </a:solidFill>
                <a:latin typeface="Nimbus Sans"/>
                <a:ea typeface="Nimbus Sans"/>
                <a:cs typeface="Nimbus Sans"/>
              </a:defRPr>
            </a:pPr>
            <a:r>
              <a:rPr sz="2100" b="0">
                <a:solidFill>
                  <a:srgbClr val="D7E3E8"/>
                </a:solidFill>
                <a:latin typeface="Nimbus Sans"/>
                <a:ea typeface="Nimbus Sans"/>
                <a:cs typeface="Nimbus Sans"/>
              </a:rPr>
              <a:t>Modele nadzorowane, klasteryzacja i zespoły drzew</a:t>
            </a:r>
          </a:p>
        </p:txBody>
      </p:sp>
      <p:sp>
        <p:nvSpPr>
          <p:cNvPr id="5" name="text-3">
            <a:extLst>
              <a:ext uri="{FF2B5EF4-FFF2-40B4-BE49-F238E27FC236}">
                <a16:creationId xmlns:a16="http://schemas.microsoft.com/office/drawing/2014/main" id="{7C77C29A-A930-4898-964D-9B46CA45B730}"/>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6" name="text-4">
            <a:extLst>
              <a:ext uri="{FF2B5EF4-FFF2-40B4-BE49-F238E27FC236}">
                <a16:creationId xmlns:a16="http://schemas.microsoft.com/office/drawing/2014/main" id="{86819312-53B7-4DB4-ACAD-121FAEDCE62B}"/>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08</a:t>
            </a:r>
          </a:p>
        </p:txBody>
      </p:sp>
    </p:spTree>
    <p:extLst>
      <p:ext uri="{BB962C8B-B14F-4D97-AF65-F5344CB8AC3E}">
        <p14:creationId xmlns:p14="http://schemas.microsoft.com/office/powerpoint/2010/main" val="1686961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185484C6-AB76-472D-A638-D976BA9D8961}"/>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6BBF1338-A210-4330-99C0-B5A127F3527E}"/>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Rodzaj zadania a wynik modelu</a:t>
            </a:r>
          </a:p>
        </p:txBody>
      </p:sp>
      <p:sp>
        <p:nvSpPr>
          <p:cNvPr id="3" name="text-2">
            <a:extLst>
              <a:ext uri="{FF2B5EF4-FFF2-40B4-BE49-F238E27FC236}">
                <a16:creationId xmlns:a16="http://schemas.microsoft.com/office/drawing/2014/main" id="{079D0D44-136A-4D0D-B600-2A4FD1CC59FF}"/>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B7DD034E-7FFE-419C-8556-AD7508BD86BB}"/>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09</a:t>
            </a:r>
          </a:p>
        </p:txBody>
      </p:sp>
      <p:graphicFrame>
        <p:nvGraphicFramePr>
          <p:cNvPr id="10" name="Tabela 9"/>
          <p:cNvGraphicFramePr/>
          <p:nvPr/>
        </p:nvGraphicFramePr>
        <p:xfrm>
          <a:off x="609600" y="1971675"/>
          <a:ext cx="10972800"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85800">
                <a:tc>
                  <a:txBody>
                    <a:bodyPr/>
                    <a:lstStyle/>
                    <a:p>
                      <a:r>
                        <a:rPr sz="1725" b="1">
                          <a:solidFill>
                            <a:srgbClr val="FFFFFF"/>
                          </a:solidFill>
                          <a:latin typeface="Nimbus Sans"/>
                          <a:ea typeface="Nimbus Sans"/>
                          <a:cs typeface="Nimbus Sans"/>
                        </a:rPr>
                        <a:t>Zadanie</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Oczekiwany wynik</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Przykładowa metoda</a:t>
                      </a:r>
                    </a:p>
                  </a:txBody>
                  <a:tcPr marL="133350" marR="114300" marT="123825" marB="104775" anchor="ctr">
                    <a:solidFill>
                      <a:srgbClr val="0B1426"/>
                    </a:solidFill>
                  </a:tcPr>
                </a:tc>
                <a:extLst>
                  <a:ext uri="{0D108BD9-81ED-4DB2-BD59-A6C34878D82A}">
                    <a16:rowId xmlns:a16="http://schemas.microsoft.com/office/drawing/2014/main" val="10000"/>
                  </a:ext>
                </a:extLst>
              </a:tr>
              <a:tr h="685800">
                <a:tc>
                  <a:txBody>
                    <a:bodyPr/>
                    <a:lstStyle/>
                    <a:p>
                      <a:r>
                        <a:rPr sz="1875" b="1">
                          <a:solidFill>
                            <a:srgbClr val="17243A"/>
                          </a:solidFill>
                          <a:latin typeface="Nimbus Sans"/>
                          <a:ea typeface="Nimbus Sans"/>
                          <a:cs typeface="Nimbus Sans"/>
                        </a:rPr>
                        <a:t>Regresja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Wartość liczbowa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Ridge, SVR</a:t>
                      </a:r>
                    </a:p>
                  </a:txBody>
                  <a:tcPr marL="133350" marR="114300" marT="123825" marB="104775" anchor="ctr">
                    <a:solidFill>
                      <a:srgbClr val="FFFFFF"/>
                    </a:solidFill>
                  </a:tcPr>
                </a:tc>
                <a:extLst>
                  <a:ext uri="{0D108BD9-81ED-4DB2-BD59-A6C34878D82A}">
                    <a16:rowId xmlns:a16="http://schemas.microsoft.com/office/drawing/2014/main" val="10001"/>
                  </a:ext>
                </a:extLst>
              </a:tr>
              <a:tr h="685800">
                <a:tc>
                  <a:txBody>
                    <a:bodyPr/>
                    <a:lstStyle/>
                    <a:p>
                      <a:r>
                        <a:rPr sz="1875" b="1">
                          <a:solidFill>
                            <a:srgbClr val="17243A"/>
                          </a:solidFill>
                          <a:latin typeface="Nimbus Sans"/>
                          <a:ea typeface="Nimbus Sans"/>
                          <a:cs typeface="Nimbus Sans"/>
                        </a:rPr>
                        <a:t>Klasyfikacja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Klasa lub jej prawdopodobieństwo</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Regresja logistyczna, SVC</a:t>
                      </a:r>
                    </a:p>
                  </a:txBody>
                  <a:tcPr marL="133350" marR="114300" marT="123825" marB="104775" anchor="ctr">
                    <a:solidFill>
                      <a:srgbClr val="E9EFED"/>
                    </a:solidFill>
                  </a:tcPr>
                </a:tc>
                <a:extLst>
                  <a:ext uri="{0D108BD9-81ED-4DB2-BD59-A6C34878D82A}">
                    <a16:rowId xmlns:a16="http://schemas.microsoft.com/office/drawing/2014/main" val="10002"/>
                  </a:ext>
                </a:extLst>
              </a:tr>
              <a:tr h="685800">
                <a:tc>
                  <a:txBody>
                    <a:bodyPr/>
                    <a:lstStyle/>
                    <a:p>
                      <a:r>
                        <a:rPr sz="1875" b="1">
                          <a:solidFill>
                            <a:srgbClr val="17243A"/>
                          </a:solidFill>
                          <a:latin typeface="Nimbus Sans"/>
                          <a:ea typeface="Nimbus Sans"/>
                          <a:cs typeface="Nimbus Sans"/>
                        </a:rPr>
                        <a:t>Klasteryzacja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Grupa podobnych obserwacji</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k-means, DBSCAN</a:t>
                      </a:r>
                    </a:p>
                  </a:txBody>
                  <a:tcPr marL="133350" marR="114300" marT="123825" marB="104775" anchor="ctr">
                    <a:solidFill>
                      <a:srgbClr val="FFFFFF"/>
                    </a:solidFill>
                  </a:tcPr>
                </a:tc>
                <a:extLst>
                  <a:ext uri="{0D108BD9-81ED-4DB2-BD59-A6C34878D82A}">
                    <a16:rowId xmlns:a16="http://schemas.microsoft.com/office/drawing/2014/main" val="10003"/>
                  </a:ext>
                </a:extLst>
              </a:tr>
              <a:tr h="685800">
                <a:tc>
                  <a:txBody>
                    <a:bodyPr/>
                    <a:lstStyle/>
                    <a:p>
                      <a:r>
                        <a:rPr sz="1875" b="1">
                          <a:solidFill>
                            <a:srgbClr val="17243A"/>
                          </a:solidFill>
                          <a:latin typeface="Nimbus Sans"/>
                          <a:ea typeface="Nimbus Sans"/>
                          <a:cs typeface="Nimbus Sans"/>
                        </a:rPr>
                        <a:t>Optymalizacja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Najlepsza dopuszczalna konfiguracja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Algorytm genetyczny</a:t>
                      </a:r>
                    </a:p>
                  </a:txBody>
                  <a:tcPr marL="133350" marR="114300" marT="123825" marB="104775" anchor="ctr">
                    <a:solidFill>
                      <a:srgbClr val="E9EFE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18202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4" name="text-0">
            <a:extLst>
              <a:ext uri="{FF2B5EF4-FFF2-40B4-BE49-F238E27FC236}">
                <a16:creationId xmlns:a16="http://schemas.microsoft.com/office/drawing/2014/main" id="{1872017E-0AA0-4473-B88E-447B17C49FE8}"/>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5759D515-342A-457A-8D94-A8F4948C531A}"/>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Podział danych przed uczeniem</a:t>
            </a:r>
          </a:p>
        </p:txBody>
      </p:sp>
      <p:sp>
        <p:nvSpPr>
          <p:cNvPr id="3" name="text-2">
            <a:extLst>
              <a:ext uri="{FF2B5EF4-FFF2-40B4-BE49-F238E27FC236}">
                <a16:creationId xmlns:a16="http://schemas.microsoft.com/office/drawing/2014/main" id="{54EE6BD7-699F-4D3D-87FF-144ACD0B019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67F0A845-4E9B-4DA6-A178-B48561245350}"/>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10</a:t>
            </a:r>
          </a:p>
        </p:txBody>
      </p:sp>
      <p:sp>
        <p:nvSpPr>
          <p:cNvPr id="5" name="text-4">
            <a:extLst>
              <a:ext uri="{FF2B5EF4-FFF2-40B4-BE49-F238E27FC236}">
                <a16:creationId xmlns:a16="http://schemas.microsoft.com/office/drawing/2014/main" id="{4B777FFB-BBA4-4BAD-859D-2B200F7C89B6}"/>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DANE TRENINGOWE</a:t>
            </a:r>
          </a:p>
        </p:txBody>
      </p:sp>
      <p:sp>
        <p:nvSpPr>
          <p:cNvPr id="6" name="text-5">
            <a:extLst>
              <a:ext uri="{FF2B5EF4-FFF2-40B4-BE49-F238E27FC236}">
                <a16:creationId xmlns:a16="http://schemas.microsoft.com/office/drawing/2014/main" id="{0DD5CA27-F8AD-4087-8676-BC4E861BE7C8}"/>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Dopasowanie parametrów modelu</a:t>
            </a:r>
          </a:p>
        </p:txBody>
      </p:sp>
      <p:sp>
        <p:nvSpPr>
          <p:cNvPr id="7" name="text-6">
            <a:extLst>
              <a:ext uri="{FF2B5EF4-FFF2-40B4-BE49-F238E27FC236}">
                <a16:creationId xmlns:a16="http://schemas.microsoft.com/office/drawing/2014/main" id="{8C8B5D2E-0873-493A-B3B0-B57861696286}"/>
              </a:ext>
            </a:extLst>
          </p:cNvPr>
          <p:cNvSpPr>
            <a:spLocks noGrp="1"/>
          </p:cNvSpPr>
          <p:nvPr/>
        </p:nvSpPr>
        <p:spPr>
          <a:xfrm>
            <a:off x="609600" y="327069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Uczenie transformacji danych</a:t>
            </a:r>
          </a:p>
        </p:txBody>
      </p:sp>
      <p:sp>
        <p:nvSpPr>
          <p:cNvPr id="8" name="text-7">
            <a:extLst>
              <a:ext uri="{FF2B5EF4-FFF2-40B4-BE49-F238E27FC236}">
                <a16:creationId xmlns:a16="http://schemas.microsoft.com/office/drawing/2014/main" id="{5926B093-DF71-41FA-B9C6-F9F0213C84F3}"/>
              </a:ext>
            </a:extLst>
          </p:cNvPr>
          <p:cNvSpPr>
            <a:spLocks noGrp="1"/>
          </p:cNvSpPr>
          <p:nvPr/>
        </p:nvSpPr>
        <p:spPr>
          <a:xfrm>
            <a:off x="609600" y="3864864"/>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Strojenie w walidacji krzyżowej</a:t>
            </a:r>
          </a:p>
        </p:txBody>
      </p:sp>
      <p:sp>
        <p:nvSpPr>
          <p:cNvPr id="9" name="text-8">
            <a:extLst>
              <a:ext uri="{FF2B5EF4-FFF2-40B4-BE49-F238E27FC236}">
                <a16:creationId xmlns:a16="http://schemas.microsoft.com/office/drawing/2014/main" id="{FA0E2E26-0BE1-40F4-B2F2-DEF872DA5ED0}"/>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DANE TESTOWE</a:t>
            </a:r>
          </a:p>
        </p:txBody>
      </p:sp>
      <p:sp>
        <p:nvSpPr>
          <p:cNvPr id="10" name="text-9">
            <a:extLst>
              <a:ext uri="{FF2B5EF4-FFF2-40B4-BE49-F238E27FC236}">
                <a16:creationId xmlns:a16="http://schemas.microsoft.com/office/drawing/2014/main" id="{F8CBE0C1-E6CF-4FF9-A9E8-742B14E69CDF}"/>
              </a:ext>
            </a:extLst>
          </p:cNvPr>
          <p:cNvSpPr>
            <a:spLocks noGrp="1"/>
          </p:cNvSpPr>
          <p:nvPr/>
        </p:nvSpPr>
        <p:spPr>
          <a:xfrm>
            <a:off x="6515100" y="267652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Odkładamy na początku</a:t>
            </a:r>
          </a:p>
        </p:txBody>
      </p:sp>
      <p:sp>
        <p:nvSpPr>
          <p:cNvPr id="11" name="text-10">
            <a:extLst>
              <a:ext uri="{FF2B5EF4-FFF2-40B4-BE49-F238E27FC236}">
                <a16:creationId xmlns:a16="http://schemas.microsoft.com/office/drawing/2014/main" id="{483CF0AF-FDF7-4DB6-8461-4F24F5FCBCF4}"/>
              </a:ext>
            </a:extLst>
          </p:cNvPr>
          <p:cNvSpPr>
            <a:spLocks noGrp="1"/>
          </p:cNvSpPr>
          <p:nvPr/>
        </p:nvSpPr>
        <p:spPr>
          <a:xfrm>
            <a:off x="6515100" y="327069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Używamy po wyborze konfiguracji</a:t>
            </a:r>
          </a:p>
        </p:txBody>
      </p:sp>
      <p:sp>
        <p:nvSpPr>
          <p:cNvPr id="12" name="text-11">
            <a:extLst>
              <a:ext uri="{FF2B5EF4-FFF2-40B4-BE49-F238E27FC236}">
                <a16:creationId xmlns:a16="http://schemas.microsoft.com/office/drawing/2014/main" id="{A2E80B0B-D4F8-4F14-A249-DEB0BD187D5B}"/>
              </a:ext>
            </a:extLst>
          </p:cNvPr>
          <p:cNvSpPr>
            <a:spLocks noGrp="1"/>
          </p:cNvSpPr>
          <p:nvPr/>
        </p:nvSpPr>
        <p:spPr>
          <a:xfrm>
            <a:off x="6515100" y="3864864"/>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Oceniają cały zamrożony proces</a:t>
            </a:r>
          </a:p>
        </p:txBody>
      </p:sp>
      <p:sp>
        <p:nvSpPr>
          <p:cNvPr id="13" name="text-12">
            <a:extLst>
              <a:ext uri="{FF2B5EF4-FFF2-40B4-BE49-F238E27FC236}">
                <a16:creationId xmlns:a16="http://schemas.microsoft.com/office/drawing/2014/main" id="{607495E6-51C3-4774-B7DE-F612BCDC4BF6}"/>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Podział musi odzwierciedlać przyszłe użycie: nowe osoby, nowe firmy lub przyszły czas.</a:t>
            </a:r>
          </a:p>
        </p:txBody>
      </p:sp>
    </p:spTree>
    <p:extLst>
      <p:ext uri="{BB962C8B-B14F-4D97-AF65-F5344CB8AC3E}">
        <p14:creationId xmlns:p14="http://schemas.microsoft.com/office/powerpoint/2010/main" val="1295327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7" name="text-0">
            <a:extLst>
              <a:ext uri="{FF2B5EF4-FFF2-40B4-BE49-F238E27FC236}">
                <a16:creationId xmlns:a16="http://schemas.microsoft.com/office/drawing/2014/main" id="{59FB9293-D96A-4A8A-B8AF-E8EA7E624240}"/>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8B069B7A-70E8-4C7F-95B4-06A188869C57}"/>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Przygotowanie danych</a:t>
            </a:r>
          </a:p>
        </p:txBody>
      </p:sp>
      <p:sp>
        <p:nvSpPr>
          <p:cNvPr id="3" name="text-2">
            <a:extLst>
              <a:ext uri="{FF2B5EF4-FFF2-40B4-BE49-F238E27FC236}">
                <a16:creationId xmlns:a16="http://schemas.microsoft.com/office/drawing/2014/main" id="{D1223BAA-E1FD-4A16-A813-BA904DD03A6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EA6DB98A-C64C-4E63-8615-189A3CFE6D61}"/>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11</a:t>
            </a:r>
          </a:p>
        </p:txBody>
      </p:sp>
      <p:sp>
        <p:nvSpPr>
          <p:cNvPr id="5" name="text-4">
            <a:extLst>
              <a:ext uri="{FF2B5EF4-FFF2-40B4-BE49-F238E27FC236}">
                <a16:creationId xmlns:a16="http://schemas.microsoft.com/office/drawing/2014/main" id="{F74DDD4F-67FA-41E1-99F6-45479A635065}"/>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CB8E3A03-0FCF-4C07-9AAE-B40CCBF900C7}"/>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Braki i typy</a:t>
            </a:r>
          </a:p>
        </p:txBody>
      </p:sp>
      <p:sp>
        <p:nvSpPr>
          <p:cNvPr id="7" name="text-6">
            <a:extLst>
              <a:ext uri="{FF2B5EF4-FFF2-40B4-BE49-F238E27FC236}">
                <a16:creationId xmlns:a16="http://schemas.microsoft.com/office/drawing/2014/main" id="{2C7E7CAB-FD09-4D72-80F4-B19FEE2A057D}"/>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Jawne zasady imputacji i kodowania kategorii.</a:t>
            </a:r>
          </a:p>
        </p:txBody>
      </p:sp>
      <p:sp>
        <p:nvSpPr>
          <p:cNvPr id="8" name="text-7">
            <a:extLst>
              <a:ext uri="{FF2B5EF4-FFF2-40B4-BE49-F238E27FC236}">
                <a16:creationId xmlns:a16="http://schemas.microsoft.com/office/drawing/2014/main" id="{1BD0DB32-6BC2-43CE-AF51-D1A5600EA412}"/>
              </a:ext>
            </a:extLst>
          </p:cNvPr>
          <p:cNvSpPr>
            <a:spLocks noGrp="1"/>
          </p:cNvSpPr>
          <p:nvPr/>
        </p:nvSpPr>
        <p:spPr>
          <a:xfrm>
            <a:off x="609600" y="29432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84C142E0-967E-4FE2-B48D-D324C55A1EC3}"/>
              </a:ext>
            </a:extLst>
          </p:cNvPr>
          <p:cNvSpPr>
            <a:spLocks noGrp="1"/>
          </p:cNvSpPr>
          <p:nvPr/>
        </p:nvSpPr>
        <p:spPr>
          <a:xfrm>
            <a:off x="1562100" y="29432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Skala cech</a:t>
            </a:r>
          </a:p>
        </p:txBody>
      </p:sp>
      <p:sp>
        <p:nvSpPr>
          <p:cNvPr id="10" name="text-9">
            <a:extLst>
              <a:ext uri="{FF2B5EF4-FFF2-40B4-BE49-F238E27FC236}">
                <a16:creationId xmlns:a16="http://schemas.microsoft.com/office/drawing/2014/main" id="{85CC828B-AE86-42B0-817B-3D38E83DF333}"/>
              </a:ext>
            </a:extLst>
          </p:cNvPr>
          <p:cNvSpPr>
            <a:spLocks noGrp="1"/>
          </p:cNvSpPr>
          <p:nvPr/>
        </p:nvSpPr>
        <p:spPr>
          <a:xfrm>
            <a:off x="1562100" y="33147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SVM, k-means i MLP są wrażliwe na skalę wejścia.</a:t>
            </a:r>
          </a:p>
        </p:txBody>
      </p:sp>
      <p:sp>
        <p:nvSpPr>
          <p:cNvPr id="11" name="text-10">
            <a:extLst>
              <a:ext uri="{FF2B5EF4-FFF2-40B4-BE49-F238E27FC236}">
                <a16:creationId xmlns:a16="http://schemas.microsoft.com/office/drawing/2014/main" id="{7C437E7A-FECB-4386-B110-8C3F26037B68}"/>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79DEA6F7-C8ED-4ACB-9641-5F22BCF9B6F1}"/>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Pipeline</a:t>
            </a:r>
          </a:p>
        </p:txBody>
      </p:sp>
      <p:sp>
        <p:nvSpPr>
          <p:cNvPr id="13" name="text-12">
            <a:extLst>
              <a:ext uri="{FF2B5EF4-FFF2-40B4-BE49-F238E27FC236}">
                <a16:creationId xmlns:a16="http://schemas.microsoft.com/office/drawing/2014/main" id="{9CCACFF8-0C7F-4808-9745-BEC209BAC915}"/>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Każdy fold uczy własne transformacje na części treningowej.</a:t>
            </a:r>
          </a:p>
        </p:txBody>
      </p:sp>
      <p:sp>
        <p:nvSpPr>
          <p:cNvPr id="14" name="text-13">
            <a:extLst>
              <a:ext uri="{FF2B5EF4-FFF2-40B4-BE49-F238E27FC236}">
                <a16:creationId xmlns:a16="http://schemas.microsoft.com/office/drawing/2014/main" id="{D345A420-725D-45BE-92D0-56E1C01C309D}"/>
              </a:ext>
            </a:extLst>
          </p:cNvPr>
          <p:cNvSpPr>
            <a:spLocks noGrp="1"/>
          </p:cNvSpPr>
          <p:nvPr/>
        </p:nvSpPr>
        <p:spPr>
          <a:xfrm>
            <a:off x="609600" y="50006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321BC4A5-68EE-4A5F-AB6B-E0E25D44A639}"/>
              </a:ext>
            </a:extLst>
          </p:cNvPr>
          <p:cNvSpPr>
            <a:spLocks noGrp="1"/>
          </p:cNvSpPr>
          <p:nvPr/>
        </p:nvSpPr>
        <p:spPr>
          <a:xfrm>
            <a:off x="1562100" y="50006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Kontrola sensu</a:t>
            </a:r>
          </a:p>
        </p:txBody>
      </p:sp>
      <p:sp>
        <p:nvSpPr>
          <p:cNvPr id="16" name="text-15">
            <a:extLst>
              <a:ext uri="{FF2B5EF4-FFF2-40B4-BE49-F238E27FC236}">
                <a16:creationId xmlns:a16="http://schemas.microsoft.com/office/drawing/2014/main" id="{7F910D0A-F9A5-4D2A-8856-2911E83051CA}"/>
              </a:ext>
            </a:extLst>
          </p:cNvPr>
          <p:cNvSpPr>
            <a:spLocks noGrp="1"/>
          </p:cNvSpPr>
          <p:nvPr/>
        </p:nvSpPr>
        <p:spPr>
          <a:xfrm>
            <a:off x="1562100" y="53721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Jednostki, duplikaty, identyfikatory i cechy dostępne w chwili predykcji.</a:t>
            </a:r>
          </a:p>
        </p:txBody>
      </p:sp>
    </p:spTree>
    <p:extLst>
      <p:ext uri="{BB962C8B-B14F-4D97-AF65-F5344CB8AC3E}">
        <p14:creationId xmlns:p14="http://schemas.microsoft.com/office/powerpoint/2010/main" val="1530021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88548B39-52EB-471C-A3E5-CD598E334059}"/>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4802E639-10E0-4C16-B55F-CAC46B7703EB}"/>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Regresja logistyczna</a:t>
            </a:r>
          </a:p>
        </p:txBody>
      </p:sp>
      <p:sp>
        <p:nvSpPr>
          <p:cNvPr id="3" name="text-2">
            <a:extLst>
              <a:ext uri="{FF2B5EF4-FFF2-40B4-BE49-F238E27FC236}">
                <a16:creationId xmlns:a16="http://schemas.microsoft.com/office/drawing/2014/main" id="{ACD982AF-82BD-4790-8000-B8F338BE3496}"/>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070CE1CE-1FCD-4B4F-B8F6-9E3CD67208B6}"/>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12</a:t>
            </a:r>
          </a:p>
        </p:txBody>
      </p:sp>
      <p:sp>
        <p:nvSpPr>
          <p:cNvPr id="5" name="text-4">
            <a:extLst>
              <a:ext uri="{FF2B5EF4-FFF2-40B4-BE49-F238E27FC236}">
                <a16:creationId xmlns:a16="http://schemas.microsoft.com/office/drawing/2014/main" id="{6DAE6E9F-751A-46D7-B6E9-4296B843C518}"/>
              </a:ext>
            </a:extLst>
          </p:cNvPr>
          <p:cNvSpPr>
            <a:spLocks noGrp="1"/>
          </p:cNvSpPr>
          <p:nvPr/>
        </p:nvSpPr>
        <p:spPr>
          <a:xfrm>
            <a:off x="609600" y="1952625"/>
            <a:ext cx="10972800" cy="685800"/>
          </a:xfrm>
          <a:prstGeom prst="rect">
            <a:avLst/>
          </a:prstGeom>
          <a:noFill/>
          <a:ln w="0">
            <a:noFill/>
          </a:ln>
        </p:spPr>
        <p:txBody>
          <a:bodyPr wrap="square" lIns="0" tIns="0" rIns="0" bIns="0" anchor="t">
            <a:noAutofit/>
          </a:bodyPr>
          <a:lstStyle/>
          <a:p>
            <a:pPr>
              <a:defRPr sz="3225" b="1">
                <a:solidFill>
                  <a:srgbClr val="007F7A"/>
                </a:solidFill>
                <a:latin typeface="Nimbus Sans"/>
                <a:ea typeface="Nimbus Sans"/>
                <a:cs typeface="Nimbus Sans"/>
              </a:defRPr>
            </a:pPr>
            <a:r>
              <a:rPr sz="3225" b="1">
                <a:solidFill>
                  <a:srgbClr val="007F7A"/>
                </a:solidFill>
                <a:latin typeface="Nimbus Sans"/>
                <a:ea typeface="Nimbus Sans"/>
                <a:cs typeface="Nimbus Sans"/>
              </a:rPr>
              <a:t>p(y = 1 | x) = 1 / (1 + exp(−z))</a:t>
            </a:r>
          </a:p>
        </p:txBody>
      </p:sp>
      <p:sp>
        <p:nvSpPr>
          <p:cNvPr id="6" name="text-5">
            <a:extLst>
              <a:ext uri="{FF2B5EF4-FFF2-40B4-BE49-F238E27FC236}">
                <a16:creationId xmlns:a16="http://schemas.microsoft.com/office/drawing/2014/main" id="{1F62D3F1-E797-4DE4-83A1-EC297CDF4A0B}"/>
              </a:ext>
            </a:extLst>
          </p:cNvPr>
          <p:cNvSpPr>
            <a:spLocks noGrp="1"/>
          </p:cNvSpPr>
          <p:nvPr/>
        </p:nvSpPr>
        <p:spPr>
          <a:xfrm>
            <a:off x="628650" y="2924175"/>
            <a:ext cx="10953750" cy="723900"/>
          </a:xfrm>
          <a:prstGeom prst="rect">
            <a:avLst/>
          </a:prstGeom>
          <a:noFill/>
          <a:ln w="0">
            <a:noFill/>
          </a:ln>
        </p:spPr>
        <p:txBody>
          <a:bodyPr wrap="square" lIns="0" tIns="0" rIns="0" bIns="0" anchor="t">
            <a:noAutofit/>
          </a:bodyPr>
          <a:lstStyle/>
          <a:p>
            <a:pPr>
              <a:defRPr sz="2100" b="0">
                <a:solidFill>
                  <a:srgbClr val="586779"/>
                </a:solidFill>
                <a:latin typeface="Nimbus Sans"/>
                <a:ea typeface="Nimbus Sans"/>
                <a:cs typeface="Nimbus Sans"/>
              </a:defRPr>
            </a:pPr>
            <a:r>
              <a:rPr sz="2100" b="0">
                <a:solidFill>
                  <a:srgbClr val="586779"/>
                </a:solidFill>
                <a:latin typeface="Nimbus Sans"/>
                <a:ea typeface="Nimbus Sans"/>
                <a:cs typeface="Nimbus Sans"/>
              </a:rPr>
              <a:t>z = wᵀx + b</a:t>
            </a:r>
          </a:p>
        </p:txBody>
      </p:sp>
      <p:sp>
        <p:nvSpPr>
          <p:cNvPr id="7" name="text-6">
            <a:extLst>
              <a:ext uri="{FF2B5EF4-FFF2-40B4-BE49-F238E27FC236}">
                <a16:creationId xmlns:a16="http://schemas.microsoft.com/office/drawing/2014/main" id="{C06438AF-ADDD-4002-99C9-E9970AE4406A}"/>
              </a:ext>
            </a:extLst>
          </p:cNvPr>
          <p:cNvSpPr>
            <a:spLocks noGrp="1"/>
          </p:cNvSpPr>
          <p:nvPr/>
        </p:nvSpPr>
        <p:spPr>
          <a:xfrm>
            <a:off x="628650"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Model wyniku binarnego</a:t>
            </a:r>
          </a:p>
        </p:txBody>
      </p:sp>
      <p:sp>
        <p:nvSpPr>
          <p:cNvPr id="8" name="text-7">
            <a:extLst>
              <a:ext uri="{FF2B5EF4-FFF2-40B4-BE49-F238E27FC236}">
                <a16:creationId xmlns:a16="http://schemas.microsoft.com/office/drawing/2014/main" id="{7760FD6D-EE06-4FD3-8F54-CB2F4AED52B3}"/>
              </a:ext>
            </a:extLst>
          </p:cNvPr>
          <p:cNvSpPr>
            <a:spLocks noGrp="1"/>
          </p:cNvSpPr>
          <p:nvPr/>
        </p:nvSpPr>
        <p:spPr>
          <a:xfrm>
            <a:off x="628650"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Liniowa kombinacja cech przechodzi przez sigmoidę.</a:t>
            </a:r>
          </a:p>
        </p:txBody>
      </p:sp>
      <p:sp>
        <p:nvSpPr>
          <p:cNvPr id="9" name="text-8">
            <a:extLst>
              <a:ext uri="{FF2B5EF4-FFF2-40B4-BE49-F238E27FC236}">
                <a16:creationId xmlns:a16="http://schemas.microsoft.com/office/drawing/2014/main" id="{50BD68C3-0642-46C0-9311-8D4650CC7208}"/>
              </a:ext>
            </a:extLst>
          </p:cNvPr>
          <p:cNvSpPr>
            <a:spLocks noGrp="1"/>
          </p:cNvSpPr>
          <p:nvPr/>
        </p:nvSpPr>
        <p:spPr>
          <a:xfrm>
            <a:off x="6505575"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Regularyzacja</a:t>
            </a:r>
          </a:p>
        </p:txBody>
      </p:sp>
      <p:sp>
        <p:nvSpPr>
          <p:cNvPr id="10" name="text-9">
            <a:extLst>
              <a:ext uri="{FF2B5EF4-FFF2-40B4-BE49-F238E27FC236}">
                <a16:creationId xmlns:a16="http://schemas.microsoft.com/office/drawing/2014/main" id="{9EFA115E-3B9C-4439-9013-B15712DF2546}"/>
              </a:ext>
            </a:extLst>
          </p:cNvPr>
          <p:cNvSpPr>
            <a:spLocks noGrp="1"/>
          </p:cNvSpPr>
          <p:nvPr/>
        </p:nvSpPr>
        <p:spPr>
          <a:xfrm>
            <a:off x="6505575" y="4791075"/>
            <a:ext cx="5076825" cy="1096709"/>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Współczynnik C steruje siłą kary: mniejsze C oznacza silniejszą regularyzację.</a:t>
            </a:r>
          </a:p>
        </p:txBody>
      </p:sp>
    </p:spTree>
    <p:extLst>
      <p:ext uri="{BB962C8B-B14F-4D97-AF65-F5344CB8AC3E}">
        <p14:creationId xmlns:p14="http://schemas.microsoft.com/office/powerpoint/2010/main" val="1966731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07E0D1F3-0FF6-43FF-B4C9-266659201270}"/>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A3D7CF5A-43C5-4D43-852C-26519DEF9FD9}"/>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Sigmoida zamienia wynik na prawdopodobieństwo</a:t>
            </a:r>
          </a:p>
        </p:txBody>
      </p:sp>
      <p:sp>
        <p:nvSpPr>
          <p:cNvPr id="3" name="text-2">
            <a:extLst>
              <a:ext uri="{FF2B5EF4-FFF2-40B4-BE49-F238E27FC236}">
                <a16:creationId xmlns:a16="http://schemas.microsoft.com/office/drawing/2014/main" id="{8CD1F479-40EC-4BB2-A2E4-8EBBC9F7FA86}"/>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E792870D-3181-4F13-B3EE-202575668382}"/>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13</a:t>
            </a:r>
          </a:p>
        </p:txBody>
      </p:sp>
      <p:graphicFrame>
        <p:nvGraphicFramePr>
          <p:cNvPr id="14" name="Chart"/>
          <p:cNvGraphicFramePr/>
          <p:nvPr/>
        </p:nvGraphicFramePr>
        <p:xfrm>
          <a:off x="542925" y="1924050"/>
          <a:ext cx="7648575" cy="39719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
            <a:extLst>
              <a:ext uri="{FF2B5EF4-FFF2-40B4-BE49-F238E27FC236}">
                <a16:creationId xmlns:a16="http://schemas.microsoft.com/office/drawing/2014/main" id="{7E33DC00-EA5C-4D79-853E-2F085F25D845}"/>
              </a:ext>
            </a:extLst>
          </p:cNvPr>
          <p:cNvSpPr>
            <a:spLocks noGrp="1"/>
          </p:cNvSpPr>
          <p:nvPr/>
        </p:nvSpPr>
        <p:spPr>
          <a:xfrm>
            <a:off x="8591550" y="2133600"/>
            <a:ext cx="29908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z = 0 daje p = 0,5</a:t>
            </a:r>
          </a:p>
        </p:txBody>
      </p:sp>
      <p:sp>
        <p:nvSpPr>
          <p:cNvPr id="7" name="text-5">
            <a:extLst>
              <a:ext uri="{FF2B5EF4-FFF2-40B4-BE49-F238E27FC236}">
                <a16:creationId xmlns:a16="http://schemas.microsoft.com/office/drawing/2014/main" id="{A10011EB-A7BC-49C1-8C71-6FCFF1DFEE7D}"/>
              </a:ext>
            </a:extLst>
          </p:cNvPr>
          <p:cNvSpPr>
            <a:spLocks noGrp="1"/>
          </p:cNvSpPr>
          <p:nvPr/>
        </p:nvSpPr>
        <p:spPr>
          <a:xfrm>
            <a:off x="8591550" y="2733675"/>
            <a:ext cx="2990850" cy="1294257"/>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Zmiana z o tę samą wartość nie daje stałej zmiany prawdopodobieństwa.</a:t>
            </a:r>
          </a:p>
        </p:txBody>
      </p:sp>
      <p:sp>
        <p:nvSpPr>
          <p:cNvPr id="8" name="text-6">
            <a:extLst>
              <a:ext uri="{FF2B5EF4-FFF2-40B4-BE49-F238E27FC236}">
                <a16:creationId xmlns:a16="http://schemas.microsoft.com/office/drawing/2014/main" id="{EF1ED4C3-4BC3-4951-8D1C-EC63FB40FA1B}"/>
              </a:ext>
            </a:extLst>
          </p:cNvPr>
          <p:cNvSpPr>
            <a:spLocks noGrp="1"/>
          </p:cNvSpPr>
          <p:nvPr/>
        </p:nvSpPr>
        <p:spPr>
          <a:xfrm>
            <a:off x="8591550" y="4199382"/>
            <a:ext cx="2990850" cy="992124"/>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Granica klasy zależy również od przyjętego progu.</a:t>
            </a:r>
          </a:p>
        </p:txBody>
      </p:sp>
      <p:sp>
        <p:nvSpPr>
          <p:cNvPr id="9" name="text-7">
            <a:extLst>
              <a:ext uri="{FF2B5EF4-FFF2-40B4-BE49-F238E27FC236}">
                <a16:creationId xmlns:a16="http://schemas.microsoft.com/office/drawing/2014/main" id="{D55EB3D2-46B9-4962-BCF5-8FA71B77D043}"/>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Wykres funkcji matematycznej, bez danych empirycznych.</a:t>
            </a:r>
          </a:p>
        </p:txBody>
      </p:sp>
    </p:spTree>
    <p:extLst>
      <p:ext uri="{BB962C8B-B14F-4D97-AF65-F5344CB8AC3E}">
        <p14:creationId xmlns:p14="http://schemas.microsoft.com/office/powerpoint/2010/main" val="440637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7F8FC23A-6141-48CB-9972-DB5634F229A4}"/>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2E4092AE-EC97-418F-8C77-5CF3CAE96091}"/>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Prawdopodobieństwo i decyzja</a:t>
            </a:r>
          </a:p>
        </p:txBody>
      </p:sp>
      <p:sp>
        <p:nvSpPr>
          <p:cNvPr id="3" name="text-2">
            <a:extLst>
              <a:ext uri="{FF2B5EF4-FFF2-40B4-BE49-F238E27FC236}">
                <a16:creationId xmlns:a16="http://schemas.microsoft.com/office/drawing/2014/main" id="{D2717474-8CB3-44E7-9EB8-DE6EF82B186E}"/>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6987943B-E646-4F45-AB13-7265964F9D38}"/>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14</a:t>
            </a:r>
          </a:p>
        </p:txBody>
      </p:sp>
      <p:sp>
        <p:nvSpPr>
          <p:cNvPr id="5" name="text-4">
            <a:extLst>
              <a:ext uri="{FF2B5EF4-FFF2-40B4-BE49-F238E27FC236}">
                <a16:creationId xmlns:a16="http://schemas.microsoft.com/office/drawing/2014/main" id="{8284E26B-1371-4FD1-AA38-CE2D3F295D66}"/>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WYNIK MODELU</a:t>
            </a:r>
          </a:p>
        </p:txBody>
      </p:sp>
      <p:sp>
        <p:nvSpPr>
          <p:cNvPr id="6" name="text-5">
            <a:extLst>
              <a:ext uri="{FF2B5EF4-FFF2-40B4-BE49-F238E27FC236}">
                <a16:creationId xmlns:a16="http://schemas.microsoft.com/office/drawing/2014/main" id="{91DE243F-E73B-4D33-AFEC-FBC1B1EC5246}"/>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1">
                <a:solidFill>
                  <a:srgbClr val="17243A"/>
                </a:solidFill>
                <a:latin typeface="Nimbus Sans"/>
                <a:ea typeface="Nimbus Sans"/>
                <a:cs typeface="Nimbus Sans"/>
              </a:defRPr>
            </a:pPr>
            <a:r>
              <a:rPr sz="2175" b="1">
                <a:solidFill>
                  <a:srgbClr val="17243A"/>
                </a:solidFill>
                <a:latin typeface="Nimbus Sans"/>
                <a:ea typeface="Nimbus Sans"/>
                <a:cs typeface="Nimbus Sans"/>
              </a:rPr>
              <a:t>p = 0,37</a:t>
            </a:r>
          </a:p>
        </p:txBody>
      </p:sp>
      <p:sp>
        <p:nvSpPr>
          <p:cNvPr id="7" name="text-6">
            <a:extLst>
              <a:ext uri="{FF2B5EF4-FFF2-40B4-BE49-F238E27FC236}">
                <a16:creationId xmlns:a16="http://schemas.microsoft.com/office/drawing/2014/main" id="{AF1B773F-B30C-4D90-8469-11C5377C2240}"/>
              </a:ext>
            </a:extLst>
          </p:cNvPr>
          <p:cNvSpPr>
            <a:spLocks noGrp="1"/>
          </p:cNvSpPr>
          <p:nvPr/>
        </p:nvSpPr>
        <p:spPr>
          <a:xfrm>
            <a:off x="609600" y="327069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Model szacuje prawdopodobieństwo klasy dodatniej.</a:t>
            </a:r>
          </a:p>
        </p:txBody>
      </p:sp>
      <p:sp>
        <p:nvSpPr>
          <p:cNvPr id="8" name="text-7">
            <a:extLst>
              <a:ext uri="{FF2B5EF4-FFF2-40B4-BE49-F238E27FC236}">
                <a16:creationId xmlns:a16="http://schemas.microsoft.com/office/drawing/2014/main" id="{55C8E4EA-075B-4440-813F-5AB39211D343}"/>
              </a:ext>
            </a:extLst>
          </p:cNvPr>
          <p:cNvSpPr>
            <a:spLocks noGrp="1"/>
          </p:cNvSpPr>
          <p:nvPr/>
        </p:nvSpPr>
        <p:spPr>
          <a:xfrm>
            <a:off x="609600" y="4201859"/>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Oceniamy również kalibrację.</a:t>
            </a:r>
          </a:p>
        </p:txBody>
      </p:sp>
      <p:sp>
        <p:nvSpPr>
          <p:cNvPr id="9" name="text-8">
            <a:extLst>
              <a:ext uri="{FF2B5EF4-FFF2-40B4-BE49-F238E27FC236}">
                <a16:creationId xmlns:a16="http://schemas.microsoft.com/office/drawing/2014/main" id="{41705AD1-2447-4523-AF98-959C804C762D}"/>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REGUŁA DECYZYJNA</a:t>
            </a:r>
          </a:p>
        </p:txBody>
      </p:sp>
      <p:sp>
        <p:nvSpPr>
          <p:cNvPr id="10" name="text-9">
            <a:extLst>
              <a:ext uri="{FF2B5EF4-FFF2-40B4-BE49-F238E27FC236}">
                <a16:creationId xmlns:a16="http://schemas.microsoft.com/office/drawing/2014/main" id="{25F9A9A0-CC6F-45AB-ABE9-D3CA2B3A5FF5}"/>
              </a:ext>
            </a:extLst>
          </p:cNvPr>
          <p:cNvSpPr>
            <a:spLocks noGrp="1"/>
          </p:cNvSpPr>
          <p:nvPr/>
        </p:nvSpPr>
        <p:spPr>
          <a:xfrm>
            <a:off x="6515100" y="2676525"/>
            <a:ext cx="5067300" cy="422720"/>
          </a:xfrm>
          <a:prstGeom prst="rect">
            <a:avLst/>
          </a:prstGeom>
          <a:noFill/>
          <a:ln w="0">
            <a:noFill/>
          </a:ln>
        </p:spPr>
        <p:txBody>
          <a:bodyPr wrap="square" lIns="0" tIns="0" rIns="0" bIns="0" anchor="t">
            <a:noAutofit/>
          </a:bodyPr>
          <a:lstStyle/>
          <a:p>
            <a:pPr>
              <a:defRPr sz="2175" b="1">
                <a:solidFill>
                  <a:srgbClr val="17243A"/>
                </a:solidFill>
                <a:latin typeface="Nimbus Sans"/>
                <a:ea typeface="Nimbus Sans"/>
                <a:cs typeface="Nimbus Sans"/>
              </a:defRPr>
            </a:pPr>
            <a:r>
              <a:rPr sz="2175" b="1">
                <a:solidFill>
                  <a:srgbClr val="17243A"/>
                </a:solidFill>
                <a:latin typeface="Nimbus Sans"/>
                <a:ea typeface="Nimbus Sans"/>
                <a:cs typeface="Nimbus Sans"/>
              </a:rPr>
              <a:t>Próg t = 0,30</a:t>
            </a:r>
          </a:p>
        </p:txBody>
      </p:sp>
      <p:sp>
        <p:nvSpPr>
          <p:cNvPr id="11" name="text-10">
            <a:extLst>
              <a:ext uri="{FF2B5EF4-FFF2-40B4-BE49-F238E27FC236}">
                <a16:creationId xmlns:a16="http://schemas.microsoft.com/office/drawing/2014/main" id="{EC2E5BD4-8D81-49BA-8854-0C8B0EE790F3}"/>
              </a:ext>
            </a:extLst>
          </p:cNvPr>
          <p:cNvSpPr>
            <a:spLocks noGrp="1"/>
          </p:cNvSpPr>
          <p:nvPr/>
        </p:nvSpPr>
        <p:spPr>
          <a:xfrm>
            <a:off x="6515100" y="327069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Gdy p ≥ t, wybieramy klasę dodatnią.</a:t>
            </a:r>
          </a:p>
        </p:txBody>
      </p:sp>
      <p:sp>
        <p:nvSpPr>
          <p:cNvPr id="12" name="text-11">
            <a:extLst>
              <a:ext uri="{FF2B5EF4-FFF2-40B4-BE49-F238E27FC236}">
                <a16:creationId xmlns:a16="http://schemas.microsoft.com/office/drawing/2014/main" id="{54F1C172-B55C-47DC-AFB5-755021239E25}"/>
              </a:ext>
            </a:extLst>
          </p:cNvPr>
          <p:cNvSpPr>
            <a:spLocks noGrp="1"/>
          </p:cNvSpPr>
          <p:nvPr/>
        </p:nvSpPr>
        <p:spPr>
          <a:xfrm>
            <a:off x="6515100" y="4201859"/>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Próg dobieramy na danych walidacyjnych.</a:t>
            </a:r>
          </a:p>
        </p:txBody>
      </p:sp>
    </p:spTree>
    <p:extLst>
      <p:ext uri="{BB962C8B-B14F-4D97-AF65-F5344CB8AC3E}">
        <p14:creationId xmlns:p14="http://schemas.microsoft.com/office/powerpoint/2010/main" val="1926860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BCFBACDE-E806-4E39-B2D4-7FFC2192C313}"/>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B49B2B31-5907-4581-89FE-CA132920019C}"/>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15</a:t>
            </a:r>
          </a:p>
        </p:txBody>
      </p:sp>
      <p:sp>
        <p:nvSpPr>
          <p:cNvPr id="3" name="text-2">
            <a:extLst>
              <a:ext uri="{FF2B5EF4-FFF2-40B4-BE49-F238E27FC236}">
                <a16:creationId xmlns:a16="http://schemas.microsoft.com/office/drawing/2014/main" id="{19781C94-7DFB-498D-8277-E7D45DCCB879}"/>
              </a:ext>
            </a:extLst>
          </p:cNvPr>
          <p:cNvSpPr>
            <a:spLocks noGrp="1"/>
          </p:cNvSpPr>
          <p:nvPr/>
        </p:nvSpPr>
        <p:spPr>
          <a:xfrm>
            <a:off x="609600" y="352425"/>
            <a:ext cx="10972800" cy="238125"/>
          </a:xfrm>
          <a:prstGeom prst="rect">
            <a:avLst/>
          </a:prstGeom>
          <a:noFill/>
          <a:ln w="0">
            <a:noFill/>
          </a:ln>
        </p:spPr>
        <p:txBody>
          <a:bodyPr wrap="square" lIns="0" tIns="0" rIns="0" bIns="0" anchor="t">
            <a:noAutofit/>
          </a:bodyPr>
          <a:lstStyle/>
          <a:p>
            <a:pPr>
              <a:defRPr sz="1125" b="1">
                <a:solidFill>
                  <a:srgbClr val="62DCCB"/>
                </a:solidFill>
                <a:latin typeface="Nimbus Sans"/>
                <a:ea typeface="Nimbus Sans"/>
                <a:cs typeface="Nimbus Sans"/>
              </a:defRPr>
            </a:pPr>
            <a:r>
              <a:rPr sz="1125" b="1">
                <a:solidFill>
                  <a:srgbClr val="62DCCB"/>
                </a:solidFill>
                <a:latin typeface="Nimbus Sans"/>
                <a:ea typeface="Nimbus Sans"/>
                <a:cs typeface="Nimbus Sans"/>
              </a:rPr>
              <a:t>PYTHON  /  01  /  ALGORYTMY UCZENIA MASZYNOWEGO</a:t>
            </a:r>
          </a:p>
        </p:txBody>
      </p:sp>
      <p:sp>
        <p:nvSpPr>
          <p:cNvPr id="4" name="text-3">
            <a:extLst>
              <a:ext uri="{FF2B5EF4-FFF2-40B4-BE49-F238E27FC236}">
                <a16:creationId xmlns:a16="http://schemas.microsoft.com/office/drawing/2014/main" id="{3E345715-796A-4D24-AB65-293102E91695}"/>
              </a:ext>
            </a:extLst>
          </p:cNvPr>
          <p:cNvSpPr>
            <a:spLocks noGrp="1"/>
          </p:cNvSpPr>
          <p:nvPr/>
        </p:nvSpPr>
        <p:spPr>
          <a:xfrm>
            <a:off x="609600" y="828675"/>
            <a:ext cx="10972800" cy="1047750"/>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Wspólne dane do porównania modeli</a:t>
            </a:r>
          </a:p>
        </p:txBody>
      </p:sp>
      <p:sp>
        <p:nvSpPr>
          <p:cNvPr id="5" name="text-4">
            <a:extLst>
              <a:ext uri="{FF2B5EF4-FFF2-40B4-BE49-F238E27FC236}">
                <a16:creationId xmlns:a16="http://schemas.microsoft.com/office/drawing/2014/main" id="{2772F6E1-E0FC-4EF0-8348-0C7C67BE77DF}"/>
              </a:ext>
            </a:extLst>
          </p:cNvPr>
          <p:cNvSpPr>
            <a:spLocks noGrp="1"/>
          </p:cNvSpPr>
          <p:nvPr/>
        </p:nvSpPr>
        <p:spPr>
          <a:xfrm>
            <a:off x="609600" y="2095500"/>
            <a:ext cx="7839075" cy="3838575"/>
          </a:xfrm>
          <a:prstGeom prst="rect">
            <a:avLst/>
          </a:prstGeom>
          <a:noFill/>
          <a:ln w="0">
            <a:noFill/>
          </a:ln>
        </p:spPr>
        <p:txBody>
          <a:bodyPr wrap="square" lIns="0" tIns="0" rIns="0" bIns="0" anchor="t">
            <a:noAutofit/>
          </a:bodyPr>
          <a:lstStyle/>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sklearn.datasets import make_classification</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sklearn.model_selection import train_test_split</a:t>
            </a:r>
          </a:p>
          <a:p>
            <a:endParaRPr sz="1575" b="0">
              <a:solidFill>
                <a:srgbClr val="FFFFFF"/>
              </a:solidFill>
              <a:latin typeface="DejaVu Sans Mono"/>
              <a:ea typeface="DejaVu Sans Mono"/>
              <a:cs typeface="DejaVu Sans Mono"/>
            </a:endParaRP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X, y = make_classification(</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n_samples=1200, n_features=12,</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n_informative=6, weights=[0.8, 0.2],</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random_state=42)</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Xtr, Xte, ytr, yte = train_test_split(</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X, y, test_size=0.25, stratify=y,</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random_state=42)</a:t>
            </a:r>
          </a:p>
        </p:txBody>
      </p:sp>
      <p:sp>
        <p:nvSpPr>
          <p:cNvPr id="6" name="text-5">
            <a:extLst>
              <a:ext uri="{FF2B5EF4-FFF2-40B4-BE49-F238E27FC236}">
                <a16:creationId xmlns:a16="http://schemas.microsoft.com/office/drawing/2014/main" id="{DD7A01BF-30EA-4A9F-A64E-6226B72A1B8C}"/>
              </a:ext>
            </a:extLst>
          </p:cNvPr>
          <p:cNvSpPr>
            <a:spLocks noGrp="1"/>
          </p:cNvSpPr>
          <p:nvPr/>
        </p:nvSpPr>
        <p:spPr>
          <a:xfrm>
            <a:off x="8924925" y="2057400"/>
            <a:ext cx="2657475" cy="495300"/>
          </a:xfrm>
          <a:prstGeom prst="rect">
            <a:avLst/>
          </a:prstGeom>
          <a:noFill/>
          <a:ln w="0">
            <a:noFill/>
          </a:ln>
        </p:spPr>
        <p:txBody>
          <a:bodyPr wrap="square" lIns="0" tIns="0" rIns="0" bIns="0" anchor="t">
            <a:noAutofit/>
          </a:bodyPr>
          <a:lstStyle/>
          <a:p>
            <a:pPr>
              <a:defRPr sz="1575" b="1">
                <a:solidFill>
                  <a:srgbClr val="62DCCB"/>
                </a:solidFill>
                <a:latin typeface="Nimbus Sans"/>
                <a:ea typeface="Nimbus Sans"/>
                <a:cs typeface="Nimbus Sans"/>
              </a:defRPr>
            </a:pPr>
            <a:r>
              <a:rPr sz="1575" b="1">
                <a:solidFill>
                  <a:srgbClr val="62DCCB"/>
                </a:solidFill>
                <a:latin typeface="Nimbus Sans"/>
                <a:ea typeface="Nimbus Sans"/>
                <a:cs typeface="Nimbus Sans"/>
              </a:rPr>
              <a:t>Jeden eksperyment</a:t>
            </a:r>
          </a:p>
        </p:txBody>
      </p:sp>
      <p:sp>
        <p:nvSpPr>
          <p:cNvPr id="7" name="text-6">
            <a:extLst>
              <a:ext uri="{FF2B5EF4-FFF2-40B4-BE49-F238E27FC236}">
                <a16:creationId xmlns:a16="http://schemas.microsoft.com/office/drawing/2014/main" id="{38023EF8-41B2-4390-93E1-0FD8CEF507D0}"/>
              </a:ext>
            </a:extLst>
          </p:cNvPr>
          <p:cNvSpPr>
            <a:spLocks noGrp="1"/>
          </p:cNvSpPr>
          <p:nvPr/>
        </p:nvSpPr>
        <p:spPr>
          <a:xfrm>
            <a:off x="8924925" y="2657475"/>
            <a:ext cx="2657475" cy="992124"/>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Te same dane i podziały dla każdego modelu.</a:t>
            </a:r>
          </a:p>
        </p:txBody>
      </p:sp>
      <p:sp>
        <p:nvSpPr>
          <p:cNvPr id="8" name="text-7">
            <a:extLst>
              <a:ext uri="{FF2B5EF4-FFF2-40B4-BE49-F238E27FC236}">
                <a16:creationId xmlns:a16="http://schemas.microsoft.com/office/drawing/2014/main" id="{64BDD707-B535-4FD8-A2C9-C4B7347F48B0}"/>
              </a:ext>
            </a:extLst>
          </p:cNvPr>
          <p:cNvSpPr>
            <a:spLocks noGrp="1"/>
          </p:cNvSpPr>
          <p:nvPr/>
        </p:nvSpPr>
        <p:spPr>
          <a:xfrm>
            <a:off x="8924925" y="3821049"/>
            <a:ext cx="2657475" cy="1294257"/>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Test pozostaje odłożony do zakończenia wyboru modelu.</a:t>
            </a:r>
          </a:p>
        </p:txBody>
      </p:sp>
    </p:spTree>
    <p:extLst>
      <p:ext uri="{BB962C8B-B14F-4D97-AF65-F5344CB8AC3E}">
        <p14:creationId xmlns:p14="http://schemas.microsoft.com/office/powerpoint/2010/main" val="517002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139094D6-284F-4C14-8AC3-47BEECEF5574}"/>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A923AED2-CED2-4909-AC5B-E727446D2988}"/>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16</a:t>
            </a:r>
          </a:p>
        </p:txBody>
      </p:sp>
      <p:sp>
        <p:nvSpPr>
          <p:cNvPr id="3" name="text-2">
            <a:extLst>
              <a:ext uri="{FF2B5EF4-FFF2-40B4-BE49-F238E27FC236}">
                <a16:creationId xmlns:a16="http://schemas.microsoft.com/office/drawing/2014/main" id="{7E6D1795-5910-480F-90B6-BDE0198957EC}"/>
              </a:ext>
            </a:extLst>
          </p:cNvPr>
          <p:cNvSpPr>
            <a:spLocks noGrp="1"/>
          </p:cNvSpPr>
          <p:nvPr/>
        </p:nvSpPr>
        <p:spPr>
          <a:xfrm>
            <a:off x="609600" y="352425"/>
            <a:ext cx="10972800" cy="238125"/>
          </a:xfrm>
          <a:prstGeom prst="rect">
            <a:avLst/>
          </a:prstGeom>
          <a:noFill/>
          <a:ln w="0">
            <a:noFill/>
          </a:ln>
        </p:spPr>
        <p:txBody>
          <a:bodyPr wrap="square" lIns="0" tIns="0" rIns="0" bIns="0" anchor="t">
            <a:noAutofit/>
          </a:bodyPr>
          <a:lstStyle/>
          <a:p>
            <a:pPr>
              <a:defRPr sz="1125" b="1">
                <a:solidFill>
                  <a:srgbClr val="62DCCB"/>
                </a:solidFill>
                <a:latin typeface="Nimbus Sans"/>
                <a:ea typeface="Nimbus Sans"/>
                <a:cs typeface="Nimbus Sans"/>
              </a:defRPr>
            </a:pPr>
            <a:r>
              <a:rPr sz="1125" b="1">
                <a:solidFill>
                  <a:srgbClr val="62DCCB"/>
                </a:solidFill>
                <a:latin typeface="Nimbus Sans"/>
                <a:ea typeface="Nimbus Sans"/>
                <a:cs typeface="Nimbus Sans"/>
              </a:rPr>
              <a:t>PYTHON  /  01  /  ALGORYTMY UCZENIA MASZYNOWEGO</a:t>
            </a:r>
          </a:p>
        </p:txBody>
      </p:sp>
      <p:sp>
        <p:nvSpPr>
          <p:cNvPr id="4" name="text-3">
            <a:extLst>
              <a:ext uri="{FF2B5EF4-FFF2-40B4-BE49-F238E27FC236}">
                <a16:creationId xmlns:a16="http://schemas.microsoft.com/office/drawing/2014/main" id="{5B8E0A18-8AF6-4615-9742-21FA5B174B15}"/>
              </a:ext>
            </a:extLst>
          </p:cNvPr>
          <p:cNvSpPr>
            <a:spLocks noGrp="1"/>
          </p:cNvSpPr>
          <p:nvPr/>
        </p:nvSpPr>
        <p:spPr>
          <a:xfrm>
            <a:off x="609600" y="828675"/>
            <a:ext cx="10972800" cy="1047750"/>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Pipeline klasyfikacji logistycznej</a:t>
            </a:r>
          </a:p>
        </p:txBody>
      </p:sp>
      <p:sp>
        <p:nvSpPr>
          <p:cNvPr id="5" name="text-4">
            <a:extLst>
              <a:ext uri="{FF2B5EF4-FFF2-40B4-BE49-F238E27FC236}">
                <a16:creationId xmlns:a16="http://schemas.microsoft.com/office/drawing/2014/main" id="{57DC452C-74D4-4B55-BE27-A9F3B39C740D}"/>
              </a:ext>
            </a:extLst>
          </p:cNvPr>
          <p:cNvSpPr>
            <a:spLocks noGrp="1"/>
          </p:cNvSpPr>
          <p:nvPr/>
        </p:nvSpPr>
        <p:spPr>
          <a:xfrm>
            <a:off x="609600" y="2095500"/>
            <a:ext cx="7839075" cy="3838575"/>
          </a:xfrm>
          <a:prstGeom prst="rect">
            <a:avLst/>
          </a:prstGeom>
          <a:noFill/>
          <a:ln w="0">
            <a:noFill/>
          </a:ln>
        </p:spPr>
        <p:txBody>
          <a:bodyPr wrap="square" lIns="0" tIns="0" rIns="0" bIns="0" anchor="t">
            <a:noAutofit/>
          </a:bodyPr>
          <a:lstStyle/>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sklearn.pipeline import make_pipeline</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sklearn.preprocessing import StandardScaler</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sklearn.linear_model import LogisticRegression</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sklearn.model_selection import cross_val_score</a:t>
            </a:r>
          </a:p>
          <a:p>
            <a:endParaRPr sz="1575" b="0">
              <a:solidFill>
                <a:srgbClr val="FFFFFF"/>
              </a:solidFill>
              <a:latin typeface="DejaVu Sans Mono"/>
              <a:ea typeface="DejaVu Sans Mono"/>
              <a:cs typeface="DejaVu Sans Mono"/>
            </a:endParaRP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logit = make_pipeline(StandardScaler(),</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LogisticRegression(max_iter=2000))</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f1 = cross_val_score(logit, Xtr, ytr,</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cv=5, scoring="f1")</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print(f1.mean(), f1.std())</a:t>
            </a:r>
          </a:p>
        </p:txBody>
      </p:sp>
      <p:sp>
        <p:nvSpPr>
          <p:cNvPr id="6" name="text-5">
            <a:extLst>
              <a:ext uri="{FF2B5EF4-FFF2-40B4-BE49-F238E27FC236}">
                <a16:creationId xmlns:a16="http://schemas.microsoft.com/office/drawing/2014/main" id="{0B1388D1-C1D8-486D-8A55-AB4D12D249EC}"/>
              </a:ext>
            </a:extLst>
          </p:cNvPr>
          <p:cNvSpPr>
            <a:spLocks noGrp="1"/>
          </p:cNvSpPr>
          <p:nvPr/>
        </p:nvSpPr>
        <p:spPr>
          <a:xfrm>
            <a:off x="8924925" y="2057400"/>
            <a:ext cx="2657475" cy="495300"/>
          </a:xfrm>
          <a:prstGeom prst="rect">
            <a:avLst/>
          </a:prstGeom>
          <a:noFill/>
          <a:ln w="0">
            <a:noFill/>
          </a:ln>
        </p:spPr>
        <p:txBody>
          <a:bodyPr wrap="square" lIns="0" tIns="0" rIns="0" bIns="0" anchor="t">
            <a:noAutofit/>
          </a:bodyPr>
          <a:lstStyle/>
          <a:p>
            <a:pPr>
              <a:defRPr sz="1575" b="1">
                <a:solidFill>
                  <a:srgbClr val="62DCCB"/>
                </a:solidFill>
                <a:latin typeface="Nimbus Sans"/>
                <a:ea typeface="Nimbus Sans"/>
                <a:cs typeface="Nimbus Sans"/>
              </a:defRPr>
            </a:pPr>
            <a:r>
              <a:rPr sz="1575" b="1">
                <a:solidFill>
                  <a:srgbClr val="62DCCB"/>
                </a:solidFill>
                <a:latin typeface="Nimbus Sans"/>
                <a:ea typeface="Nimbus Sans"/>
                <a:cs typeface="Nimbus Sans"/>
              </a:rPr>
              <a:t>Co oceniamy?</a:t>
            </a:r>
          </a:p>
        </p:txBody>
      </p:sp>
      <p:sp>
        <p:nvSpPr>
          <p:cNvPr id="7" name="text-6">
            <a:extLst>
              <a:ext uri="{FF2B5EF4-FFF2-40B4-BE49-F238E27FC236}">
                <a16:creationId xmlns:a16="http://schemas.microsoft.com/office/drawing/2014/main" id="{8A242352-88F2-41B6-883E-405C57FB1143}"/>
              </a:ext>
            </a:extLst>
          </p:cNvPr>
          <p:cNvSpPr>
            <a:spLocks noGrp="1"/>
          </p:cNvSpPr>
          <p:nvPr/>
        </p:nvSpPr>
        <p:spPr>
          <a:xfrm>
            <a:off x="8924925" y="2657475"/>
            <a:ext cx="2657475" cy="992124"/>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F1 klasy dodatniej na pięciu foldach treningowych.</a:t>
            </a:r>
          </a:p>
        </p:txBody>
      </p:sp>
      <p:sp>
        <p:nvSpPr>
          <p:cNvPr id="8" name="text-7">
            <a:extLst>
              <a:ext uri="{FF2B5EF4-FFF2-40B4-BE49-F238E27FC236}">
                <a16:creationId xmlns:a16="http://schemas.microsoft.com/office/drawing/2014/main" id="{D18866EB-61D9-4DF7-94CC-391E268A4AF7}"/>
              </a:ext>
            </a:extLst>
          </p:cNvPr>
          <p:cNvSpPr>
            <a:spLocks noGrp="1"/>
          </p:cNvSpPr>
          <p:nvPr/>
        </p:nvSpPr>
        <p:spPr>
          <a:xfrm>
            <a:off x="8924925" y="3821049"/>
            <a:ext cx="2657475" cy="1294257"/>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Odchylenie między foldami opisuje zmienność, nie jest przedziałem ufności.</a:t>
            </a:r>
          </a:p>
        </p:txBody>
      </p:sp>
    </p:spTree>
    <p:extLst>
      <p:ext uri="{BB962C8B-B14F-4D97-AF65-F5344CB8AC3E}">
        <p14:creationId xmlns:p14="http://schemas.microsoft.com/office/powerpoint/2010/main" val="710606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4" name="text-0">
            <a:extLst>
              <a:ext uri="{FF2B5EF4-FFF2-40B4-BE49-F238E27FC236}">
                <a16:creationId xmlns:a16="http://schemas.microsoft.com/office/drawing/2014/main" id="{E677CD48-1D1C-4CC6-A1D0-BDA1F3C1896C}"/>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15E32866-8077-4029-854C-FB41373771CC}"/>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SVM: margines i funkcja jądra</a:t>
            </a:r>
          </a:p>
        </p:txBody>
      </p:sp>
      <p:sp>
        <p:nvSpPr>
          <p:cNvPr id="3" name="text-2">
            <a:extLst>
              <a:ext uri="{FF2B5EF4-FFF2-40B4-BE49-F238E27FC236}">
                <a16:creationId xmlns:a16="http://schemas.microsoft.com/office/drawing/2014/main" id="{AEC5319C-D8CB-486F-8DEA-B635A9C06C30}"/>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2A949625-5365-4248-A7E3-CFDA2965A34A}"/>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17</a:t>
            </a:r>
          </a:p>
        </p:txBody>
      </p:sp>
      <p:sp>
        <p:nvSpPr>
          <p:cNvPr id="5" name="text-4">
            <a:extLst>
              <a:ext uri="{FF2B5EF4-FFF2-40B4-BE49-F238E27FC236}">
                <a16:creationId xmlns:a16="http://schemas.microsoft.com/office/drawing/2014/main" id="{B3CDE6B0-22AD-495E-8CAA-273ECE146886}"/>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MARGINES</a:t>
            </a:r>
          </a:p>
        </p:txBody>
      </p:sp>
      <p:sp>
        <p:nvSpPr>
          <p:cNvPr id="6" name="text-5">
            <a:extLst>
              <a:ext uri="{FF2B5EF4-FFF2-40B4-BE49-F238E27FC236}">
                <a16:creationId xmlns:a16="http://schemas.microsoft.com/office/drawing/2014/main" id="{9E77FC98-0DB5-46A4-9024-DC02548D3092}"/>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Granica rozdziela klasy.</a:t>
            </a:r>
          </a:p>
        </p:txBody>
      </p:sp>
      <p:sp>
        <p:nvSpPr>
          <p:cNvPr id="7" name="text-6">
            <a:extLst>
              <a:ext uri="{FF2B5EF4-FFF2-40B4-BE49-F238E27FC236}">
                <a16:creationId xmlns:a16="http://schemas.microsoft.com/office/drawing/2014/main" id="{D627EEBD-042E-4F5A-BCB4-83107F8CAE4A}"/>
              </a:ext>
            </a:extLst>
          </p:cNvPr>
          <p:cNvSpPr>
            <a:spLocks noGrp="1"/>
          </p:cNvSpPr>
          <p:nvPr/>
        </p:nvSpPr>
        <p:spPr>
          <a:xfrm>
            <a:off x="609600" y="327069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Wektory nośne wyznaczają położenie granicy.</a:t>
            </a:r>
          </a:p>
        </p:txBody>
      </p:sp>
      <p:sp>
        <p:nvSpPr>
          <p:cNvPr id="8" name="text-7">
            <a:extLst>
              <a:ext uri="{FF2B5EF4-FFF2-40B4-BE49-F238E27FC236}">
                <a16:creationId xmlns:a16="http://schemas.microsoft.com/office/drawing/2014/main" id="{D970AC1E-C476-4A87-BAC9-123CE3A229D4}"/>
              </a:ext>
            </a:extLst>
          </p:cNvPr>
          <p:cNvSpPr>
            <a:spLocks noGrp="1"/>
          </p:cNvSpPr>
          <p:nvPr/>
        </p:nvSpPr>
        <p:spPr>
          <a:xfrm>
            <a:off x="609600" y="4201859"/>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C kontroluje karę za naruszenia marginesu.</a:t>
            </a:r>
          </a:p>
        </p:txBody>
      </p:sp>
      <p:sp>
        <p:nvSpPr>
          <p:cNvPr id="9" name="text-8">
            <a:extLst>
              <a:ext uri="{FF2B5EF4-FFF2-40B4-BE49-F238E27FC236}">
                <a16:creationId xmlns:a16="http://schemas.microsoft.com/office/drawing/2014/main" id="{CA10633C-93D8-4FD0-9560-BB6A985AF8B1}"/>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JĄDRO RBF</a:t>
            </a:r>
          </a:p>
        </p:txBody>
      </p:sp>
      <p:sp>
        <p:nvSpPr>
          <p:cNvPr id="10" name="text-9">
            <a:extLst>
              <a:ext uri="{FF2B5EF4-FFF2-40B4-BE49-F238E27FC236}">
                <a16:creationId xmlns:a16="http://schemas.microsoft.com/office/drawing/2014/main" id="{6C018BDC-CAD6-47E5-8BFC-687465509E3F}"/>
              </a:ext>
            </a:extLst>
          </p:cNvPr>
          <p:cNvSpPr>
            <a:spLocks noGrp="1"/>
          </p:cNvSpPr>
          <p:nvPr/>
        </p:nvSpPr>
        <p:spPr>
          <a:xfrm>
            <a:off x="6515100" y="267652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Podobieństwo zależy od odległości.</a:t>
            </a:r>
          </a:p>
        </p:txBody>
      </p:sp>
      <p:sp>
        <p:nvSpPr>
          <p:cNvPr id="11" name="text-10">
            <a:extLst>
              <a:ext uri="{FF2B5EF4-FFF2-40B4-BE49-F238E27FC236}">
                <a16:creationId xmlns:a16="http://schemas.microsoft.com/office/drawing/2014/main" id="{DD74340A-5B34-4121-ADB9-6CE0C7317106}"/>
              </a:ext>
            </a:extLst>
          </p:cNvPr>
          <p:cNvSpPr>
            <a:spLocks noGrp="1"/>
          </p:cNvSpPr>
          <p:nvPr/>
        </p:nvSpPr>
        <p:spPr>
          <a:xfrm>
            <a:off x="6515100" y="327069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Gamma kontroluje lokalność wpływu punktów.</a:t>
            </a:r>
          </a:p>
        </p:txBody>
      </p:sp>
      <p:sp>
        <p:nvSpPr>
          <p:cNvPr id="12" name="text-11">
            <a:extLst>
              <a:ext uri="{FF2B5EF4-FFF2-40B4-BE49-F238E27FC236}">
                <a16:creationId xmlns:a16="http://schemas.microsoft.com/office/drawing/2014/main" id="{342A149A-1E85-438F-BC44-0265B129B929}"/>
              </a:ext>
            </a:extLst>
          </p:cNvPr>
          <p:cNvSpPr>
            <a:spLocks noGrp="1"/>
          </p:cNvSpPr>
          <p:nvPr/>
        </p:nvSpPr>
        <p:spPr>
          <a:xfrm>
            <a:off x="6515100" y="4201859"/>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Skala cech zmienia geometrię problemu.</a:t>
            </a:r>
          </a:p>
        </p:txBody>
      </p:sp>
      <p:sp>
        <p:nvSpPr>
          <p:cNvPr id="13" name="text-12">
            <a:extLst>
              <a:ext uri="{FF2B5EF4-FFF2-40B4-BE49-F238E27FC236}">
                <a16:creationId xmlns:a16="http://schemas.microsoft.com/office/drawing/2014/main" id="{8EA95714-711B-4649-BCD3-042A6DE9B827}"/>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W praktyce stroimy C i gamma wspólnie wewnątrz pipeline.</a:t>
            </a:r>
          </a:p>
        </p:txBody>
      </p:sp>
    </p:spTree>
    <p:extLst>
      <p:ext uri="{BB962C8B-B14F-4D97-AF65-F5344CB8AC3E}">
        <p14:creationId xmlns:p14="http://schemas.microsoft.com/office/powerpoint/2010/main" val="1787785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5C0F558D-09D5-4C72-9B5E-964F841E1BB4}"/>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D9C8571C-6B8B-4626-A158-3F4CC0990AEC}"/>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C i gamma w SVC</a:t>
            </a:r>
          </a:p>
        </p:txBody>
      </p:sp>
      <p:sp>
        <p:nvSpPr>
          <p:cNvPr id="3" name="text-2">
            <a:extLst>
              <a:ext uri="{FF2B5EF4-FFF2-40B4-BE49-F238E27FC236}">
                <a16:creationId xmlns:a16="http://schemas.microsoft.com/office/drawing/2014/main" id="{59A45C4F-6CFB-437A-8CD1-D8A08E2B42D3}"/>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E0127B0B-F840-481A-9A84-0019543C2DBF}"/>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18</a:t>
            </a:r>
          </a:p>
        </p:txBody>
      </p:sp>
      <p:graphicFrame>
        <p:nvGraphicFramePr>
          <p:cNvPr id="11" name="Tabela 10"/>
          <p:cNvGraphicFramePr/>
          <p:nvPr/>
        </p:nvGraphicFramePr>
        <p:xfrm>
          <a:off x="609600" y="1971675"/>
          <a:ext cx="10972800"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85800">
                <a:tc>
                  <a:txBody>
                    <a:bodyPr/>
                    <a:lstStyle/>
                    <a:p>
                      <a:r>
                        <a:rPr sz="1725" b="1">
                          <a:solidFill>
                            <a:srgbClr val="FFFFFF"/>
                          </a:solidFill>
                          <a:latin typeface="Nimbus Sans"/>
                          <a:ea typeface="Nimbus Sans"/>
                          <a:cs typeface="Nimbus Sans"/>
                        </a:rPr>
                        <a:t>Ustawienie</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Typowy efekt</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Co obserwować</a:t>
                      </a:r>
                    </a:p>
                  </a:txBody>
                  <a:tcPr marL="133350" marR="114300" marT="123825" marB="104775" anchor="ctr">
                    <a:solidFill>
                      <a:srgbClr val="0B1426"/>
                    </a:solidFill>
                  </a:tcPr>
                </a:tc>
                <a:extLst>
                  <a:ext uri="{0D108BD9-81ED-4DB2-BD59-A6C34878D82A}">
                    <a16:rowId xmlns:a16="http://schemas.microsoft.com/office/drawing/2014/main" val="10000"/>
                  </a:ext>
                </a:extLst>
              </a:tr>
              <a:tr h="685800">
                <a:tc>
                  <a:txBody>
                    <a:bodyPr/>
                    <a:lstStyle/>
                    <a:p>
                      <a:r>
                        <a:rPr sz="1875" b="1">
                          <a:solidFill>
                            <a:srgbClr val="17243A"/>
                          </a:solidFill>
                          <a:latin typeface="Nimbus Sans"/>
                          <a:ea typeface="Nimbus Sans"/>
                          <a:cs typeface="Nimbus Sans"/>
                        </a:rPr>
                        <a:t>Małe C</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Silniejsza regularyzacja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Możliwy underfitting</a:t>
                      </a:r>
                    </a:p>
                  </a:txBody>
                  <a:tcPr marL="133350" marR="114300" marT="123825" marB="104775" anchor="ctr">
                    <a:solidFill>
                      <a:srgbClr val="FFFFFF"/>
                    </a:solidFill>
                  </a:tcPr>
                </a:tc>
                <a:extLst>
                  <a:ext uri="{0D108BD9-81ED-4DB2-BD59-A6C34878D82A}">
                    <a16:rowId xmlns:a16="http://schemas.microsoft.com/office/drawing/2014/main" val="10001"/>
                  </a:ext>
                </a:extLst>
              </a:tr>
              <a:tr h="685800">
                <a:tc>
                  <a:txBody>
                    <a:bodyPr/>
                    <a:lstStyle/>
                    <a:p>
                      <a:r>
                        <a:rPr sz="1875" b="1">
                          <a:solidFill>
                            <a:srgbClr val="17243A"/>
                          </a:solidFill>
                          <a:latin typeface="Nimbus Sans"/>
                          <a:ea typeface="Nimbus Sans"/>
                          <a:cs typeface="Nimbus Sans"/>
                        </a:rPr>
                        <a:t>Duże C</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Większa presja na dopasowanie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Wrażliwość na szum</a:t>
                      </a:r>
                    </a:p>
                  </a:txBody>
                  <a:tcPr marL="133350" marR="114300" marT="123825" marB="104775" anchor="ctr">
                    <a:solidFill>
                      <a:srgbClr val="E9EFED"/>
                    </a:solidFill>
                  </a:tcPr>
                </a:tc>
                <a:extLst>
                  <a:ext uri="{0D108BD9-81ED-4DB2-BD59-A6C34878D82A}">
                    <a16:rowId xmlns:a16="http://schemas.microsoft.com/office/drawing/2014/main" val="10002"/>
                  </a:ext>
                </a:extLst>
              </a:tr>
              <a:tr h="685800">
                <a:tc>
                  <a:txBody>
                    <a:bodyPr/>
                    <a:lstStyle/>
                    <a:p>
                      <a:r>
                        <a:rPr sz="1875" b="1">
                          <a:solidFill>
                            <a:srgbClr val="17243A"/>
                          </a:solidFill>
                          <a:latin typeface="Nimbus Sans"/>
                          <a:ea typeface="Nimbus Sans"/>
                          <a:cs typeface="Nimbus Sans"/>
                        </a:rPr>
                        <a:t>Mała gamma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Gładsza zależność w RBF</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Zbyt prosta granica</a:t>
                      </a:r>
                    </a:p>
                  </a:txBody>
                  <a:tcPr marL="133350" marR="114300" marT="123825" marB="104775" anchor="ctr">
                    <a:solidFill>
                      <a:srgbClr val="FFFFFF"/>
                    </a:solidFill>
                  </a:tcPr>
                </a:tc>
                <a:extLst>
                  <a:ext uri="{0D108BD9-81ED-4DB2-BD59-A6C34878D82A}">
                    <a16:rowId xmlns:a16="http://schemas.microsoft.com/office/drawing/2014/main" val="10003"/>
                  </a:ext>
                </a:extLst>
              </a:tr>
              <a:tr h="685800">
                <a:tc>
                  <a:txBody>
                    <a:bodyPr/>
                    <a:lstStyle/>
                    <a:p>
                      <a:r>
                        <a:rPr sz="1875" b="1">
                          <a:solidFill>
                            <a:srgbClr val="17243A"/>
                          </a:solidFill>
                          <a:latin typeface="Nimbus Sans"/>
                          <a:ea typeface="Nimbus Sans"/>
                          <a:cs typeface="Nimbus Sans"/>
                        </a:rPr>
                        <a:t>Duża gamma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Bardziej lokalne dopasowanie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Ryzyko przeuczenia</a:t>
                      </a:r>
                    </a:p>
                  </a:txBody>
                  <a:tcPr marL="133350" marR="114300" marT="123825" marB="104775" anchor="ctr">
                    <a:solidFill>
                      <a:srgbClr val="E9EFED"/>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10CFD512-CB12-478E-86BB-1BA81A10296C}"/>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To tendencje. Wynik zależy od danych i kombinacji parametrów.</a:t>
            </a:r>
          </a:p>
        </p:txBody>
      </p:sp>
    </p:spTree>
    <p:extLst>
      <p:ext uri="{BB962C8B-B14F-4D97-AF65-F5344CB8AC3E}">
        <p14:creationId xmlns:p14="http://schemas.microsoft.com/office/powerpoint/2010/main" val="8946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E7756D01-0C82-41F8-A3D5-2931E51334B8}"/>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34C1A736-9733-4A1E-862F-F6E0BF9ECEF3}"/>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SVR i strefa tolerancji</a:t>
            </a:r>
          </a:p>
        </p:txBody>
      </p:sp>
      <p:sp>
        <p:nvSpPr>
          <p:cNvPr id="3" name="text-2">
            <a:extLst>
              <a:ext uri="{FF2B5EF4-FFF2-40B4-BE49-F238E27FC236}">
                <a16:creationId xmlns:a16="http://schemas.microsoft.com/office/drawing/2014/main" id="{7E583D14-2FEB-4300-BD12-0898FA2608C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57C35599-E340-46C2-BB47-4C7793C8408C}"/>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19</a:t>
            </a:r>
          </a:p>
        </p:txBody>
      </p:sp>
      <p:sp>
        <p:nvSpPr>
          <p:cNvPr id="5" name="text-4">
            <a:extLst>
              <a:ext uri="{FF2B5EF4-FFF2-40B4-BE49-F238E27FC236}">
                <a16:creationId xmlns:a16="http://schemas.microsoft.com/office/drawing/2014/main" id="{E70C2768-BDB9-41EE-857B-88B2315D3322}"/>
              </a:ext>
            </a:extLst>
          </p:cNvPr>
          <p:cNvSpPr>
            <a:spLocks noGrp="1"/>
          </p:cNvSpPr>
          <p:nvPr/>
        </p:nvSpPr>
        <p:spPr>
          <a:xfrm>
            <a:off x="609600" y="1952625"/>
            <a:ext cx="10972800" cy="685800"/>
          </a:xfrm>
          <a:prstGeom prst="rect">
            <a:avLst/>
          </a:prstGeom>
          <a:noFill/>
          <a:ln w="0">
            <a:noFill/>
          </a:ln>
        </p:spPr>
        <p:txBody>
          <a:bodyPr wrap="square" lIns="0" tIns="0" rIns="0" bIns="0" anchor="t">
            <a:noAutofit/>
          </a:bodyPr>
          <a:lstStyle/>
          <a:p>
            <a:pPr>
              <a:defRPr sz="3225" b="1">
                <a:solidFill>
                  <a:srgbClr val="007F7A"/>
                </a:solidFill>
                <a:latin typeface="Nimbus Sans"/>
                <a:ea typeface="Nimbus Sans"/>
                <a:cs typeface="Nimbus Sans"/>
              </a:defRPr>
            </a:pPr>
            <a:r>
              <a:rPr sz="3225" b="1">
                <a:solidFill>
                  <a:srgbClr val="007F7A"/>
                </a:solidFill>
                <a:latin typeface="Nimbus Sans"/>
                <a:ea typeface="Nimbus Sans"/>
                <a:cs typeface="Nimbus Sans"/>
              </a:rPr>
              <a:t>|y − ŷ| ≤ ε</a:t>
            </a:r>
          </a:p>
        </p:txBody>
      </p:sp>
      <p:sp>
        <p:nvSpPr>
          <p:cNvPr id="6" name="text-5">
            <a:extLst>
              <a:ext uri="{FF2B5EF4-FFF2-40B4-BE49-F238E27FC236}">
                <a16:creationId xmlns:a16="http://schemas.microsoft.com/office/drawing/2014/main" id="{D4FE2439-CD83-47BD-AD93-DFA52726BA04}"/>
              </a:ext>
            </a:extLst>
          </p:cNvPr>
          <p:cNvSpPr>
            <a:spLocks noGrp="1"/>
          </p:cNvSpPr>
          <p:nvPr/>
        </p:nvSpPr>
        <p:spPr>
          <a:xfrm>
            <a:off x="628650" y="2924175"/>
            <a:ext cx="10953750" cy="723900"/>
          </a:xfrm>
          <a:prstGeom prst="rect">
            <a:avLst/>
          </a:prstGeom>
          <a:noFill/>
          <a:ln w="0">
            <a:noFill/>
          </a:ln>
        </p:spPr>
        <p:txBody>
          <a:bodyPr wrap="square" lIns="0" tIns="0" rIns="0" bIns="0" anchor="t">
            <a:noAutofit/>
          </a:bodyPr>
          <a:lstStyle/>
          <a:p>
            <a:pPr>
              <a:defRPr sz="2100" b="0">
                <a:solidFill>
                  <a:srgbClr val="586779"/>
                </a:solidFill>
                <a:latin typeface="Nimbus Sans"/>
                <a:ea typeface="Nimbus Sans"/>
                <a:cs typeface="Nimbus Sans"/>
              </a:defRPr>
            </a:pPr>
            <a:r>
              <a:rPr sz="2100" b="0">
                <a:solidFill>
                  <a:srgbClr val="586779"/>
                </a:solidFill>
                <a:latin typeface="Nimbus Sans"/>
                <a:ea typeface="Nimbus Sans"/>
                <a:cs typeface="Nimbus Sans"/>
              </a:rPr>
              <a:t>Błąd wewnątrz tunelu ε nie zwiększa straty ε-insensitive</a:t>
            </a:r>
          </a:p>
        </p:txBody>
      </p:sp>
      <p:sp>
        <p:nvSpPr>
          <p:cNvPr id="7" name="text-6">
            <a:extLst>
              <a:ext uri="{FF2B5EF4-FFF2-40B4-BE49-F238E27FC236}">
                <a16:creationId xmlns:a16="http://schemas.microsoft.com/office/drawing/2014/main" id="{BF0182E2-2CCB-40FF-AF5C-6E72D220C52B}"/>
              </a:ext>
            </a:extLst>
          </p:cNvPr>
          <p:cNvSpPr>
            <a:spLocks noGrp="1"/>
          </p:cNvSpPr>
          <p:nvPr/>
        </p:nvSpPr>
        <p:spPr>
          <a:xfrm>
            <a:off x="628650"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Epsilon</a:t>
            </a:r>
          </a:p>
        </p:txBody>
      </p:sp>
      <p:sp>
        <p:nvSpPr>
          <p:cNvPr id="8" name="text-7">
            <a:extLst>
              <a:ext uri="{FF2B5EF4-FFF2-40B4-BE49-F238E27FC236}">
                <a16:creationId xmlns:a16="http://schemas.microsoft.com/office/drawing/2014/main" id="{5726E1B8-9D80-4BDE-95CC-A44D13CC466A}"/>
              </a:ext>
            </a:extLst>
          </p:cNvPr>
          <p:cNvSpPr>
            <a:spLocks noGrp="1"/>
          </p:cNvSpPr>
          <p:nvPr/>
        </p:nvSpPr>
        <p:spPr>
          <a:xfrm>
            <a:off x="628650"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Określa szerokość strefy tolerancji.</a:t>
            </a:r>
          </a:p>
        </p:txBody>
      </p:sp>
      <p:sp>
        <p:nvSpPr>
          <p:cNvPr id="9" name="text-8">
            <a:extLst>
              <a:ext uri="{FF2B5EF4-FFF2-40B4-BE49-F238E27FC236}">
                <a16:creationId xmlns:a16="http://schemas.microsoft.com/office/drawing/2014/main" id="{F699B9B8-4889-4446-ABCA-90980ED2D6D8}"/>
              </a:ext>
            </a:extLst>
          </p:cNvPr>
          <p:cNvSpPr>
            <a:spLocks noGrp="1"/>
          </p:cNvSpPr>
          <p:nvPr/>
        </p:nvSpPr>
        <p:spPr>
          <a:xfrm>
            <a:off x="6505575"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C i skala celu</a:t>
            </a:r>
          </a:p>
        </p:txBody>
      </p:sp>
      <p:sp>
        <p:nvSpPr>
          <p:cNvPr id="10" name="text-9">
            <a:extLst>
              <a:ext uri="{FF2B5EF4-FFF2-40B4-BE49-F238E27FC236}">
                <a16:creationId xmlns:a16="http://schemas.microsoft.com/office/drawing/2014/main" id="{30977577-6ECA-4854-83C4-6F4BAE01F322}"/>
              </a:ext>
            </a:extLst>
          </p:cNvPr>
          <p:cNvSpPr>
            <a:spLocks noGrp="1"/>
          </p:cNvSpPr>
          <p:nvPr/>
        </p:nvSpPr>
        <p:spPr>
          <a:xfrm>
            <a:off x="6505575"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Kara zależy od skali y. Dobór parametrów uwzględnia jednostki.</a:t>
            </a:r>
          </a:p>
        </p:txBody>
      </p:sp>
    </p:spTree>
    <p:extLst>
      <p:ext uri="{BB962C8B-B14F-4D97-AF65-F5344CB8AC3E}">
        <p14:creationId xmlns:p14="http://schemas.microsoft.com/office/powerpoint/2010/main" val="211336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C72A34E5-47C1-4214-A06C-E713694606BC}"/>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A178AE45-44CF-45AA-9BC3-593068FEE257}"/>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20</a:t>
            </a:r>
          </a:p>
        </p:txBody>
      </p:sp>
      <p:sp>
        <p:nvSpPr>
          <p:cNvPr id="3" name="text-2">
            <a:extLst>
              <a:ext uri="{FF2B5EF4-FFF2-40B4-BE49-F238E27FC236}">
                <a16:creationId xmlns:a16="http://schemas.microsoft.com/office/drawing/2014/main" id="{C0AA9629-2B68-4A85-A2F6-02404216B0B5}"/>
              </a:ext>
            </a:extLst>
          </p:cNvPr>
          <p:cNvSpPr>
            <a:spLocks noGrp="1"/>
          </p:cNvSpPr>
          <p:nvPr/>
        </p:nvSpPr>
        <p:spPr>
          <a:xfrm>
            <a:off x="609600" y="400050"/>
            <a:ext cx="10477500" cy="28575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LABORATORIUM 01  /  45 MIN</a:t>
            </a:r>
          </a:p>
        </p:txBody>
      </p:sp>
      <p:sp>
        <p:nvSpPr>
          <p:cNvPr id="4" name="text-3">
            <a:extLst>
              <a:ext uri="{FF2B5EF4-FFF2-40B4-BE49-F238E27FC236}">
                <a16:creationId xmlns:a16="http://schemas.microsoft.com/office/drawing/2014/main" id="{B700AFC9-1A92-4F68-B1EF-6951CF8A0C8F}"/>
              </a:ext>
            </a:extLst>
          </p:cNvPr>
          <p:cNvSpPr>
            <a:spLocks noGrp="1"/>
          </p:cNvSpPr>
          <p:nvPr/>
        </p:nvSpPr>
        <p:spPr>
          <a:xfrm>
            <a:off x="609600" y="971550"/>
            <a:ext cx="10972800" cy="1000125"/>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Logistic Regression kontra SVM</a:t>
            </a:r>
          </a:p>
        </p:txBody>
      </p:sp>
      <p:sp>
        <p:nvSpPr>
          <p:cNvPr id="5" name="text-4">
            <a:extLst>
              <a:ext uri="{FF2B5EF4-FFF2-40B4-BE49-F238E27FC236}">
                <a16:creationId xmlns:a16="http://schemas.microsoft.com/office/drawing/2014/main" id="{69719E13-0EFF-4AB4-A47B-A26CD4CCA034}"/>
              </a:ext>
            </a:extLst>
          </p:cNvPr>
          <p:cNvSpPr>
            <a:spLocks noGrp="1"/>
          </p:cNvSpPr>
          <p:nvPr/>
        </p:nvSpPr>
        <p:spPr>
          <a:xfrm>
            <a:off x="609600" y="23145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01</a:t>
            </a:r>
          </a:p>
        </p:txBody>
      </p:sp>
      <p:sp>
        <p:nvSpPr>
          <p:cNvPr id="6" name="text-5">
            <a:extLst>
              <a:ext uri="{FF2B5EF4-FFF2-40B4-BE49-F238E27FC236}">
                <a16:creationId xmlns:a16="http://schemas.microsoft.com/office/drawing/2014/main" id="{4138EC66-72CC-4192-88B4-423740A9B377}"/>
              </a:ext>
            </a:extLst>
          </p:cNvPr>
          <p:cNvSpPr>
            <a:spLocks noGrp="1"/>
          </p:cNvSpPr>
          <p:nvPr/>
        </p:nvSpPr>
        <p:spPr>
          <a:xfrm>
            <a:off x="1485900" y="22764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Uruchom wspólny zbiór i pipeline logistyczny.</a:t>
            </a:r>
          </a:p>
        </p:txBody>
      </p:sp>
      <p:sp>
        <p:nvSpPr>
          <p:cNvPr id="7" name="text-6">
            <a:extLst>
              <a:ext uri="{FF2B5EF4-FFF2-40B4-BE49-F238E27FC236}">
                <a16:creationId xmlns:a16="http://schemas.microsoft.com/office/drawing/2014/main" id="{1567FE35-E6E1-4780-9C37-59034BCB5033}"/>
              </a:ext>
            </a:extLst>
          </p:cNvPr>
          <p:cNvSpPr>
            <a:spLocks noGrp="1"/>
          </p:cNvSpPr>
          <p:nvPr/>
        </p:nvSpPr>
        <p:spPr>
          <a:xfrm>
            <a:off x="609600" y="31527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02</a:t>
            </a:r>
          </a:p>
        </p:txBody>
      </p:sp>
      <p:sp>
        <p:nvSpPr>
          <p:cNvPr id="8" name="text-7">
            <a:extLst>
              <a:ext uri="{FF2B5EF4-FFF2-40B4-BE49-F238E27FC236}">
                <a16:creationId xmlns:a16="http://schemas.microsoft.com/office/drawing/2014/main" id="{2CE6D3C4-BECF-4040-9DEA-848027A0CFD3}"/>
              </a:ext>
            </a:extLst>
          </p:cNvPr>
          <p:cNvSpPr>
            <a:spLocks noGrp="1"/>
          </p:cNvSpPr>
          <p:nvPr/>
        </p:nvSpPr>
        <p:spPr>
          <a:xfrm>
            <a:off x="1485900" y="31146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Zbuduj StandardScaler + SVC z jądrem RBF.</a:t>
            </a:r>
          </a:p>
        </p:txBody>
      </p:sp>
      <p:sp>
        <p:nvSpPr>
          <p:cNvPr id="9" name="text-8">
            <a:extLst>
              <a:ext uri="{FF2B5EF4-FFF2-40B4-BE49-F238E27FC236}">
                <a16:creationId xmlns:a16="http://schemas.microsoft.com/office/drawing/2014/main" id="{6C52ECC0-A4C0-4F45-97BC-BD2516255906}"/>
              </a:ext>
            </a:extLst>
          </p:cNvPr>
          <p:cNvSpPr>
            <a:spLocks noGrp="1"/>
          </p:cNvSpPr>
          <p:nvPr/>
        </p:nvSpPr>
        <p:spPr>
          <a:xfrm>
            <a:off x="609600" y="39909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03</a:t>
            </a:r>
          </a:p>
        </p:txBody>
      </p:sp>
      <p:sp>
        <p:nvSpPr>
          <p:cNvPr id="10" name="text-9">
            <a:extLst>
              <a:ext uri="{FF2B5EF4-FFF2-40B4-BE49-F238E27FC236}">
                <a16:creationId xmlns:a16="http://schemas.microsoft.com/office/drawing/2014/main" id="{A07446E3-9EFC-4498-8B28-9AE9A105A76A}"/>
              </a:ext>
            </a:extLst>
          </p:cNvPr>
          <p:cNvSpPr>
            <a:spLocks noGrp="1"/>
          </p:cNvSpPr>
          <p:nvPr/>
        </p:nvSpPr>
        <p:spPr>
          <a:xfrm>
            <a:off x="1485900" y="39528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Porównaj F1 w identycznej walidacji 5-fold.</a:t>
            </a:r>
          </a:p>
        </p:txBody>
      </p:sp>
      <p:sp>
        <p:nvSpPr>
          <p:cNvPr id="11" name="text-10">
            <a:extLst>
              <a:ext uri="{FF2B5EF4-FFF2-40B4-BE49-F238E27FC236}">
                <a16:creationId xmlns:a16="http://schemas.microsoft.com/office/drawing/2014/main" id="{3E923E54-D43F-47C5-B873-45BAFA33A5AB}"/>
              </a:ext>
            </a:extLst>
          </p:cNvPr>
          <p:cNvSpPr>
            <a:spLocks noGrp="1"/>
          </p:cNvSpPr>
          <p:nvPr/>
        </p:nvSpPr>
        <p:spPr>
          <a:xfrm>
            <a:off x="609600" y="48291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04</a:t>
            </a:r>
          </a:p>
        </p:txBody>
      </p:sp>
      <p:sp>
        <p:nvSpPr>
          <p:cNvPr id="12" name="text-11">
            <a:extLst>
              <a:ext uri="{FF2B5EF4-FFF2-40B4-BE49-F238E27FC236}">
                <a16:creationId xmlns:a16="http://schemas.microsoft.com/office/drawing/2014/main" id="{381D2B7B-74A8-413B-9864-C056B090CFDE}"/>
              </a:ext>
            </a:extLst>
          </p:cNvPr>
          <p:cNvSpPr>
            <a:spLocks noGrp="1"/>
          </p:cNvSpPr>
          <p:nvPr/>
        </p:nvSpPr>
        <p:spPr>
          <a:xfrm>
            <a:off x="1485900" y="47910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Zmień C i gamma. Zapisz czas oraz wynik.</a:t>
            </a:r>
          </a:p>
        </p:txBody>
      </p:sp>
      <p:sp>
        <p:nvSpPr>
          <p:cNvPr id="13" name="text-12">
            <a:extLst>
              <a:ext uri="{FF2B5EF4-FFF2-40B4-BE49-F238E27FC236}">
                <a16:creationId xmlns:a16="http://schemas.microsoft.com/office/drawing/2014/main" id="{3B17F490-349F-4A25-9E56-73B0931510A4}"/>
              </a:ext>
            </a:extLst>
          </p:cNvPr>
          <p:cNvSpPr>
            <a:spLocks noGrp="1"/>
          </p:cNvSpPr>
          <p:nvPr/>
        </p:nvSpPr>
        <p:spPr>
          <a:xfrm>
            <a:off x="609600" y="5848350"/>
            <a:ext cx="1371600" cy="257175"/>
          </a:xfrm>
          <a:prstGeom prst="rect">
            <a:avLst/>
          </a:prstGeom>
          <a:noFill/>
          <a:ln w="0">
            <a:noFill/>
          </a:ln>
        </p:spPr>
        <p:txBody>
          <a:bodyPr wrap="square" lIns="0" tIns="0" rIns="0" bIns="0" anchor="t">
            <a:noAutofit/>
          </a:bodyPr>
          <a:lstStyle/>
          <a:p>
            <a:pPr>
              <a:defRPr sz="1200" b="1">
                <a:solidFill>
                  <a:srgbClr val="62DCCB"/>
                </a:solidFill>
                <a:latin typeface="Nimbus Sans"/>
                <a:ea typeface="Nimbus Sans"/>
                <a:cs typeface="Nimbus Sans"/>
              </a:defRPr>
            </a:pPr>
            <a:r>
              <a:rPr sz="1200" b="1">
                <a:solidFill>
                  <a:srgbClr val="62DCCB"/>
                </a:solidFill>
                <a:latin typeface="Nimbus Sans"/>
                <a:ea typeface="Nimbus Sans"/>
                <a:cs typeface="Nimbus Sans"/>
              </a:rPr>
              <a:t>REZULTAT</a:t>
            </a:r>
          </a:p>
        </p:txBody>
      </p:sp>
      <p:sp>
        <p:nvSpPr>
          <p:cNvPr id="14" name="text-13">
            <a:extLst>
              <a:ext uri="{FF2B5EF4-FFF2-40B4-BE49-F238E27FC236}">
                <a16:creationId xmlns:a16="http://schemas.microsoft.com/office/drawing/2014/main" id="{82A4CD48-E67F-4715-98C5-CFA79EF5491A}"/>
              </a:ext>
            </a:extLst>
          </p:cNvPr>
          <p:cNvSpPr>
            <a:spLocks noGrp="1"/>
          </p:cNvSpPr>
          <p:nvPr/>
        </p:nvSpPr>
        <p:spPr>
          <a:xfrm>
            <a:off x="2057400" y="5791200"/>
            <a:ext cx="9525000" cy="457200"/>
          </a:xfrm>
          <a:prstGeom prst="rect">
            <a:avLst/>
          </a:prstGeom>
          <a:noFill/>
          <a:ln w="0">
            <a:noFill/>
          </a:ln>
        </p:spPr>
        <p:txBody>
          <a:bodyPr wrap="square" lIns="0" tIns="0" rIns="0" bIns="0" anchor="t">
            <a:noAutofit/>
          </a:bodyPr>
          <a:lstStyle/>
          <a:p>
            <a:pPr>
              <a:defRPr sz="1800" b="0">
                <a:solidFill>
                  <a:srgbClr val="D7E3E8"/>
                </a:solidFill>
                <a:latin typeface="Nimbus Sans"/>
                <a:ea typeface="Nimbus Sans"/>
                <a:cs typeface="Nimbus Sans"/>
              </a:defRPr>
            </a:pPr>
            <a:r>
              <a:rPr sz="1800" b="0">
                <a:solidFill>
                  <a:srgbClr val="D7E3E8"/>
                </a:solidFill>
                <a:latin typeface="Nimbus Sans"/>
                <a:ea typeface="Nimbus Sans"/>
                <a:cs typeface="Nimbus Sans"/>
              </a:rPr>
              <a:t>Tabela wyników i uzasadnienie wyboru modelu w 3 zdaniach.</a:t>
            </a:r>
          </a:p>
        </p:txBody>
      </p:sp>
    </p:spTree>
    <p:extLst>
      <p:ext uri="{BB962C8B-B14F-4D97-AF65-F5344CB8AC3E}">
        <p14:creationId xmlns:p14="http://schemas.microsoft.com/office/powerpoint/2010/main" val="2065583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8" name="text-0">
            <a:extLst>
              <a:ext uri="{FF2B5EF4-FFF2-40B4-BE49-F238E27FC236}">
                <a16:creationId xmlns:a16="http://schemas.microsoft.com/office/drawing/2014/main" id="{24207C53-D3E3-4C61-BEBA-DD254FEF3C4B}"/>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7AE2F886-B82E-4783-99BF-9CE456310FD3}"/>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k-means: centroidy i odległości</a:t>
            </a:r>
          </a:p>
        </p:txBody>
      </p:sp>
      <p:sp>
        <p:nvSpPr>
          <p:cNvPr id="3" name="text-2">
            <a:extLst>
              <a:ext uri="{FF2B5EF4-FFF2-40B4-BE49-F238E27FC236}">
                <a16:creationId xmlns:a16="http://schemas.microsoft.com/office/drawing/2014/main" id="{A3C1A493-5AD3-4F02-874B-32DC7038F54E}"/>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15D8D698-3062-4AA8-AB44-DA97B073F7EA}"/>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21</a:t>
            </a:r>
          </a:p>
        </p:txBody>
      </p:sp>
      <p:sp>
        <p:nvSpPr>
          <p:cNvPr id="5" name="text-4">
            <a:extLst>
              <a:ext uri="{FF2B5EF4-FFF2-40B4-BE49-F238E27FC236}">
                <a16:creationId xmlns:a16="http://schemas.microsoft.com/office/drawing/2014/main" id="{9F4D85C6-F522-416B-BF60-2B3BEF1F7F45}"/>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9CCD1BAD-F6E1-4947-A4DB-B7BE09B2F06D}"/>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Inicjalizacja</a:t>
            </a:r>
          </a:p>
        </p:txBody>
      </p:sp>
      <p:sp>
        <p:nvSpPr>
          <p:cNvPr id="7" name="text-6">
            <a:extLst>
              <a:ext uri="{FF2B5EF4-FFF2-40B4-BE49-F238E27FC236}">
                <a16:creationId xmlns:a16="http://schemas.microsoft.com/office/drawing/2014/main" id="{D12CC2BF-7FA4-4915-B0D7-3A4823B2E435}"/>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Wybieramy k początkowych centroidów.</a:t>
            </a:r>
          </a:p>
        </p:txBody>
      </p:sp>
      <p:sp>
        <p:nvSpPr>
          <p:cNvPr id="8" name="text-7">
            <a:extLst>
              <a:ext uri="{FF2B5EF4-FFF2-40B4-BE49-F238E27FC236}">
                <a16:creationId xmlns:a16="http://schemas.microsoft.com/office/drawing/2014/main" id="{46D009D1-3810-4154-B1A1-929D74CDBB2F}"/>
              </a:ext>
            </a:extLst>
          </p:cNvPr>
          <p:cNvSpPr>
            <a:spLocks noGrp="1"/>
          </p:cNvSpPr>
          <p:nvPr/>
        </p:nvSpPr>
        <p:spPr>
          <a:xfrm>
            <a:off x="609600" y="29432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9E58F985-1F80-4864-BCF0-9C7D1A5B0348}"/>
              </a:ext>
            </a:extLst>
          </p:cNvPr>
          <p:cNvSpPr>
            <a:spLocks noGrp="1"/>
          </p:cNvSpPr>
          <p:nvPr/>
        </p:nvSpPr>
        <p:spPr>
          <a:xfrm>
            <a:off x="1562100" y="29432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Przypisanie</a:t>
            </a:r>
          </a:p>
        </p:txBody>
      </p:sp>
      <p:sp>
        <p:nvSpPr>
          <p:cNvPr id="10" name="text-9">
            <a:extLst>
              <a:ext uri="{FF2B5EF4-FFF2-40B4-BE49-F238E27FC236}">
                <a16:creationId xmlns:a16="http://schemas.microsoft.com/office/drawing/2014/main" id="{4208C3F6-AB3E-4A28-BFDA-3CC960CDF676}"/>
              </a:ext>
            </a:extLst>
          </p:cNvPr>
          <p:cNvSpPr>
            <a:spLocks noGrp="1"/>
          </p:cNvSpPr>
          <p:nvPr/>
        </p:nvSpPr>
        <p:spPr>
          <a:xfrm>
            <a:off x="1562100" y="33147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Każdy punkt trafia do najbliższego centroidu.</a:t>
            </a:r>
          </a:p>
        </p:txBody>
      </p:sp>
      <p:sp>
        <p:nvSpPr>
          <p:cNvPr id="11" name="text-10">
            <a:extLst>
              <a:ext uri="{FF2B5EF4-FFF2-40B4-BE49-F238E27FC236}">
                <a16:creationId xmlns:a16="http://schemas.microsoft.com/office/drawing/2014/main" id="{52967824-FEB2-4671-A2CB-88C8D7778691}"/>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027BBD2D-7750-4949-81CB-FD0D78C6A982}"/>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Aktualizacja</a:t>
            </a:r>
          </a:p>
        </p:txBody>
      </p:sp>
      <p:sp>
        <p:nvSpPr>
          <p:cNvPr id="13" name="text-12">
            <a:extLst>
              <a:ext uri="{FF2B5EF4-FFF2-40B4-BE49-F238E27FC236}">
                <a16:creationId xmlns:a16="http://schemas.microsoft.com/office/drawing/2014/main" id="{1EF93958-8FDF-4577-9C80-6AA71DBF249E}"/>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Centroid staje się średnią punktów w klastrze.</a:t>
            </a:r>
          </a:p>
        </p:txBody>
      </p:sp>
      <p:sp>
        <p:nvSpPr>
          <p:cNvPr id="14" name="text-13">
            <a:extLst>
              <a:ext uri="{FF2B5EF4-FFF2-40B4-BE49-F238E27FC236}">
                <a16:creationId xmlns:a16="http://schemas.microsoft.com/office/drawing/2014/main" id="{906ABAAC-5D4C-4B44-A24C-9CC20ABE1CF0}"/>
              </a:ext>
            </a:extLst>
          </p:cNvPr>
          <p:cNvSpPr>
            <a:spLocks noGrp="1"/>
          </p:cNvSpPr>
          <p:nvPr/>
        </p:nvSpPr>
        <p:spPr>
          <a:xfrm>
            <a:off x="609600" y="50006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6380B19B-98D0-47B3-B9A5-164BEFDA47CA}"/>
              </a:ext>
            </a:extLst>
          </p:cNvPr>
          <p:cNvSpPr>
            <a:spLocks noGrp="1"/>
          </p:cNvSpPr>
          <p:nvPr/>
        </p:nvSpPr>
        <p:spPr>
          <a:xfrm>
            <a:off x="1562100" y="50006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Powtórzenie</a:t>
            </a:r>
          </a:p>
        </p:txBody>
      </p:sp>
      <p:sp>
        <p:nvSpPr>
          <p:cNvPr id="16" name="text-15">
            <a:extLst>
              <a:ext uri="{FF2B5EF4-FFF2-40B4-BE49-F238E27FC236}">
                <a16:creationId xmlns:a16="http://schemas.microsoft.com/office/drawing/2014/main" id="{0779D57D-D7EB-4BF4-8544-800B49D383E8}"/>
              </a:ext>
            </a:extLst>
          </p:cNvPr>
          <p:cNvSpPr>
            <a:spLocks noGrp="1"/>
          </p:cNvSpPr>
          <p:nvPr/>
        </p:nvSpPr>
        <p:spPr>
          <a:xfrm>
            <a:off x="1562100" y="53721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Algorytm zmniejsza sumę kwadratów odległości w klastrach.</a:t>
            </a:r>
          </a:p>
        </p:txBody>
      </p:sp>
      <p:sp>
        <p:nvSpPr>
          <p:cNvPr id="17" name="text-16">
            <a:extLst>
              <a:ext uri="{FF2B5EF4-FFF2-40B4-BE49-F238E27FC236}">
                <a16:creationId xmlns:a16="http://schemas.microsoft.com/office/drawing/2014/main" id="{A937439E-6348-4CC8-B6FE-665CE8CCA233}"/>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Przed grupowaniem sprawdzamy skalę i sens metryki odległości.</a:t>
            </a:r>
          </a:p>
        </p:txBody>
      </p:sp>
    </p:spTree>
    <p:extLst>
      <p:ext uri="{BB962C8B-B14F-4D97-AF65-F5344CB8AC3E}">
        <p14:creationId xmlns:p14="http://schemas.microsoft.com/office/powerpoint/2010/main" val="719606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BEC7E249-4088-4CF0-B641-3FF1DA742265}"/>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0189642C-F4A1-4522-A1DA-B6D89206E18A}"/>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Liczba klastrów i koszt dopasowania</a:t>
            </a:r>
          </a:p>
        </p:txBody>
      </p:sp>
      <p:sp>
        <p:nvSpPr>
          <p:cNvPr id="3" name="text-2">
            <a:extLst>
              <a:ext uri="{FF2B5EF4-FFF2-40B4-BE49-F238E27FC236}">
                <a16:creationId xmlns:a16="http://schemas.microsoft.com/office/drawing/2014/main" id="{57D90BC6-5529-49D5-B49C-B9DBD4EDB724}"/>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9F814F4A-2C37-4B1B-B2BA-BAFE48394545}"/>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22</a:t>
            </a:r>
          </a:p>
        </p:txBody>
      </p:sp>
      <p:graphicFrame>
        <p:nvGraphicFramePr>
          <p:cNvPr id="14" name="Chart"/>
          <p:cNvGraphicFramePr/>
          <p:nvPr/>
        </p:nvGraphicFramePr>
        <p:xfrm>
          <a:off x="542925" y="1924050"/>
          <a:ext cx="7648575" cy="39719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
            <a:extLst>
              <a:ext uri="{FF2B5EF4-FFF2-40B4-BE49-F238E27FC236}">
                <a16:creationId xmlns:a16="http://schemas.microsoft.com/office/drawing/2014/main" id="{85D17698-D22D-4795-840F-C0B8B03BBCB5}"/>
              </a:ext>
            </a:extLst>
          </p:cNvPr>
          <p:cNvSpPr>
            <a:spLocks noGrp="1"/>
          </p:cNvSpPr>
          <p:nvPr/>
        </p:nvSpPr>
        <p:spPr>
          <a:xfrm>
            <a:off x="8591550" y="2133600"/>
            <a:ext cx="29908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Gdzie jest „łokieć”?</a:t>
            </a:r>
          </a:p>
        </p:txBody>
      </p:sp>
      <p:sp>
        <p:nvSpPr>
          <p:cNvPr id="7" name="text-5">
            <a:extLst>
              <a:ext uri="{FF2B5EF4-FFF2-40B4-BE49-F238E27FC236}">
                <a16:creationId xmlns:a16="http://schemas.microsoft.com/office/drawing/2014/main" id="{763218EF-13DA-4253-879D-C6F74D37D42F}"/>
              </a:ext>
            </a:extLst>
          </p:cNvPr>
          <p:cNvSpPr>
            <a:spLocks noGrp="1"/>
          </p:cNvSpPr>
          <p:nvPr/>
        </p:nvSpPr>
        <p:spPr>
          <a:xfrm>
            <a:off x="8591550" y="2733675"/>
            <a:ext cx="2990850" cy="992124"/>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Zmniejszenie inertia jest naturalnym skutkiem zwiększania k.</a:t>
            </a:r>
          </a:p>
        </p:txBody>
      </p:sp>
      <p:sp>
        <p:nvSpPr>
          <p:cNvPr id="8" name="text-6">
            <a:extLst>
              <a:ext uri="{FF2B5EF4-FFF2-40B4-BE49-F238E27FC236}">
                <a16:creationId xmlns:a16="http://schemas.microsoft.com/office/drawing/2014/main" id="{C8B88526-3043-4156-B455-2D63171B2D72}"/>
              </a:ext>
            </a:extLst>
          </p:cNvPr>
          <p:cNvSpPr>
            <a:spLocks noGrp="1"/>
          </p:cNvSpPr>
          <p:nvPr/>
        </p:nvSpPr>
        <p:spPr>
          <a:xfrm>
            <a:off x="8591550" y="3897249"/>
            <a:ext cx="2990850" cy="1294257"/>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Wybór łączymy ze stabilnością, silhouette i użytecznością segmentów.</a:t>
            </a:r>
          </a:p>
        </p:txBody>
      </p:sp>
      <p:sp>
        <p:nvSpPr>
          <p:cNvPr id="9" name="text-7">
            <a:extLst>
              <a:ext uri="{FF2B5EF4-FFF2-40B4-BE49-F238E27FC236}">
                <a16:creationId xmlns:a16="http://schemas.microsoft.com/office/drawing/2014/main" id="{A846CD7B-7691-4B18-8A2D-5EDEC07D16BD}"/>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Dane ilustracyjne. Wykres nie pochodzi z uruchomienia ćwiczenia.</a:t>
            </a:r>
          </a:p>
        </p:txBody>
      </p:sp>
    </p:spTree>
    <p:extLst>
      <p:ext uri="{BB962C8B-B14F-4D97-AF65-F5344CB8AC3E}">
        <p14:creationId xmlns:p14="http://schemas.microsoft.com/office/powerpoint/2010/main" val="50068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C87F0274-9F66-4709-BB8B-3FD66C3B1507}"/>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9B4DEFDD-D667-4C81-A629-96481EBFB3EF}"/>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DBSCAN: grupy według gęstości</a:t>
            </a:r>
          </a:p>
        </p:txBody>
      </p:sp>
      <p:sp>
        <p:nvSpPr>
          <p:cNvPr id="3" name="text-2">
            <a:extLst>
              <a:ext uri="{FF2B5EF4-FFF2-40B4-BE49-F238E27FC236}">
                <a16:creationId xmlns:a16="http://schemas.microsoft.com/office/drawing/2014/main" id="{5EE56004-77C6-4A49-91F4-BAF231061B09}"/>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B285F456-AA7A-4538-B245-A07AA3A19ABA}"/>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23</a:t>
            </a:r>
          </a:p>
        </p:txBody>
      </p:sp>
      <p:sp>
        <p:nvSpPr>
          <p:cNvPr id="5" name="text-4">
            <a:extLst>
              <a:ext uri="{FF2B5EF4-FFF2-40B4-BE49-F238E27FC236}">
                <a16:creationId xmlns:a16="http://schemas.microsoft.com/office/drawing/2014/main" id="{BEB72320-DFC8-4D62-B56F-8975DA8B0EC3}"/>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PARAMETRY</a:t>
            </a:r>
          </a:p>
        </p:txBody>
      </p:sp>
      <p:sp>
        <p:nvSpPr>
          <p:cNvPr id="6" name="text-5">
            <a:extLst>
              <a:ext uri="{FF2B5EF4-FFF2-40B4-BE49-F238E27FC236}">
                <a16:creationId xmlns:a16="http://schemas.microsoft.com/office/drawing/2014/main" id="{843C6CA2-6078-411E-9E7C-203C9CD59236}"/>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eps: promień sąsiedztwa</a:t>
            </a:r>
          </a:p>
        </p:txBody>
      </p:sp>
      <p:sp>
        <p:nvSpPr>
          <p:cNvPr id="7" name="text-6">
            <a:extLst>
              <a:ext uri="{FF2B5EF4-FFF2-40B4-BE49-F238E27FC236}">
                <a16:creationId xmlns:a16="http://schemas.microsoft.com/office/drawing/2014/main" id="{1CC392FC-4D84-4EC9-97D1-5DF15A2BAF6D}"/>
              </a:ext>
            </a:extLst>
          </p:cNvPr>
          <p:cNvSpPr>
            <a:spLocks noGrp="1"/>
          </p:cNvSpPr>
          <p:nvPr/>
        </p:nvSpPr>
        <p:spPr>
          <a:xfrm>
            <a:off x="609600" y="327069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min_samples: próg liczności sąsiedztwa</a:t>
            </a:r>
          </a:p>
        </p:txBody>
      </p:sp>
      <p:sp>
        <p:nvSpPr>
          <p:cNvPr id="8" name="text-7">
            <a:extLst>
              <a:ext uri="{FF2B5EF4-FFF2-40B4-BE49-F238E27FC236}">
                <a16:creationId xmlns:a16="http://schemas.microsoft.com/office/drawing/2014/main" id="{98946854-25FB-4BBA-9791-7453F4EF5CF1}"/>
              </a:ext>
            </a:extLst>
          </p:cNvPr>
          <p:cNvSpPr>
            <a:spLocks noGrp="1"/>
          </p:cNvSpPr>
          <p:nvPr/>
        </p:nvSpPr>
        <p:spPr>
          <a:xfrm>
            <a:off x="609600" y="4201859"/>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Punkt rdzeniowy ma wystarczająco wielu sąsiadów.</a:t>
            </a:r>
          </a:p>
        </p:txBody>
      </p:sp>
      <p:sp>
        <p:nvSpPr>
          <p:cNvPr id="9" name="text-8">
            <a:extLst>
              <a:ext uri="{FF2B5EF4-FFF2-40B4-BE49-F238E27FC236}">
                <a16:creationId xmlns:a16="http://schemas.microsoft.com/office/drawing/2014/main" id="{9438CE45-A956-4F73-8D8A-8D24ABEDA959}"/>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WYNIK</a:t>
            </a:r>
          </a:p>
        </p:txBody>
      </p:sp>
      <p:sp>
        <p:nvSpPr>
          <p:cNvPr id="10" name="text-9">
            <a:extLst>
              <a:ext uri="{FF2B5EF4-FFF2-40B4-BE49-F238E27FC236}">
                <a16:creationId xmlns:a16="http://schemas.microsoft.com/office/drawing/2014/main" id="{1204AA25-854B-4C32-A217-F146782D495F}"/>
              </a:ext>
            </a:extLst>
          </p:cNvPr>
          <p:cNvSpPr>
            <a:spLocks noGrp="1"/>
          </p:cNvSpPr>
          <p:nvPr/>
        </p:nvSpPr>
        <p:spPr>
          <a:xfrm>
            <a:off x="6515100" y="267652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Liczba klastrów wynika z danych.</a:t>
            </a:r>
          </a:p>
        </p:txBody>
      </p:sp>
      <p:sp>
        <p:nvSpPr>
          <p:cNvPr id="11" name="text-10">
            <a:extLst>
              <a:ext uri="{FF2B5EF4-FFF2-40B4-BE49-F238E27FC236}">
                <a16:creationId xmlns:a16="http://schemas.microsoft.com/office/drawing/2014/main" id="{8B006522-4920-4C79-88C4-21D3F38C23D3}"/>
              </a:ext>
            </a:extLst>
          </p:cNvPr>
          <p:cNvSpPr>
            <a:spLocks noGrp="1"/>
          </p:cNvSpPr>
          <p:nvPr/>
        </p:nvSpPr>
        <p:spPr>
          <a:xfrm>
            <a:off x="6515100" y="327069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Punkty szumowe dostają etykietę −1.</a:t>
            </a:r>
          </a:p>
        </p:txBody>
      </p:sp>
      <p:sp>
        <p:nvSpPr>
          <p:cNvPr id="12" name="text-11">
            <a:extLst>
              <a:ext uri="{FF2B5EF4-FFF2-40B4-BE49-F238E27FC236}">
                <a16:creationId xmlns:a16="http://schemas.microsoft.com/office/drawing/2014/main" id="{FD7585B5-C362-4EFD-B287-960AE38826C6}"/>
              </a:ext>
            </a:extLst>
          </p:cNvPr>
          <p:cNvSpPr>
            <a:spLocks noGrp="1"/>
          </p:cNvSpPr>
          <p:nvPr/>
        </p:nvSpPr>
        <p:spPr>
          <a:xfrm>
            <a:off x="6515100" y="3864864"/>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Różne gęstości grup utrudniają dobór jednego eps.</a:t>
            </a:r>
          </a:p>
        </p:txBody>
      </p:sp>
    </p:spTree>
    <p:extLst>
      <p:ext uri="{BB962C8B-B14F-4D97-AF65-F5344CB8AC3E}">
        <p14:creationId xmlns:p14="http://schemas.microsoft.com/office/powerpoint/2010/main" val="800690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1578EF44-7F32-47A7-8689-00EA0B5EADAA}"/>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FCFC0E25-2ADE-4AE5-BB23-DE4574864D60}"/>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k-means a DBSCAN</a:t>
            </a:r>
          </a:p>
        </p:txBody>
      </p:sp>
      <p:sp>
        <p:nvSpPr>
          <p:cNvPr id="3" name="text-2">
            <a:extLst>
              <a:ext uri="{FF2B5EF4-FFF2-40B4-BE49-F238E27FC236}">
                <a16:creationId xmlns:a16="http://schemas.microsoft.com/office/drawing/2014/main" id="{9BDD8BD6-79D6-4E15-94D2-5FC33D4A54F3}"/>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07877436-A67E-4A31-9C83-7E08CCE7FEE1}"/>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24</a:t>
            </a:r>
          </a:p>
        </p:txBody>
      </p:sp>
      <p:graphicFrame>
        <p:nvGraphicFramePr>
          <p:cNvPr id="10" name="Tabela 9"/>
          <p:cNvGraphicFramePr/>
          <p:nvPr/>
        </p:nvGraphicFramePr>
        <p:xfrm>
          <a:off x="609600" y="1971675"/>
          <a:ext cx="10972800"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85800">
                <a:tc>
                  <a:txBody>
                    <a:bodyPr/>
                    <a:lstStyle/>
                    <a:p>
                      <a:r>
                        <a:rPr sz="1725" b="1">
                          <a:solidFill>
                            <a:srgbClr val="FFFFFF"/>
                          </a:solidFill>
                          <a:latin typeface="Nimbus Sans"/>
                          <a:ea typeface="Nimbus Sans"/>
                          <a:cs typeface="Nimbus Sans"/>
                        </a:rPr>
                        <a:t>Właściwość</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k-means</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DBSCAN</a:t>
                      </a:r>
                    </a:p>
                  </a:txBody>
                  <a:tcPr marL="133350" marR="114300" marT="123825" marB="104775" anchor="ctr">
                    <a:solidFill>
                      <a:srgbClr val="0B1426"/>
                    </a:solidFill>
                  </a:tcPr>
                </a:tc>
                <a:extLst>
                  <a:ext uri="{0D108BD9-81ED-4DB2-BD59-A6C34878D82A}">
                    <a16:rowId xmlns:a16="http://schemas.microsoft.com/office/drawing/2014/main" val="10000"/>
                  </a:ext>
                </a:extLst>
              </a:tr>
              <a:tr h="685800">
                <a:tc>
                  <a:txBody>
                    <a:bodyPr/>
                    <a:lstStyle/>
                    <a:p>
                      <a:r>
                        <a:rPr sz="1875" b="1">
                          <a:solidFill>
                            <a:srgbClr val="17243A"/>
                          </a:solidFill>
                          <a:latin typeface="Nimbus Sans"/>
                          <a:ea typeface="Nimbus Sans"/>
                          <a:cs typeface="Nimbus Sans"/>
                        </a:rPr>
                        <a:t>Liczba grup</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Wybierasz k</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Wynika z parametrów gęstości</a:t>
                      </a:r>
                    </a:p>
                  </a:txBody>
                  <a:tcPr marL="133350" marR="114300" marT="123825" marB="104775" anchor="ctr">
                    <a:solidFill>
                      <a:srgbClr val="FFFFFF"/>
                    </a:solidFill>
                  </a:tcPr>
                </a:tc>
                <a:extLst>
                  <a:ext uri="{0D108BD9-81ED-4DB2-BD59-A6C34878D82A}">
                    <a16:rowId xmlns:a16="http://schemas.microsoft.com/office/drawing/2014/main" val="10001"/>
                  </a:ext>
                </a:extLst>
              </a:tr>
              <a:tr h="685800">
                <a:tc>
                  <a:txBody>
                    <a:bodyPr/>
                    <a:lstStyle/>
                    <a:p>
                      <a:r>
                        <a:rPr sz="1875" b="1">
                          <a:solidFill>
                            <a:srgbClr val="17243A"/>
                          </a:solidFill>
                          <a:latin typeface="Nimbus Sans"/>
                          <a:ea typeface="Nimbus Sans"/>
                          <a:cs typeface="Nimbus Sans"/>
                        </a:rPr>
                        <a:t>Kształt</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Preferuje zwarte grupy</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Może rozpoznać nieregularne grupy</a:t>
                      </a:r>
                    </a:p>
                  </a:txBody>
                  <a:tcPr marL="133350" marR="114300" marT="123825" marB="104775" anchor="ctr">
                    <a:solidFill>
                      <a:srgbClr val="E9EFED"/>
                    </a:solidFill>
                  </a:tcPr>
                </a:tc>
                <a:extLst>
                  <a:ext uri="{0D108BD9-81ED-4DB2-BD59-A6C34878D82A}">
                    <a16:rowId xmlns:a16="http://schemas.microsoft.com/office/drawing/2014/main" val="10002"/>
                  </a:ext>
                </a:extLst>
              </a:tr>
              <a:tr h="685800">
                <a:tc>
                  <a:txBody>
                    <a:bodyPr/>
                    <a:lstStyle/>
                    <a:p>
                      <a:r>
                        <a:rPr sz="1875" b="1">
                          <a:solidFill>
                            <a:srgbClr val="17243A"/>
                          </a:solidFill>
                          <a:latin typeface="Nimbus Sans"/>
                          <a:ea typeface="Nimbus Sans"/>
                          <a:cs typeface="Nimbus Sans"/>
                        </a:rPr>
                        <a:t>Szum</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Każdy punkt ma grupę</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Część punktów może być szumem</a:t>
                      </a:r>
                    </a:p>
                  </a:txBody>
                  <a:tcPr marL="133350" marR="114300" marT="123825" marB="104775" anchor="ctr">
                    <a:solidFill>
                      <a:srgbClr val="FFFFFF"/>
                    </a:solidFill>
                  </a:tcPr>
                </a:tc>
                <a:extLst>
                  <a:ext uri="{0D108BD9-81ED-4DB2-BD59-A6C34878D82A}">
                    <a16:rowId xmlns:a16="http://schemas.microsoft.com/office/drawing/2014/main" val="10003"/>
                  </a:ext>
                </a:extLst>
              </a:tr>
              <a:tr h="685800">
                <a:tc>
                  <a:txBody>
                    <a:bodyPr/>
                    <a:lstStyle/>
                    <a:p>
                      <a:r>
                        <a:rPr sz="1875" b="1">
                          <a:solidFill>
                            <a:srgbClr val="17243A"/>
                          </a:solidFill>
                          <a:latin typeface="Nimbus Sans"/>
                          <a:ea typeface="Nimbus Sans"/>
                          <a:cs typeface="Nimbus Sans"/>
                        </a:rPr>
                        <a:t>Wrażliwość</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Skala, k, inicjalizacja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Skala, eps, min_samples</a:t>
                      </a:r>
                    </a:p>
                  </a:txBody>
                  <a:tcPr marL="133350" marR="114300" marT="123825" marB="104775" anchor="ctr">
                    <a:solidFill>
                      <a:srgbClr val="E9EFE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61258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57B003D6-A219-4C77-8C90-D7B980262DFE}"/>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EF97C39F-A6A3-4B5F-A224-B6320370C3D9}"/>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25</a:t>
            </a:r>
          </a:p>
        </p:txBody>
      </p:sp>
      <p:sp>
        <p:nvSpPr>
          <p:cNvPr id="3" name="text-2">
            <a:extLst>
              <a:ext uri="{FF2B5EF4-FFF2-40B4-BE49-F238E27FC236}">
                <a16:creationId xmlns:a16="http://schemas.microsoft.com/office/drawing/2014/main" id="{88215046-B18C-42D4-BB99-FF81DC55DB1A}"/>
              </a:ext>
            </a:extLst>
          </p:cNvPr>
          <p:cNvSpPr>
            <a:spLocks noGrp="1"/>
          </p:cNvSpPr>
          <p:nvPr/>
        </p:nvSpPr>
        <p:spPr>
          <a:xfrm>
            <a:off x="609600" y="400050"/>
            <a:ext cx="10477500" cy="28575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LABORATORIUM 02  /  40 MIN</a:t>
            </a:r>
          </a:p>
        </p:txBody>
      </p:sp>
      <p:sp>
        <p:nvSpPr>
          <p:cNvPr id="4" name="text-3">
            <a:extLst>
              <a:ext uri="{FF2B5EF4-FFF2-40B4-BE49-F238E27FC236}">
                <a16:creationId xmlns:a16="http://schemas.microsoft.com/office/drawing/2014/main" id="{4F7E3D7A-2015-4F20-BD68-E32F180B2FB6}"/>
              </a:ext>
            </a:extLst>
          </p:cNvPr>
          <p:cNvSpPr>
            <a:spLocks noGrp="1"/>
          </p:cNvSpPr>
          <p:nvPr/>
        </p:nvSpPr>
        <p:spPr>
          <a:xfrm>
            <a:off x="609600" y="971550"/>
            <a:ext cx="10972800" cy="1000125"/>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Grupowanie danych o różnych kształtach</a:t>
            </a:r>
          </a:p>
        </p:txBody>
      </p:sp>
      <p:sp>
        <p:nvSpPr>
          <p:cNvPr id="5" name="text-4">
            <a:extLst>
              <a:ext uri="{FF2B5EF4-FFF2-40B4-BE49-F238E27FC236}">
                <a16:creationId xmlns:a16="http://schemas.microsoft.com/office/drawing/2014/main" id="{D78692EC-3C2C-4BCA-A737-7521F4D86DF7}"/>
              </a:ext>
            </a:extLst>
          </p:cNvPr>
          <p:cNvSpPr>
            <a:spLocks noGrp="1"/>
          </p:cNvSpPr>
          <p:nvPr/>
        </p:nvSpPr>
        <p:spPr>
          <a:xfrm>
            <a:off x="609600" y="23145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01</a:t>
            </a:r>
          </a:p>
        </p:txBody>
      </p:sp>
      <p:sp>
        <p:nvSpPr>
          <p:cNvPr id="6" name="text-5">
            <a:extLst>
              <a:ext uri="{FF2B5EF4-FFF2-40B4-BE49-F238E27FC236}">
                <a16:creationId xmlns:a16="http://schemas.microsoft.com/office/drawing/2014/main" id="{2549BFAC-2387-4C95-B16F-03DAE3A38318}"/>
              </a:ext>
            </a:extLst>
          </p:cNvPr>
          <p:cNvSpPr>
            <a:spLocks noGrp="1"/>
          </p:cNvSpPr>
          <p:nvPr/>
        </p:nvSpPr>
        <p:spPr>
          <a:xfrm>
            <a:off x="1485900" y="22764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Wygeneruj make_blobs i make_moons z ziarnem 42.</a:t>
            </a:r>
          </a:p>
        </p:txBody>
      </p:sp>
      <p:sp>
        <p:nvSpPr>
          <p:cNvPr id="7" name="text-6">
            <a:extLst>
              <a:ext uri="{FF2B5EF4-FFF2-40B4-BE49-F238E27FC236}">
                <a16:creationId xmlns:a16="http://schemas.microsoft.com/office/drawing/2014/main" id="{E3BDA958-5C35-486F-BBB7-C6045CFC1154}"/>
              </a:ext>
            </a:extLst>
          </p:cNvPr>
          <p:cNvSpPr>
            <a:spLocks noGrp="1"/>
          </p:cNvSpPr>
          <p:nvPr/>
        </p:nvSpPr>
        <p:spPr>
          <a:xfrm>
            <a:off x="609600" y="31527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02</a:t>
            </a:r>
          </a:p>
        </p:txBody>
      </p:sp>
      <p:sp>
        <p:nvSpPr>
          <p:cNvPr id="8" name="text-7">
            <a:extLst>
              <a:ext uri="{FF2B5EF4-FFF2-40B4-BE49-F238E27FC236}">
                <a16:creationId xmlns:a16="http://schemas.microsoft.com/office/drawing/2014/main" id="{3DA39165-646F-45A0-A6C1-70ED44EC798E}"/>
              </a:ext>
            </a:extLst>
          </p:cNvPr>
          <p:cNvSpPr>
            <a:spLocks noGrp="1"/>
          </p:cNvSpPr>
          <p:nvPr/>
        </p:nvSpPr>
        <p:spPr>
          <a:xfrm>
            <a:off x="1485900" y="31146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Przeskaluj cechy i porównaj k-means z DBSCAN.</a:t>
            </a:r>
          </a:p>
        </p:txBody>
      </p:sp>
      <p:sp>
        <p:nvSpPr>
          <p:cNvPr id="9" name="text-8">
            <a:extLst>
              <a:ext uri="{FF2B5EF4-FFF2-40B4-BE49-F238E27FC236}">
                <a16:creationId xmlns:a16="http://schemas.microsoft.com/office/drawing/2014/main" id="{1E7A72C7-9476-4F27-8C73-D6BABB2BC54E}"/>
              </a:ext>
            </a:extLst>
          </p:cNvPr>
          <p:cNvSpPr>
            <a:spLocks noGrp="1"/>
          </p:cNvSpPr>
          <p:nvPr/>
        </p:nvSpPr>
        <p:spPr>
          <a:xfrm>
            <a:off x="609600" y="39909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03</a:t>
            </a:r>
          </a:p>
        </p:txBody>
      </p:sp>
      <p:sp>
        <p:nvSpPr>
          <p:cNvPr id="10" name="text-9">
            <a:extLst>
              <a:ext uri="{FF2B5EF4-FFF2-40B4-BE49-F238E27FC236}">
                <a16:creationId xmlns:a16="http://schemas.microsoft.com/office/drawing/2014/main" id="{48CB438B-50E3-4FFC-A44F-3547F0AACE58}"/>
              </a:ext>
            </a:extLst>
          </p:cNvPr>
          <p:cNvSpPr>
            <a:spLocks noGrp="1"/>
          </p:cNvSpPr>
          <p:nvPr/>
        </p:nvSpPr>
        <p:spPr>
          <a:xfrm>
            <a:off x="1485900" y="39528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Zmieniaj k oraz eps. Oznacz punkty szumowe.</a:t>
            </a:r>
          </a:p>
        </p:txBody>
      </p:sp>
      <p:sp>
        <p:nvSpPr>
          <p:cNvPr id="11" name="text-10">
            <a:extLst>
              <a:ext uri="{FF2B5EF4-FFF2-40B4-BE49-F238E27FC236}">
                <a16:creationId xmlns:a16="http://schemas.microsoft.com/office/drawing/2014/main" id="{30DEC451-E289-4AC2-AF5E-619654EADB77}"/>
              </a:ext>
            </a:extLst>
          </p:cNvPr>
          <p:cNvSpPr>
            <a:spLocks noGrp="1"/>
          </p:cNvSpPr>
          <p:nvPr/>
        </p:nvSpPr>
        <p:spPr>
          <a:xfrm>
            <a:off x="609600" y="48291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04</a:t>
            </a:r>
          </a:p>
        </p:txBody>
      </p:sp>
      <p:sp>
        <p:nvSpPr>
          <p:cNvPr id="12" name="text-11">
            <a:extLst>
              <a:ext uri="{FF2B5EF4-FFF2-40B4-BE49-F238E27FC236}">
                <a16:creationId xmlns:a16="http://schemas.microsoft.com/office/drawing/2014/main" id="{AB6DB76A-C4B6-477F-A6DB-E853E59CA164}"/>
              </a:ext>
            </a:extLst>
          </p:cNvPr>
          <p:cNvSpPr>
            <a:spLocks noGrp="1"/>
          </p:cNvSpPr>
          <p:nvPr/>
        </p:nvSpPr>
        <p:spPr>
          <a:xfrm>
            <a:off x="1485900" y="47910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Opisz grupy i policz udział szumu.</a:t>
            </a:r>
          </a:p>
        </p:txBody>
      </p:sp>
      <p:sp>
        <p:nvSpPr>
          <p:cNvPr id="13" name="text-12">
            <a:extLst>
              <a:ext uri="{FF2B5EF4-FFF2-40B4-BE49-F238E27FC236}">
                <a16:creationId xmlns:a16="http://schemas.microsoft.com/office/drawing/2014/main" id="{677ADB2C-3CDF-4874-A14D-8EA22313F24D}"/>
              </a:ext>
            </a:extLst>
          </p:cNvPr>
          <p:cNvSpPr>
            <a:spLocks noGrp="1"/>
          </p:cNvSpPr>
          <p:nvPr/>
        </p:nvSpPr>
        <p:spPr>
          <a:xfrm>
            <a:off x="609600" y="5848350"/>
            <a:ext cx="1371600" cy="257175"/>
          </a:xfrm>
          <a:prstGeom prst="rect">
            <a:avLst/>
          </a:prstGeom>
          <a:noFill/>
          <a:ln w="0">
            <a:noFill/>
          </a:ln>
        </p:spPr>
        <p:txBody>
          <a:bodyPr wrap="square" lIns="0" tIns="0" rIns="0" bIns="0" anchor="t">
            <a:noAutofit/>
          </a:bodyPr>
          <a:lstStyle/>
          <a:p>
            <a:pPr>
              <a:defRPr sz="1200" b="1">
                <a:solidFill>
                  <a:srgbClr val="62DCCB"/>
                </a:solidFill>
                <a:latin typeface="Nimbus Sans"/>
                <a:ea typeface="Nimbus Sans"/>
                <a:cs typeface="Nimbus Sans"/>
              </a:defRPr>
            </a:pPr>
            <a:r>
              <a:rPr sz="1200" b="1">
                <a:solidFill>
                  <a:srgbClr val="62DCCB"/>
                </a:solidFill>
                <a:latin typeface="Nimbus Sans"/>
                <a:ea typeface="Nimbus Sans"/>
                <a:cs typeface="Nimbus Sans"/>
              </a:rPr>
              <a:t>REZULTAT</a:t>
            </a:r>
          </a:p>
        </p:txBody>
      </p:sp>
      <p:sp>
        <p:nvSpPr>
          <p:cNvPr id="14" name="text-13">
            <a:extLst>
              <a:ext uri="{FF2B5EF4-FFF2-40B4-BE49-F238E27FC236}">
                <a16:creationId xmlns:a16="http://schemas.microsoft.com/office/drawing/2014/main" id="{A107E0FD-D2A3-41B0-ADCD-92C6C4ED7E3E}"/>
              </a:ext>
            </a:extLst>
          </p:cNvPr>
          <p:cNvSpPr>
            <a:spLocks noGrp="1"/>
          </p:cNvSpPr>
          <p:nvPr/>
        </p:nvSpPr>
        <p:spPr>
          <a:xfrm>
            <a:off x="2057400" y="5791200"/>
            <a:ext cx="9525000" cy="457200"/>
          </a:xfrm>
          <a:prstGeom prst="rect">
            <a:avLst/>
          </a:prstGeom>
          <a:noFill/>
          <a:ln w="0">
            <a:noFill/>
          </a:ln>
        </p:spPr>
        <p:txBody>
          <a:bodyPr wrap="square" lIns="0" tIns="0" rIns="0" bIns="0" anchor="t">
            <a:noAutofit/>
          </a:bodyPr>
          <a:lstStyle/>
          <a:p>
            <a:pPr>
              <a:defRPr sz="1800" b="0">
                <a:solidFill>
                  <a:srgbClr val="D7E3E8"/>
                </a:solidFill>
                <a:latin typeface="Nimbus Sans"/>
                <a:ea typeface="Nimbus Sans"/>
                <a:cs typeface="Nimbus Sans"/>
              </a:defRPr>
            </a:pPr>
            <a:r>
              <a:rPr sz="1800" b="0">
                <a:solidFill>
                  <a:srgbClr val="D7E3E8"/>
                </a:solidFill>
                <a:latin typeface="Nimbus Sans"/>
                <a:ea typeface="Nimbus Sans"/>
                <a:cs typeface="Nimbus Sans"/>
              </a:rPr>
              <a:t>Dwa wykresy grup oraz komentarz o wpływie geometrii danych.</a:t>
            </a:r>
          </a:p>
        </p:txBody>
      </p:sp>
    </p:spTree>
    <p:extLst>
      <p:ext uri="{BB962C8B-B14F-4D97-AF65-F5344CB8AC3E}">
        <p14:creationId xmlns:p14="http://schemas.microsoft.com/office/powerpoint/2010/main" val="1773881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7" name="text-0">
            <a:extLst>
              <a:ext uri="{FF2B5EF4-FFF2-40B4-BE49-F238E27FC236}">
                <a16:creationId xmlns:a16="http://schemas.microsoft.com/office/drawing/2014/main" id="{DCE35ABB-BD82-4B9F-B846-DDC94259C727}"/>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CE6DEBD6-95E7-438C-B16C-7EAE0E43F7BF}"/>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Drzewo decyzyjne</a:t>
            </a:r>
          </a:p>
        </p:txBody>
      </p:sp>
      <p:sp>
        <p:nvSpPr>
          <p:cNvPr id="3" name="text-2">
            <a:extLst>
              <a:ext uri="{FF2B5EF4-FFF2-40B4-BE49-F238E27FC236}">
                <a16:creationId xmlns:a16="http://schemas.microsoft.com/office/drawing/2014/main" id="{0A42F409-AF9C-491F-8C84-06F7A63B7FF3}"/>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8DCF020E-AF2F-4C31-A662-B276444A735A}"/>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26</a:t>
            </a:r>
          </a:p>
        </p:txBody>
      </p:sp>
      <p:sp>
        <p:nvSpPr>
          <p:cNvPr id="5" name="text-4">
            <a:extLst>
              <a:ext uri="{FF2B5EF4-FFF2-40B4-BE49-F238E27FC236}">
                <a16:creationId xmlns:a16="http://schemas.microsoft.com/office/drawing/2014/main" id="{8C1A1544-760E-4255-B827-EA499DD500CB}"/>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5413847C-3EC9-4DC6-9577-9B81570EBD0D}"/>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Podział</a:t>
            </a:r>
          </a:p>
        </p:txBody>
      </p:sp>
      <p:sp>
        <p:nvSpPr>
          <p:cNvPr id="7" name="text-6">
            <a:extLst>
              <a:ext uri="{FF2B5EF4-FFF2-40B4-BE49-F238E27FC236}">
                <a16:creationId xmlns:a16="http://schemas.microsoft.com/office/drawing/2014/main" id="{CB8FF25F-9151-4F06-981E-E812895638AC}"/>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Pytanie o cechę rozdziela obserwacje między gałęzie.</a:t>
            </a:r>
          </a:p>
        </p:txBody>
      </p:sp>
      <p:sp>
        <p:nvSpPr>
          <p:cNvPr id="8" name="text-7">
            <a:extLst>
              <a:ext uri="{FF2B5EF4-FFF2-40B4-BE49-F238E27FC236}">
                <a16:creationId xmlns:a16="http://schemas.microsoft.com/office/drawing/2014/main" id="{0FBCF1FB-1837-46BE-9E70-EEB1F12D07E5}"/>
              </a:ext>
            </a:extLst>
          </p:cNvPr>
          <p:cNvSpPr>
            <a:spLocks noGrp="1"/>
          </p:cNvSpPr>
          <p:nvPr/>
        </p:nvSpPr>
        <p:spPr>
          <a:xfrm>
            <a:off x="609600" y="29432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85AE8F3E-D35B-4B05-9DF4-9BDCBC9F0283}"/>
              </a:ext>
            </a:extLst>
          </p:cNvPr>
          <p:cNvSpPr>
            <a:spLocks noGrp="1"/>
          </p:cNvSpPr>
          <p:nvPr/>
        </p:nvSpPr>
        <p:spPr>
          <a:xfrm>
            <a:off x="1562100" y="29432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Kryterium</a:t>
            </a:r>
          </a:p>
        </p:txBody>
      </p:sp>
      <p:sp>
        <p:nvSpPr>
          <p:cNvPr id="10" name="text-9">
            <a:extLst>
              <a:ext uri="{FF2B5EF4-FFF2-40B4-BE49-F238E27FC236}">
                <a16:creationId xmlns:a16="http://schemas.microsoft.com/office/drawing/2014/main" id="{8B9CA386-BCFF-4BF5-8F38-08BAD4D0CDB4}"/>
              </a:ext>
            </a:extLst>
          </p:cNvPr>
          <p:cNvSpPr>
            <a:spLocks noGrp="1"/>
          </p:cNvSpPr>
          <p:nvPr/>
        </p:nvSpPr>
        <p:spPr>
          <a:xfrm>
            <a:off x="1562100" y="33147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Algorytm wybiera podział zmniejszający niejednorodność.</a:t>
            </a:r>
          </a:p>
        </p:txBody>
      </p:sp>
      <p:sp>
        <p:nvSpPr>
          <p:cNvPr id="11" name="text-10">
            <a:extLst>
              <a:ext uri="{FF2B5EF4-FFF2-40B4-BE49-F238E27FC236}">
                <a16:creationId xmlns:a16="http://schemas.microsoft.com/office/drawing/2014/main" id="{29F435F4-B6DB-409E-9D51-28918BDD76E7}"/>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99AA3822-8B92-43A5-A248-0F18516CF0C5}"/>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Liść</a:t>
            </a:r>
          </a:p>
        </p:txBody>
      </p:sp>
      <p:sp>
        <p:nvSpPr>
          <p:cNvPr id="13" name="text-12">
            <a:extLst>
              <a:ext uri="{FF2B5EF4-FFF2-40B4-BE49-F238E27FC236}">
                <a16:creationId xmlns:a16="http://schemas.microsoft.com/office/drawing/2014/main" id="{99852B7F-96A4-4F69-ADAE-B5CD18F3C342}"/>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Prognoza wynika z obserwacji w końcowej grupie.</a:t>
            </a:r>
          </a:p>
        </p:txBody>
      </p:sp>
      <p:sp>
        <p:nvSpPr>
          <p:cNvPr id="14" name="text-13">
            <a:extLst>
              <a:ext uri="{FF2B5EF4-FFF2-40B4-BE49-F238E27FC236}">
                <a16:creationId xmlns:a16="http://schemas.microsoft.com/office/drawing/2014/main" id="{7BA3C3A9-D1BB-4CCE-B6C6-041E02DAA872}"/>
              </a:ext>
            </a:extLst>
          </p:cNvPr>
          <p:cNvSpPr>
            <a:spLocks noGrp="1"/>
          </p:cNvSpPr>
          <p:nvPr/>
        </p:nvSpPr>
        <p:spPr>
          <a:xfrm>
            <a:off x="609600" y="50006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2504E748-0C20-4297-BD1B-FCD255326346}"/>
              </a:ext>
            </a:extLst>
          </p:cNvPr>
          <p:cNvSpPr>
            <a:spLocks noGrp="1"/>
          </p:cNvSpPr>
          <p:nvPr/>
        </p:nvSpPr>
        <p:spPr>
          <a:xfrm>
            <a:off x="1562100" y="50006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Złożoność</a:t>
            </a:r>
          </a:p>
        </p:txBody>
      </p:sp>
      <p:sp>
        <p:nvSpPr>
          <p:cNvPr id="16" name="text-15">
            <a:extLst>
              <a:ext uri="{FF2B5EF4-FFF2-40B4-BE49-F238E27FC236}">
                <a16:creationId xmlns:a16="http://schemas.microsoft.com/office/drawing/2014/main" id="{84AFBACF-A6B7-47F6-96BC-9AC0AEF5EBBB}"/>
              </a:ext>
            </a:extLst>
          </p:cNvPr>
          <p:cNvSpPr>
            <a:spLocks noGrp="1"/>
          </p:cNvSpPr>
          <p:nvPr/>
        </p:nvSpPr>
        <p:spPr>
          <a:xfrm>
            <a:off x="1562100" y="53721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max_depth i min_samples_leaf ograniczają dopasowanie.</a:t>
            </a:r>
          </a:p>
        </p:txBody>
      </p:sp>
    </p:spTree>
    <p:extLst>
      <p:ext uri="{BB962C8B-B14F-4D97-AF65-F5344CB8AC3E}">
        <p14:creationId xmlns:p14="http://schemas.microsoft.com/office/powerpoint/2010/main" val="40554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5F45BC6F-E44A-44DB-A89B-254D45E49BA3}"/>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150508E7-A746-4412-B179-220C6F9A84A9}"/>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Głębokość drzewa i przeuczenie</a:t>
            </a:r>
          </a:p>
        </p:txBody>
      </p:sp>
      <p:sp>
        <p:nvSpPr>
          <p:cNvPr id="3" name="text-2">
            <a:extLst>
              <a:ext uri="{FF2B5EF4-FFF2-40B4-BE49-F238E27FC236}">
                <a16:creationId xmlns:a16="http://schemas.microsoft.com/office/drawing/2014/main" id="{4E7C5FA2-E5D1-4E0C-AF0F-6FB6DEA4BC8B}"/>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9225DA5F-CEEE-4951-AF09-B86F1691EED4}"/>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27</a:t>
            </a:r>
          </a:p>
        </p:txBody>
      </p:sp>
      <p:graphicFrame>
        <p:nvGraphicFramePr>
          <p:cNvPr id="14" name="Chart"/>
          <p:cNvGraphicFramePr/>
          <p:nvPr/>
        </p:nvGraphicFramePr>
        <p:xfrm>
          <a:off x="542925" y="1924050"/>
          <a:ext cx="7648575" cy="39719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
            <a:extLst>
              <a:ext uri="{FF2B5EF4-FFF2-40B4-BE49-F238E27FC236}">
                <a16:creationId xmlns:a16="http://schemas.microsoft.com/office/drawing/2014/main" id="{127FB2B0-23D0-4195-99BA-89DE3498C910}"/>
              </a:ext>
            </a:extLst>
          </p:cNvPr>
          <p:cNvSpPr>
            <a:spLocks noGrp="1"/>
          </p:cNvSpPr>
          <p:nvPr/>
        </p:nvSpPr>
        <p:spPr>
          <a:xfrm>
            <a:off x="8591550" y="2133600"/>
            <a:ext cx="29908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Rosnąca luka</a:t>
            </a:r>
          </a:p>
        </p:txBody>
      </p:sp>
      <p:sp>
        <p:nvSpPr>
          <p:cNvPr id="7" name="text-5">
            <a:extLst>
              <a:ext uri="{FF2B5EF4-FFF2-40B4-BE49-F238E27FC236}">
                <a16:creationId xmlns:a16="http://schemas.microsoft.com/office/drawing/2014/main" id="{3A2F4573-3B47-4390-9196-5AF6FF1E471A}"/>
              </a:ext>
            </a:extLst>
          </p:cNvPr>
          <p:cNvSpPr>
            <a:spLocks noGrp="1"/>
          </p:cNvSpPr>
          <p:nvPr/>
        </p:nvSpPr>
        <p:spPr>
          <a:xfrm>
            <a:off x="8591550" y="2733675"/>
            <a:ext cx="2990850" cy="1294257"/>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Wynik treningowy poprawia się nadal, ale wynik walidacyjny zaczyna spadać.</a:t>
            </a:r>
          </a:p>
        </p:txBody>
      </p:sp>
      <p:sp>
        <p:nvSpPr>
          <p:cNvPr id="8" name="text-6">
            <a:extLst>
              <a:ext uri="{FF2B5EF4-FFF2-40B4-BE49-F238E27FC236}">
                <a16:creationId xmlns:a16="http://schemas.microsoft.com/office/drawing/2014/main" id="{8116766C-DC66-4649-8AB0-E2657729CD5B}"/>
              </a:ext>
            </a:extLst>
          </p:cNvPr>
          <p:cNvSpPr>
            <a:spLocks noGrp="1"/>
          </p:cNvSpPr>
          <p:nvPr/>
        </p:nvSpPr>
        <p:spPr>
          <a:xfrm>
            <a:off x="8591550" y="4199382"/>
            <a:ext cx="2990850" cy="689991"/>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Wybór złożoności wynika z walidacji.</a:t>
            </a:r>
          </a:p>
        </p:txBody>
      </p:sp>
      <p:sp>
        <p:nvSpPr>
          <p:cNvPr id="9" name="text-7">
            <a:extLst>
              <a:ext uri="{FF2B5EF4-FFF2-40B4-BE49-F238E27FC236}">
                <a16:creationId xmlns:a16="http://schemas.microsoft.com/office/drawing/2014/main" id="{1B7741C9-E2B3-49E4-9A2D-ADADFF206C03}"/>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Dane ilustracyjne. Krzywe służą wyjaśnieniu przeuczenia.</a:t>
            </a:r>
          </a:p>
        </p:txBody>
      </p:sp>
    </p:spTree>
    <p:extLst>
      <p:ext uri="{BB962C8B-B14F-4D97-AF65-F5344CB8AC3E}">
        <p14:creationId xmlns:p14="http://schemas.microsoft.com/office/powerpoint/2010/main" val="5568989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22A1BBAD-9B9E-437C-96B7-AAA69A7CF7BD}"/>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99605633-EC6A-4377-89EC-41C47B01D860}"/>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Random Forest</a:t>
            </a:r>
          </a:p>
        </p:txBody>
      </p:sp>
      <p:sp>
        <p:nvSpPr>
          <p:cNvPr id="3" name="text-2">
            <a:extLst>
              <a:ext uri="{FF2B5EF4-FFF2-40B4-BE49-F238E27FC236}">
                <a16:creationId xmlns:a16="http://schemas.microsoft.com/office/drawing/2014/main" id="{B7713328-B63C-4052-B6BC-842558BA47CA}"/>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3776E78F-65BE-4F41-83C3-F5919A75BAFE}"/>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28</a:t>
            </a:r>
          </a:p>
        </p:txBody>
      </p:sp>
      <p:sp>
        <p:nvSpPr>
          <p:cNvPr id="5" name="text-4">
            <a:extLst>
              <a:ext uri="{FF2B5EF4-FFF2-40B4-BE49-F238E27FC236}">
                <a16:creationId xmlns:a16="http://schemas.microsoft.com/office/drawing/2014/main" id="{F2E8D321-097E-4C62-9297-C02573275602}"/>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RÓŻNORODNOŚĆ DRZEW</a:t>
            </a:r>
          </a:p>
        </p:txBody>
      </p:sp>
      <p:sp>
        <p:nvSpPr>
          <p:cNvPr id="6" name="text-5">
            <a:extLst>
              <a:ext uri="{FF2B5EF4-FFF2-40B4-BE49-F238E27FC236}">
                <a16:creationId xmlns:a16="http://schemas.microsoft.com/office/drawing/2014/main" id="{2013D7BE-F611-4A38-A8E9-21C5C62FFE3F}"/>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Losowanie próbek treningowych</a:t>
            </a:r>
          </a:p>
        </p:txBody>
      </p:sp>
      <p:sp>
        <p:nvSpPr>
          <p:cNvPr id="7" name="text-6">
            <a:extLst>
              <a:ext uri="{FF2B5EF4-FFF2-40B4-BE49-F238E27FC236}">
                <a16:creationId xmlns:a16="http://schemas.microsoft.com/office/drawing/2014/main" id="{F82EC2CA-6729-47A5-A29C-FF5AC5102FF4}"/>
              </a:ext>
            </a:extLst>
          </p:cNvPr>
          <p:cNvSpPr>
            <a:spLocks noGrp="1"/>
          </p:cNvSpPr>
          <p:nvPr/>
        </p:nvSpPr>
        <p:spPr>
          <a:xfrm>
            <a:off x="609600" y="327069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Losowanie kandydatów na cechy</a:t>
            </a:r>
          </a:p>
        </p:txBody>
      </p:sp>
      <p:sp>
        <p:nvSpPr>
          <p:cNvPr id="8" name="text-7">
            <a:extLst>
              <a:ext uri="{FF2B5EF4-FFF2-40B4-BE49-F238E27FC236}">
                <a16:creationId xmlns:a16="http://schemas.microsoft.com/office/drawing/2014/main" id="{DF39BCAE-6F15-4E71-A5C1-6AFD3B49EAF0}"/>
              </a:ext>
            </a:extLst>
          </p:cNvPr>
          <p:cNvSpPr>
            <a:spLocks noGrp="1"/>
          </p:cNvSpPr>
          <p:nvPr/>
        </p:nvSpPr>
        <p:spPr>
          <a:xfrm>
            <a:off x="609600" y="3864864"/>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Wiele odmiennych podziałów danych</a:t>
            </a:r>
          </a:p>
        </p:txBody>
      </p:sp>
      <p:sp>
        <p:nvSpPr>
          <p:cNvPr id="9" name="text-8">
            <a:extLst>
              <a:ext uri="{FF2B5EF4-FFF2-40B4-BE49-F238E27FC236}">
                <a16:creationId xmlns:a16="http://schemas.microsoft.com/office/drawing/2014/main" id="{79238A69-2BFD-40AB-A560-DAE6E2862C08}"/>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AGREGACJA</a:t>
            </a:r>
          </a:p>
        </p:txBody>
      </p:sp>
      <p:sp>
        <p:nvSpPr>
          <p:cNvPr id="10" name="text-9">
            <a:extLst>
              <a:ext uri="{FF2B5EF4-FFF2-40B4-BE49-F238E27FC236}">
                <a16:creationId xmlns:a16="http://schemas.microsoft.com/office/drawing/2014/main" id="{A0301C55-461B-41D5-A12B-0FA780AF330F}"/>
              </a:ext>
            </a:extLst>
          </p:cNvPr>
          <p:cNvSpPr>
            <a:spLocks noGrp="1"/>
          </p:cNvSpPr>
          <p:nvPr/>
        </p:nvSpPr>
        <p:spPr>
          <a:xfrm>
            <a:off x="6515100" y="267652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Uśrednianie wyników wielu drzew</a:t>
            </a:r>
          </a:p>
        </p:txBody>
      </p:sp>
      <p:sp>
        <p:nvSpPr>
          <p:cNvPr id="11" name="text-10">
            <a:extLst>
              <a:ext uri="{FF2B5EF4-FFF2-40B4-BE49-F238E27FC236}">
                <a16:creationId xmlns:a16="http://schemas.microsoft.com/office/drawing/2014/main" id="{75CD542F-3DDE-46D8-BBEF-64F2F53FB684}"/>
              </a:ext>
            </a:extLst>
          </p:cNvPr>
          <p:cNvSpPr>
            <a:spLocks noGrp="1"/>
          </p:cNvSpPr>
          <p:nvPr/>
        </p:nvSpPr>
        <p:spPr>
          <a:xfrm>
            <a:off x="6515100" y="327069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Zwykle mniejsza wariancja niż pojedynczego drzewa</a:t>
            </a:r>
          </a:p>
        </p:txBody>
      </p:sp>
      <p:sp>
        <p:nvSpPr>
          <p:cNvPr id="12" name="text-11">
            <a:extLst>
              <a:ext uri="{FF2B5EF4-FFF2-40B4-BE49-F238E27FC236}">
                <a16:creationId xmlns:a16="http://schemas.microsoft.com/office/drawing/2014/main" id="{26470A2E-D367-4AE9-BA7A-3C93508C508B}"/>
              </a:ext>
            </a:extLst>
          </p:cNvPr>
          <p:cNvSpPr>
            <a:spLocks noGrp="1"/>
          </p:cNvSpPr>
          <p:nvPr/>
        </p:nvSpPr>
        <p:spPr>
          <a:xfrm>
            <a:off x="6515100" y="4201859"/>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Kontrola: liczba drzew, głębokość i wielkość liści</a:t>
            </a:r>
          </a:p>
        </p:txBody>
      </p:sp>
    </p:spTree>
    <p:extLst>
      <p:ext uri="{BB962C8B-B14F-4D97-AF65-F5344CB8AC3E}">
        <p14:creationId xmlns:p14="http://schemas.microsoft.com/office/powerpoint/2010/main" val="20144536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900C16C8-5981-4F4E-AB9F-7A5BF4D16788}"/>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D859C157-DEC2-445E-B4EB-FE3B6BA5AC1E}"/>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Gradient Boosting</a:t>
            </a:r>
          </a:p>
        </p:txBody>
      </p:sp>
      <p:sp>
        <p:nvSpPr>
          <p:cNvPr id="3" name="text-2">
            <a:extLst>
              <a:ext uri="{FF2B5EF4-FFF2-40B4-BE49-F238E27FC236}">
                <a16:creationId xmlns:a16="http://schemas.microsoft.com/office/drawing/2014/main" id="{9D20918E-426F-492E-A546-D3AB67E40EA0}"/>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57E11A32-B6D2-4228-994E-836035E6F813}"/>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29</a:t>
            </a:r>
          </a:p>
        </p:txBody>
      </p:sp>
      <p:sp>
        <p:nvSpPr>
          <p:cNvPr id="5" name="text-4">
            <a:extLst>
              <a:ext uri="{FF2B5EF4-FFF2-40B4-BE49-F238E27FC236}">
                <a16:creationId xmlns:a16="http://schemas.microsoft.com/office/drawing/2014/main" id="{E5903D85-830D-4019-9596-D3F3654D9A68}"/>
              </a:ext>
            </a:extLst>
          </p:cNvPr>
          <p:cNvSpPr>
            <a:spLocks noGrp="1"/>
          </p:cNvSpPr>
          <p:nvPr/>
        </p:nvSpPr>
        <p:spPr>
          <a:xfrm>
            <a:off x="609600" y="1952625"/>
            <a:ext cx="10972800" cy="685800"/>
          </a:xfrm>
          <a:prstGeom prst="rect">
            <a:avLst/>
          </a:prstGeom>
          <a:noFill/>
          <a:ln w="0">
            <a:noFill/>
          </a:ln>
        </p:spPr>
        <p:txBody>
          <a:bodyPr wrap="square" lIns="0" tIns="0" rIns="0" bIns="0" anchor="t">
            <a:noAutofit/>
          </a:bodyPr>
          <a:lstStyle/>
          <a:p>
            <a:pPr>
              <a:defRPr sz="3225" b="1">
                <a:solidFill>
                  <a:srgbClr val="007F7A"/>
                </a:solidFill>
                <a:latin typeface="Nimbus Sans"/>
                <a:ea typeface="Nimbus Sans"/>
                <a:cs typeface="Nimbus Sans"/>
              </a:defRPr>
            </a:pPr>
            <a:r>
              <a:rPr sz="3225" b="1">
                <a:solidFill>
                  <a:srgbClr val="007F7A"/>
                </a:solidFill>
                <a:latin typeface="Nimbus Sans"/>
                <a:ea typeface="Nimbus Sans"/>
                <a:cs typeface="Nimbus Sans"/>
              </a:rPr>
              <a:t>Fₘ(x) = Fₘ₋₁(x) + η · hₘ(x)</a:t>
            </a:r>
          </a:p>
        </p:txBody>
      </p:sp>
      <p:sp>
        <p:nvSpPr>
          <p:cNvPr id="6" name="text-5">
            <a:extLst>
              <a:ext uri="{FF2B5EF4-FFF2-40B4-BE49-F238E27FC236}">
                <a16:creationId xmlns:a16="http://schemas.microsoft.com/office/drawing/2014/main" id="{583AF218-B221-4A51-9AE5-417621CAE7B6}"/>
              </a:ext>
            </a:extLst>
          </p:cNvPr>
          <p:cNvSpPr>
            <a:spLocks noGrp="1"/>
          </p:cNvSpPr>
          <p:nvPr/>
        </p:nvSpPr>
        <p:spPr>
          <a:xfrm>
            <a:off x="628650" y="2924175"/>
            <a:ext cx="10953750" cy="723900"/>
          </a:xfrm>
          <a:prstGeom prst="rect">
            <a:avLst/>
          </a:prstGeom>
          <a:noFill/>
          <a:ln w="0">
            <a:noFill/>
          </a:ln>
        </p:spPr>
        <p:txBody>
          <a:bodyPr wrap="square" lIns="0" tIns="0" rIns="0" bIns="0" anchor="t">
            <a:noAutofit/>
          </a:bodyPr>
          <a:lstStyle/>
          <a:p>
            <a:pPr>
              <a:defRPr sz="2100" b="0">
                <a:solidFill>
                  <a:srgbClr val="586779"/>
                </a:solidFill>
                <a:latin typeface="Nimbus Sans"/>
                <a:ea typeface="Nimbus Sans"/>
                <a:cs typeface="Nimbus Sans"/>
              </a:defRPr>
            </a:pPr>
            <a:r>
              <a:rPr sz="2100" b="0">
                <a:solidFill>
                  <a:srgbClr val="586779"/>
                </a:solidFill>
                <a:latin typeface="Nimbus Sans"/>
                <a:ea typeface="Nimbus Sans"/>
                <a:cs typeface="Nimbus Sans"/>
              </a:rPr>
              <a:t>Każdy kolejny model koryguje bieżącą funkcję predykcji</a:t>
            </a:r>
          </a:p>
        </p:txBody>
      </p:sp>
      <p:sp>
        <p:nvSpPr>
          <p:cNvPr id="7" name="text-6">
            <a:extLst>
              <a:ext uri="{FF2B5EF4-FFF2-40B4-BE49-F238E27FC236}">
                <a16:creationId xmlns:a16="http://schemas.microsoft.com/office/drawing/2014/main" id="{FCCBADC7-9EF8-415B-B7B2-D5051D5291E2}"/>
              </a:ext>
            </a:extLst>
          </p:cNvPr>
          <p:cNvSpPr>
            <a:spLocks noGrp="1"/>
          </p:cNvSpPr>
          <p:nvPr/>
        </p:nvSpPr>
        <p:spPr>
          <a:xfrm>
            <a:off x="628650"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Krok uczenia η</a:t>
            </a:r>
          </a:p>
        </p:txBody>
      </p:sp>
      <p:sp>
        <p:nvSpPr>
          <p:cNvPr id="8" name="text-7">
            <a:extLst>
              <a:ext uri="{FF2B5EF4-FFF2-40B4-BE49-F238E27FC236}">
                <a16:creationId xmlns:a16="http://schemas.microsoft.com/office/drawing/2014/main" id="{DF1B1710-1287-43AD-92D8-A32657D6D9DE}"/>
              </a:ext>
            </a:extLst>
          </p:cNvPr>
          <p:cNvSpPr>
            <a:spLocks noGrp="1"/>
          </p:cNvSpPr>
          <p:nvPr/>
        </p:nvSpPr>
        <p:spPr>
          <a:xfrm>
            <a:off x="628650"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Mniejszy krok zwykle wymaga większej liczby iteracji.</a:t>
            </a:r>
          </a:p>
        </p:txBody>
      </p:sp>
      <p:sp>
        <p:nvSpPr>
          <p:cNvPr id="9" name="text-8">
            <a:extLst>
              <a:ext uri="{FF2B5EF4-FFF2-40B4-BE49-F238E27FC236}">
                <a16:creationId xmlns:a16="http://schemas.microsoft.com/office/drawing/2014/main" id="{D4119E9D-235C-4C33-A65E-3C1E84F69D16}"/>
              </a:ext>
            </a:extLst>
          </p:cNvPr>
          <p:cNvSpPr>
            <a:spLocks noGrp="1"/>
          </p:cNvSpPr>
          <p:nvPr/>
        </p:nvSpPr>
        <p:spPr>
          <a:xfrm>
            <a:off x="6505575"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Złożoność korekt</a:t>
            </a:r>
          </a:p>
        </p:txBody>
      </p:sp>
      <p:sp>
        <p:nvSpPr>
          <p:cNvPr id="10" name="text-9">
            <a:extLst>
              <a:ext uri="{FF2B5EF4-FFF2-40B4-BE49-F238E27FC236}">
                <a16:creationId xmlns:a16="http://schemas.microsoft.com/office/drawing/2014/main" id="{FFECF655-BA5C-42DC-898B-85E8701FFD81}"/>
              </a:ext>
            </a:extLst>
          </p:cNvPr>
          <p:cNvSpPr>
            <a:spLocks noGrp="1"/>
          </p:cNvSpPr>
          <p:nvPr/>
        </p:nvSpPr>
        <p:spPr>
          <a:xfrm>
            <a:off x="6505575"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Głębokość drzew i liczba iteracji wpływają na przeuczenie.</a:t>
            </a:r>
          </a:p>
        </p:txBody>
      </p:sp>
    </p:spTree>
    <p:extLst>
      <p:ext uri="{BB962C8B-B14F-4D97-AF65-F5344CB8AC3E}">
        <p14:creationId xmlns:p14="http://schemas.microsoft.com/office/powerpoint/2010/main" val="1019523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8C324507-9F9C-4752-9A17-EC0894BDEE29}"/>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01  /  ALGORYTMY UCZENIA MASZYNOWEGO</a:t>
            </a:r>
          </a:p>
        </p:txBody>
      </p:sp>
      <p:sp>
        <p:nvSpPr>
          <p:cNvPr id="2" name="text-1">
            <a:extLst>
              <a:ext uri="{FF2B5EF4-FFF2-40B4-BE49-F238E27FC236}">
                <a16:creationId xmlns:a16="http://schemas.microsoft.com/office/drawing/2014/main" id="{9D09B0AE-96A5-47FC-8F37-3FCC93F88B40}"/>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Porównanie rodzin modeli</a:t>
            </a:r>
          </a:p>
        </p:txBody>
      </p:sp>
      <p:sp>
        <p:nvSpPr>
          <p:cNvPr id="3" name="text-2">
            <a:extLst>
              <a:ext uri="{FF2B5EF4-FFF2-40B4-BE49-F238E27FC236}">
                <a16:creationId xmlns:a16="http://schemas.microsoft.com/office/drawing/2014/main" id="{2CF61FD4-1938-4F40-A455-05E18863DB00}"/>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B16942E2-E5B5-4032-803D-A27507DC62C0}"/>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30</a:t>
            </a:r>
          </a:p>
        </p:txBody>
      </p:sp>
      <p:graphicFrame>
        <p:nvGraphicFramePr>
          <p:cNvPr id="10" name="Tabela 9"/>
          <p:cNvGraphicFramePr/>
          <p:nvPr/>
        </p:nvGraphicFramePr>
        <p:xfrm>
          <a:off x="609600" y="1971675"/>
          <a:ext cx="10972800"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85800">
                <a:tc>
                  <a:txBody>
                    <a:bodyPr/>
                    <a:lstStyle/>
                    <a:p>
                      <a:r>
                        <a:rPr sz="1725" b="1">
                          <a:solidFill>
                            <a:srgbClr val="FFFFFF"/>
                          </a:solidFill>
                          <a:latin typeface="Nimbus Sans"/>
                          <a:ea typeface="Nimbus Sans"/>
                          <a:cs typeface="Nimbus Sans"/>
                        </a:rPr>
                        <a:t>Model</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Mocna strona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Typowa uwaga</a:t>
                      </a:r>
                    </a:p>
                  </a:txBody>
                  <a:tcPr marL="133350" marR="114300" marT="123825" marB="104775" anchor="ctr">
                    <a:solidFill>
                      <a:srgbClr val="0B1426"/>
                    </a:solidFill>
                  </a:tcPr>
                </a:tc>
                <a:extLst>
                  <a:ext uri="{0D108BD9-81ED-4DB2-BD59-A6C34878D82A}">
                    <a16:rowId xmlns:a16="http://schemas.microsoft.com/office/drawing/2014/main" val="10000"/>
                  </a:ext>
                </a:extLst>
              </a:tr>
              <a:tr h="685800">
                <a:tc>
                  <a:txBody>
                    <a:bodyPr/>
                    <a:lstStyle/>
                    <a:p>
                      <a:r>
                        <a:rPr sz="1875" b="1">
                          <a:solidFill>
                            <a:srgbClr val="17243A"/>
                          </a:solidFill>
                          <a:latin typeface="Nimbus Sans"/>
                          <a:ea typeface="Nimbus Sans"/>
                          <a:cs typeface="Nimbus Sans"/>
                        </a:rPr>
                        <a:t>Regresja logistyczna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Szybki i czytelny punkt odniesienia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Liniowa granica w przestrzeni cech</a:t>
                      </a:r>
                    </a:p>
                  </a:txBody>
                  <a:tcPr marL="133350" marR="114300" marT="123825" marB="104775" anchor="ctr">
                    <a:solidFill>
                      <a:srgbClr val="FFFFFF"/>
                    </a:solidFill>
                  </a:tcPr>
                </a:tc>
                <a:extLst>
                  <a:ext uri="{0D108BD9-81ED-4DB2-BD59-A6C34878D82A}">
                    <a16:rowId xmlns:a16="http://schemas.microsoft.com/office/drawing/2014/main" val="10001"/>
                  </a:ext>
                </a:extLst>
              </a:tr>
              <a:tr h="685800">
                <a:tc>
                  <a:txBody>
                    <a:bodyPr/>
                    <a:lstStyle/>
                    <a:p>
                      <a:r>
                        <a:rPr sz="1875" b="1">
                          <a:solidFill>
                            <a:srgbClr val="17243A"/>
                          </a:solidFill>
                          <a:latin typeface="Nimbus Sans"/>
                          <a:ea typeface="Nimbus Sans"/>
                          <a:cs typeface="Nimbus Sans"/>
                        </a:rPr>
                        <a:t>SVM z RBF</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Elastyczna granica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Skalowanie i koszt uczenia</a:t>
                      </a:r>
                    </a:p>
                  </a:txBody>
                  <a:tcPr marL="133350" marR="114300" marT="123825" marB="104775" anchor="ctr">
                    <a:solidFill>
                      <a:srgbClr val="E9EFED"/>
                    </a:solidFill>
                  </a:tcPr>
                </a:tc>
                <a:extLst>
                  <a:ext uri="{0D108BD9-81ED-4DB2-BD59-A6C34878D82A}">
                    <a16:rowId xmlns:a16="http://schemas.microsoft.com/office/drawing/2014/main" val="10002"/>
                  </a:ext>
                </a:extLst>
              </a:tr>
              <a:tr h="685800">
                <a:tc>
                  <a:txBody>
                    <a:bodyPr/>
                    <a:lstStyle/>
                    <a:p>
                      <a:r>
                        <a:rPr sz="1875" b="1">
                          <a:solidFill>
                            <a:srgbClr val="17243A"/>
                          </a:solidFill>
                          <a:latin typeface="Nimbus Sans"/>
                          <a:ea typeface="Nimbus Sans"/>
                          <a:cs typeface="Nimbus Sans"/>
                        </a:rPr>
                        <a:t>Random Forest</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Interakcje i stabilna agregacja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Mniej prosty opis decyzji</a:t>
                      </a:r>
                    </a:p>
                  </a:txBody>
                  <a:tcPr marL="133350" marR="114300" marT="123825" marB="104775" anchor="ctr">
                    <a:solidFill>
                      <a:srgbClr val="FFFFFF"/>
                    </a:solidFill>
                  </a:tcPr>
                </a:tc>
                <a:extLst>
                  <a:ext uri="{0D108BD9-81ED-4DB2-BD59-A6C34878D82A}">
                    <a16:rowId xmlns:a16="http://schemas.microsoft.com/office/drawing/2014/main" val="10003"/>
                  </a:ext>
                </a:extLst>
              </a:tr>
              <a:tr h="685800">
                <a:tc>
                  <a:txBody>
                    <a:bodyPr/>
                    <a:lstStyle/>
                    <a:p>
                      <a:r>
                        <a:rPr sz="1875" b="1">
                          <a:solidFill>
                            <a:srgbClr val="17243A"/>
                          </a:solidFill>
                          <a:latin typeface="Nimbus Sans"/>
                          <a:ea typeface="Nimbus Sans"/>
                          <a:cs typeface="Nimbus Sans"/>
                        </a:rPr>
                        <a:t>Gradient Boosting</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Skuteczność na danych tabelarycznych</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Uważne strojenie złożoności</a:t>
                      </a:r>
                    </a:p>
                  </a:txBody>
                  <a:tcPr marL="133350" marR="114300" marT="123825" marB="104775" anchor="ctr">
                    <a:solidFill>
                      <a:srgbClr val="E9EFE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313658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C6454729-D755-40CF-9D58-D2FABBD304F0}"/>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F8C80CCB-D2D6-4FF3-93E0-DB2E81E8536E}"/>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31</a:t>
            </a:r>
          </a:p>
        </p:txBody>
      </p:sp>
      <p:sp>
        <p:nvSpPr>
          <p:cNvPr id="3" name="text-2">
            <a:extLst>
              <a:ext uri="{FF2B5EF4-FFF2-40B4-BE49-F238E27FC236}">
                <a16:creationId xmlns:a16="http://schemas.microsoft.com/office/drawing/2014/main" id="{C7EB5125-4E77-4404-92AA-5AF1AFA2F815}"/>
              </a:ext>
            </a:extLst>
          </p:cNvPr>
          <p:cNvSpPr>
            <a:spLocks noGrp="1"/>
          </p:cNvSpPr>
          <p:nvPr/>
        </p:nvSpPr>
        <p:spPr>
          <a:xfrm>
            <a:off x="609600" y="400050"/>
            <a:ext cx="10477500" cy="28575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LABORATORIUM 03  /  50 MIN</a:t>
            </a:r>
          </a:p>
        </p:txBody>
      </p:sp>
      <p:sp>
        <p:nvSpPr>
          <p:cNvPr id="4" name="text-3">
            <a:extLst>
              <a:ext uri="{FF2B5EF4-FFF2-40B4-BE49-F238E27FC236}">
                <a16:creationId xmlns:a16="http://schemas.microsoft.com/office/drawing/2014/main" id="{5575989D-5A21-4684-8B3E-DA8BB659C0E6}"/>
              </a:ext>
            </a:extLst>
          </p:cNvPr>
          <p:cNvSpPr>
            <a:spLocks noGrp="1"/>
          </p:cNvSpPr>
          <p:nvPr/>
        </p:nvSpPr>
        <p:spPr>
          <a:xfrm>
            <a:off x="609600" y="971550"/>
            <a:ext cx="10972800" cy="1000125"/>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Benchmark modeli drzewiastych</a:t>
            </a:r>
          </a:p>
        </p:txBody>
      </p:sp>
      <p:sp>
        <p:nvSpPr>
          <p:cNvPr id="5" name="text-4">
            <a:extLst>
              <a:ext uri="{FF2B5EF4-FFF2-40B4-BE49-F238E27FC236}">
                <a16:creationId xmlns:a16="http://schemas.microsoft.com/office/drawing/2014/main" id="{D9952549-BAE4-4B08-83BC-41666D4BD31C}"/>
              </a:ext>
            </a:extLst>
          </p:cNvPr>
          <p:cNvSpPr>
            <a:spLocks noGrp="1"/>
          </p:cNvSpPr>
          <p:nvPr/>
        </p:nvSpPr>
        <p:spPr>
          <a:xfrm>
            <a:off x="609600" y="23145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01</a:t>
            </a:r>
          </a:p>
        </p:txBody>
      </p:sp>
      <p:sp>
        <p:nvSpPr>
          <p:cNvPr id="6" name="text-5">
            <a:extLst>
              <a:ext uri="{FF2B5EF4-FFF2-40B4-BE49-F238E27FC236}">
                <a16:creationId xmlns:a16="http://schemas.microsoft.com/office/drawing/2014/main" id="{AA195EE3-5353-4F27-BD3B-3899B7103731}"/>
              </a:ext>
            </a:extLst>
          </p:cNvPr>
          <p:cNvSpPr>
            <a:spLocks noGrp="1"/>
          </p:cNvSpPr>
          <p:nvPr/>
        </p:nvSpPr>
        <p:spPr>
          <a:xfrm>
            <a:off x="1485900" y="22764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Dodaj DecisionTree, RandomForest i GradientBoosting.</a:t>
            </a:r>
          </a:p>
        </p:txBody>
      </p:sp>
      <p:sp>
        <p:nvSpPr>
          <p:cNvPr id="7" name="text-6">
            <a:extLst>
              <a:ext uri="{FF2B5EF4-FFF2-40B4-BE49-F238E27FC236}">
                <a16:creationId xmlns:a16="http://schemas.microsoft.com/office/drawing/2014/main" id="{9F92E258-53F0-4472-BAC3-756CD3EA68E6}"/>
              </a:ext>
            </a:extLst>
          </p:cNvPr>
          <p:cNvSpPr>
            <a:spLocks noGrp="1"/>
          </p:cNvSpPr>
          <p:nvPr/>
        </p:nvSpPr>
        <p:spPr>
          <a:xfrm>
            <a:off x="609600" y="31527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02</a:t>
            </a:r>
          </a:p>
        </p:txBody>
      </p:sp>
      <p:sp>
        <p:nvSpPr>
          <p:cNvPr id="8" name="text-7">
            <a:extLst>
              <a:ext uri="{FF2B5EF4-FFF2-40B4-BE49-F238E27FC236}">
                <a16:creationId xmlns:a16="http://schemas.microsoft.com/office/drawing/2014/main" id="{77F8AEA8-9414-4FA4-BEFF-9DC4725BCBEE}"/>
              </a:ext>
            </a:extLst>
          </p:cNvPr>
          <p:cNvSpPr>
            <a:spLocks noGrp="1"/>
          </p:cNvSpPr>
          <p:nvPr/>
        </p:nvSpPr>
        <p:spPr>
          <a:xfrm>
            <a:off x="1485900" y="31146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Użyj tych samych foldów oraz metryki F1.</a:t>
            </a:r>
          </a:p>
        </p:txBody>
      </p:sp>
      <p:sp>
        <p:nvSpPr>
          <p:cNvPr id="9" name="text-8">
            <a:extLst>
              <a:ext uri="{FF2B5EF4-FFF2-40B4-BE49-F238E27FC236}">
                <a16:creationId xmlns:a16="http://schemas.microsoft.com/office/drawing/2014/main" id="{13F0259D-A510-4D16-A241-27256FAF89BC}"/>
              </a:ext>
            </a:extLst>
          </p:cNvPr>
          <p:cNvSpPr>
            <a:spLocks noGrp="1"/>
          </p:cNvSpPr>
          <p:nvPr/>
        </p:nvSpPr>
        <p:spPr>
          <a:xfrm>
            <a:off x="609600" y="39909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03</a:t>
            </a:r>
          </a:p>
        </p:txBody>
      </p:sp>
      <p:sp>
        <p:nvSpPr>
          <p:cNvPr id="10" name="text-9">
            <a:extLst>
              <a:ext uri="{FF2B5EF4-FFF2-40B4-BE49-F238E27FC236}">
                <a16:creationId xmlns:a16="http://schemas.microsoft.com/office/drawing/2014/main" id="{63D0A734-BB1F-4207-960F-D4EAFFDD072D}"/>
              </a:ext>
            </a:extLst>
          </p:cNvPr>
          <p:cNvSpPr>
            <a:spLocks noGrp="1"/>
          </p:cNvSpPr>
          <p:nvPr/>
        </p:nvSpPr>
        <p:spPr>
          <a:xfrm>
            <a:off x="1485900" y="39528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Zapisz średnią, zmienność i czas uczenia.</a:t>
            </a:r>
          </a:p>
        </p:txBody>
      </p:sp>
      <p:sp>
        <p:nvSpPr>
          <p:cNvPr id="11" name="text-10">
            <a:extLst>
              <a:ext uri="{FF2B5EF4-FFF2-40B4-BE49-F238E27FC236}">
                <a16:creationId xmlns:a16="http://schemas.microsoft.com/office/drawing/2014/main" id="{927E790E-D02B-4CBD-B27C-82DD2F6E55F2}"/>
              </a:ext>
            </a:extLst>
          </p:cNvPr>
          <p:cNvSpPr>
            <a:spLocks noGrp="1"/>
          </p:cNvSpPr>
          <p:nvPr/>
        </p:nvSpPr>
        <p:spPr>
          <a:xfrm>
            <a:off x="609600" y="48291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04</a:t>
            </a:r>
          </a:p>
        </p:txBody>
      </p:sp>
      <p:sp>
        <p:nvSpPr>
          <p:cNvPr id="12" name="text-11">
            <a:extLst>
              <a:ext uri="{FF2B5EF4-FFF2-40B4-BE49-F238E27FC236}">
                <a16:creationId xmlns:a16="http://schemas.microsoft.com/office/drawing/2014/main" id="{5C837C1D-B7F4-45C6-AD31-B69A27189CE6}"/>
              </a:ext>
            </a:extLst>
          </p:cNvPr>
          <p:cNvSpPr>
            <a:spLocks noGrp="1"/>
          </p:cNvSpPr>
          <p:nvPr/>
        </p:nvSpPr>
        <p:spPr>
          <a:xfrm>
            <a:off x="1485900" y="47910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Ogranicz złożoność. Sprawdź, czy wynik się stabilizuje.</a:t>
            </a:r>
          </a:p>
        </p:txBody>
      </p:sp>
      <p:sp>
        <p:nvSpPr>
          <p:cNvPr id="13" name="text-12">
            <a:extLst>
              <a:ext uri="{FF2B5EF4-FFF2-40B4-BE49-F238E27FC236}">
                <a16:creationId xmlns:a16="http://schemas.microsoft.com/office/drawing/2014/main" id="{7A789718-DB4F-49D1-9CEC-095103E5AEC1}"/>
              </a:ext>
            </a:extLst>
          </p:cNvPr>
          <p:cNvSpPr>
            <a:spLocks noGrp="1"/>
          </p:cNvSpPr>
          <p:nvPr/>
        </p:nvSpPr>
        <p:spPr>
          <a:xfrm>
            <a:off x="609600" y="5848350"/>
            <a:ext cx="1371600" cy="257175"/>
          </a:xfrm>
          <a:prstGeom prst="rect">
            <a:avLst/>
          </a:prstGeom>
          <a:noFill/>
          <a:ln w="0">
            <a:noFill/>
          </a:ln>
        </p:spPr>
        <p:txBody>
          <a:bodyPr wrap="square" lIns="0" tIns="0" rIns="0" bIns="0" anchor="t">
            <a:noAutofit/>
          </a:bodyPr>
          <a:lstStyle/>
          <a:p>
            <a:pPr>
              <a:defRPr sz="1200" b="1">
                <a:solidFill>
                  <a:srgbClr val="62DCCB"/>
                </a:solidFill>
                <a:latin typeface="Nimbus Sans"/>
                <a:ea typeface="Nimbus Sans"/>
                <a:cs typeface="Nimbus Sans"/>
              </a:defRPr>
            </a:pPr>
            <a:r>
              <a:rPr sz="1200" b="1">
                <a:solidFill>
                  <a:srgbClr val="62DCCB"/>
                </a:solidFill>
                <a:latin typeface="Nimbus Sans"/>
                <a:ea typeface="Nimbus Sans"/>
                <a:cs typeface="Nimbus Sans"/>
              </a:rPr>
              <a:t>REZULTAT</a:t>
            </a:r>
          </a:p>
        </p:txBody>
      </p:sp>
      <p:sp>
        <p:nvSpPr>
          <p:cNvPr id="14" name="text-13">
            <a:extLst>
              <a:ext uri="{FF2B5EF4-FFF2-40B4-BE49-F238E27FC236}">
                <a16:creationId xmlns:a16="http://schemas.microsoft.com/office/drawing/2014/main" id="{9A7F2876-DEC8-49AB-896E-946A18259ED6}"/>
              </a:ext>
            </a:extLst>
          </p:cNvPr>
          <p:cNvSpPr>
            <a:spLocks noGrp="1"/>
          </p:cNvSpPr>
          <p:nvPr/>
        </p:nvSpPr>
        <p:spPr>
          <a:xfrm>
            <a:off x="2057400" y="5791200"/>
            <a:ext cx="9525000" cy="457200"/>
          </a:xfrm>
          <a:prstGeom prst="rect">
            <a:avLst/>
          </a:prstGeom>
          <a:noFill/>
          <a:ln w="0">
            <a:noFill/>
          </a:ln>
        </p:spPr>
        <p:txBody>
          <a:bodyPr wrap="square" lIns="0" tIns="0" rIns="0" bIns="0" anchor="t">
            <a:noAutofit/>
          </a:bodyPr>
          <a:lstStyle/>
          <a:p>
            <a:pPr>
              <a:defRPr sz="1800" b="0">
                <a:solidFill>
                  <a:srgbClr val="D7E3E8"/>
                </a:solidFill>
                <a:latin typeface="Nimbus Sans"/>
                <a:ea typeface="Nimbus Sans"/>
                <a:cs typeface="Nimbus Sans"/>
              </a:defRPr>
            </a:pPr>
            <a:r>
              <a:rPr sz="1800" b="0">
                <a:solidFill>
                  <a:srgbClr val="D7E3E8"/>
                </a:solidFill>
                <a:latin typeface="Nimbus Sans"/>
                <a:ea typeface="Nimbus Sans"/>
                <a:cs typeface="Nimbus Sans"/>
              </a:rPr>
              <a:t>Ranking wraz z rekomendacją uwzględniającą koszt obliczeń.</a:t>
            </a:r>
          </a:p>
        </p:txBody>
      </p:sp>
    </p:spTree>
    <p:extLst>
      <p:ext uri="{BB962C8B-B14F-4D97-AF65-F5344CB8AC3E}">
        <p14:creationId xmlns:p14="http://schemas.microsoft.com/office/powerpoint/2010/main" val="202188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pic>
        <p:nvPicPr>
          <p:cNvPr id="7" name="Obraz 6"/>
          <p:cNvPicPr>
            <a:picLocks noChangeAspect="1"/>
          </p:cNvPicPr>
          <p:nvPr/>
        </p:nvPicPr>
        <p:blipFill>
          <a:blip r:embed="rId3"/>
          <a:srcRect t="27" b="27"/>
          <a:stretch>
            <a:fillRect/>
          </a:stretch>
        </p:blipFill>
        <p:spPr>
          <a:xfrm>
            <a:off x="0" y="0"/>
            <a:ext cx="12192000" cy="6858000"/>
          </a:xfrm>
          <a:prstGeom prst="rect">
            <a:avLst/>
          </a:prstGeom>
        </p:spPr>
      </p:pic>
      <p:sp>
        <p:nvSpPr>
          <p:cNvPr id="2" name="text-0">
            <a:extLst>
              <a:ext uri="{FF2B5EF4-FFF2-40B4-BE49-F238E27FC236}">
                <a16:creationId xmlns:a16="http://schemas.microsoft.com/office/drawing/2014/main" id="{23E3D348-A295-4E7A-A572-E5C0FDEF56C0}"/>
              </a:ext>
            </a:extLst>
          </p:cNvPr>
          <p:cNvSpPr>
            <a:spLocks noGrp="1"/>
          </p:cNvSpPr>
          <p:nvPr/>
        </p:nvSpPr>
        <p:spPr>
          <a:xfrm>
            <a:off x="581025" y="504825"/>
            <a:ext cx="2857500" cy="1428750"/>
          </a:xfrm>
          <a:prstGeom prst="rect">
            <a:avLst/>
          </a:prstGeom>
          <a:noFill/>
          <a:ln w="0">
            <a:noFill/>
          </a:ln>
        </p:spPr>
        <p:txBody>
          <a:bodyPr wrap="square" lIns="0" tIns="0" rIns="0" bIns="0" anchor="t">
            <a:noAutofit/>
          </a:bodyPr>
          <a:lstStyle/>
          <a:p>
            <a:pPr>
              <a:defRPr sz="9300" b="1">
                <a:solidFill>
                  <a:srgbClr val="62DCCB"/>
                </a:solidFill>
                <a:latin typeface="Nimbus Sans"/>
                <a:ea typeface="Nimbus Sans"/>
                <a:cs typeface="Nimbus Sans"/>
              </a:defRPr>
            </a:pPr>
            <a:r>
              <a:rPr sz="9300" b="1">
                <a:solidFill>
                  <a:srgbClr val="62DCCB"/>
                </a:solidFill>
                <a:latin typeface="Nimbus Sans"/>
                <a:ea typeface="Nimbus Sans"/>
                <a:cs typeface="Nimbus Sans"/>
              </a:rPr>
              <a:t>02</a:t>
            </a:r>
          </a:p>
        </p:txBody>
      </p:sp>
      <p:sp>
        <p:nvSpPr>
          <p:cNvPr id="3" name="text-1">
            <a:extLst>
              <a:ext uri="{FF2B5EF4-FFF2-40B4-BE49-F238E27FC236}">
                <a16:creationId xmlns:a16="http://schemas.microsoft.com/office/drawing/2014/main" id="{54CDD135-7C88-4B97-AF4A-C851A59CE278}"/>
              </a:ext>
            </a:extLst>
          </p:cNvPr>
          <p:cNvSpPr>
            <a:spLocks noGrp="1"/>
          </p:cNvSpPr>
          <p:nvPr/>
        </p:nvSpPr>
        <p:spPr>
          <a:xfrm>
            <a:off x="609600" y="2219325"/>
            <a:ext cx="8858250" cy="1885950"/>
          </a:xfrm>
          <a:prstGeom prst="rect">
            <a:avLst/>
          </a:prstGeom>
          <a:noFill/>
          <a:ln w="0">
            <a:noFill/>
          </a:ln>
        </p:spPr>
        <p:txBody>
          <a:bodyPr wrap="square" lIns="0" tIns="0" rIns="0" bIns="0" anchor="t">
            <a:noAutofit/>
          </a:bodyPr>
          <a:lstStyle/>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Algorytmy</a:t>
            </a:r>
          </a:p>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genetyczne</a:t>
            </a:r>
          </a:p>
        </p:txBody>
      </p:sp>
      <p:sp>
        <p:nvSpPr>
          <p:cNvPr id="4" name="text-2">
            <a:extLst>
              <a:ext uri="{FF2B5EF4-FFF2-40B4-BE49-F238E27FC236}">
                <a16:creationId xmlns:a16="http://schemas.microsoft.com/office/drawing/2014/main" id="{AA77000F-1109-4159-96A5-5CEA98F87962}"/>
              </a:ext>
            </a:extLst>
          </p:cNvPr>
          <p:cNvSpPr>
            <a:spLocks noGrp="1"/>
          </p:cNvSpPr>
          <p:nvPr/>
        </p:nvSpPr>
        <p:spPr>
          <a:xfrm>
            <a:off x="638175" y="4314825"/>
            <a:ext cx="5048250" cy="1047750"/>
          </a:xfrm>
          <a:prstGeom prst="rect">
            <a:avLst/>
          </a:prstGeom>
          <a:noFill/>
          <a:ln w="0">
            <a:noFill/>
          </a:ln>
        </p:spPr>
        <p:txBody>
          <a:bodyPr wrap="square" lIns="0" tIns="0" rIns="0" bIns="0" anchor="t">
            <a:noAutofit/>
          </a:bodyPr>
          <a:lstStyle/>
          <a:p>
            <a:pPr>
              <a:defRPr sz="2100" b="0">
                <a:solidFill>
                  <a:srgbClr val="D7E3E8"/>
                </a:solidFill>
                <a:latin typeface="Nimbus Sans"/>
                <a:ea typeface="Nimbus Sans"/>
                <a:cs typeface="Nimbus Sans"/>
              </a:defRPr>
            </a:pPr>
            <a:r>
              <a:rPr sz="2100" b="0">
                <a:solidFill>
                  <a:srgbClr val="D7E3E8"/>
                </a:solidFill>
                <a:latin typeface="Nimbus Sans"/>
                <a:ea typeface="Nimbus Sans"/>
                <a:cs typeface="Nimbus Sans"/>
              </a:rPr>
              <a:t>Poszukiwanie rozwiązania w przestrzeni konfiguracji</a:t>
            </a:r>
          </a:p>
        </p:txBody>
      </p:sp>
      <p:sp>
        <p:nvSpPr>
          <p:cNvPr id="5" name="text-3">
            <a:extLst>
              <a:ext uri="{FF2B5EF4-FFF2-40B4-BE49-F238E27FC236}">
                <a16:creationId xmlns:a16="http://schemas.microsoft.com/office/drawing/2014/main" id="{CBC42686-D286-4F51-B236-D1285F7A975C}"/>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6" name="text-4">
            <a:extLst>
              <a:ext uri="{FF2B5EF4-FFF2-40B4-BE49-F238E27FC236}">
                <a16:creationId xmlns:a16="http://schemas.microsoft.com/office/drawing/2014/main" id="{01097FE5-331B-417C-944B-9385690825D4}"/>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32</a:t>
            </a:r>
          </a:p>
        </p:txBody>
      </p:sp>
    </p:spTree>
    <p:extLst>
      <p:ext uri="{BB962C8B-B14F-4D97-AF65-F5344CB8AC3E}">
        <p14:creationId xmlns:p14="http://schemas.microsoft.com/office/powerpoint/2010/main" val="551162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0753D455-FDA4-4870-A815-52DE967DA167}"/>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02  /  ALGORYTMY GENETYCZNE</a:t>
            </a:r>
          </a:p>
        </p:txBody>
      </p:sp>
      <p:sp>
        <p:nvSpPr>
          <p:cNvPr id="2" name="text-1">
            <a:extLst>
              <a:ext uri="{FF2B5EF4-FFF2-40B4-BE49-F238E27FC236}">
                <a16:creationId xmlns:a16="http://schemas.microsoft.com/office/drawing/2014/main" id="{5BD43076-07B0-4873-89F9-0326DA9CF5E9}"/>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Chromosom i przestrzeń rozwiązań</a:t>
            </a:r>
          </a:p>
        </p:txBody>
      </p:sp>
      <p:sp>
        <p:nvSpPr>
          <p:cNvPr id="3" name="text-2">
            <a:extLst>
              <a:ext uri="{FF2B5EF4-FFF2-40B4-BE49-F238E27FC236}">
                <a16:creationId xmlns:a16="http://schemas.microsoft.com/office/drawing/2014/main" id="{4EB91962-91B4-4122-BCB4-49D81D26F029}"/>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6F86092E-0D7C-4DE2-9CCC-9BE5A5CBFEE4}"/>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33</a:t>
            </a:r>
          </a:p>
        </p:txBody>
      </p:sp>
      <p:sp>
        <p:nvSpPr>
          <p:cNvPr id="5" name="text-4">
            <a:extLst>
              <a:ext uri="{FF2B5EF4-FFF2-40B4-BE49-F238E27FC236}">
                <a16:creationId xmlns:a16="http://schemas.microsoft.com/office/drawing/2014/main" id="{F53D15EF-303B-403A-8189-FC2748E6F44D}"/>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REPREZENTACJA</a:t>
            </a:r>
          </a:p>
        </p:txBody>
      </p:sp>
      <p:sp>
        <p:nvSpPr>
          <p:cNvPr id="6" name="text-5">
            <a:extLst>
              <a:ext uri="{FF2B5EF4-FFF2-40B4-BE49-F238E27FC236}">
                <a16:creationId xmlns:a16="http://schemas.microsoft.com/office/drawing/2014/main" id="{32D6391A-A417-4491-BCED-22D5ACAAE5DE}"/>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Wektor liczb: parametry modelu</a:t>
            </a:r>
          </a:p>
        </p:txBody>
      </p:sp>
      <p:sp>
        <p:nvSpPr>
          <p:cNvPr id="7" name="text-6">
            <a:extLst>
              <a:ext uri="{FF2B5EF4-FFF2-40B4-BE49-F238E27FC236}">
                <a16:creationId xmlns:a16="http://schemas.microsoft.com/office/drawing/2014/main" id="{40C49422-1BB2-4AF4-AFB4-A1E856C3140B}"/>
              </a:ext>
            </a:extLst>
          </p:cNvPr>
          <p:cNvSpPr>
            <a:spLocks noGrp="1"/>
          </p:cNvSpPr>
          <p:nvPr/>
        </p:nvSpPr>
        <p:spPr>
          <a:xfrm>
            <a:off x="609600" y="327069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Wektor bitów: wybór cech</a:t>
            </a:r>
          </a:p>
        </p:txBody>
      </p:sp>
      <p:sp>
        <p:nvSpPr>
          <p:cNvPr id="8" name="text-7">
            <a:extLst>
              <a:ext uri="{FF2B5EF4-FFF2-40B4-BE49-F238E27FC236}">
                <a16:creationId xmlns:a16="http://schemas.microsoft.com/office/drawing/2014/main" id="{14A0B0AD-5177-403D-968E-F17639EC0686}"/>
              </a:ext>
            </a:extLst>
          </p:cNvPr>
          <p:cNvSpPr>
            <a:spLocks noGrp="1"/>
          </p:cNvSpPr>
          <p:nvPr/>
        </p:nvSpPr>
        <p:spPr>
          <a:xfrm>
            <a:off x="609600" y="3864864"/>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Permutacja: kolejność zadań</a:t>
            </a:r>
          </a:p>
        </p:txBody>
      </p:sp>
      <p:sp>
        <p:nvSpPr>
          <p:cNvPr id="9" name="text-8">
            <a:extLst>
              <a:ext uri="{FF2B5EF4-FFF2-40B4-BE49-F238E27FC236}">
                <a16:creationId xmlns:a16="http://schemas.microsoft.com/office/drawing/2014/main" id="{63BF1168-4F83-4B2D-BBFB-B294CC6CEA32}"/>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DOPUSZCZALNOŚĆ</a:t>
            </a:r>
          </a:p>
        </p:txBody>
      </p:sp>
      <p:sp>
        <p:nvSpPr>
          <p:cNvPr id="10" name="text-9">
            <a:extLst>
              <a:ext uri="{FF2B5EF4-FFF2-40B4-BE49-F238E27FC236}">
                <a16:creationId xmlns:a16="http://schemas.microsoft.com/office/drawing/2014/main" id="{11E6C929-F34C-465E-B062-450856C9B908}"/>
              </a:ext>
            </a:extLst>
          </p:cNvPr>
          <p:cNvSpPr>
            <a:spLocks noGrp="1"/>
          </p:cNvSpPr>
          <p:nvPr/>
        </p:nvSpPr>
        <p:spPr>
          <a:xfrm>
            <a:off x="6515100" y="267652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Granice każdej zmiennej</a:t>
            </a:r>
          </a:p>
        </p:txBody>
      </p:sp>
      <p:sp>
        <p:nvSpPr>
          <p:cNvPr id="11" name="text-10">
            <a:extLst>
              <a:ext uri="{FF2B5EF4-FFF2-40B4-BE49-F238E27FC236}">
                <a16:creationId xmlns:a16="http://schemas.microsoft.com/office/drawing/2014/main" id="{A2C1E2A6-64B4-4CFD-96C4-1DA33F4CE022}"/>
              </a:ext>
            </a:extLst>
          </p:cNvPr>
          <p:cNvSpPr>
            <a:spLocks noGrp="1"/>
          </p:cNvSpPr>
          <p:nvPr/>
        </p:nvSpPr>
        <p:spPr>
          <a:xfrm>
            <a:off x="6515100" y="327069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Warunki sumy lub budżetu</a:t>
            </a:r>
          </a:p>
        </p:txBody>
      </p:sp>
      <p:sp>
        <p:nvSpPr>
          <p:cNvPr id="12" name="text-11">
            <a:extLst>
              <a:ext uri="{FF2B5EF4-FFF2-40B4-BE49-F238E27FC236}">
                <a16:creationId xmlns:a16="http://schemas.microsoft.com/office/drawing/2014/main" id="{614561DD-E8CE-4EA9-B7AE-9A08DD6AC480}"/>
              </a:ext>
            </a:extLst>
          </p:cNvPr>
          <p:cNvSpPr>
            <a:spLocks noGrp="1"/>
          </p:cNvSpPr>
          <p:nvPr/>
        </p:nvSpPr>
        <p:spPr>
          <a:xfrm>
            <a:off x="6515100" y="3864864"/>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Operator musi szanować strukturę rozwiązania</a:t>
            </a:r>
          </a:p>
        </p:txBody>
      </p:sp>
    </p:spTree>
    <p:extLst>
      <p:ext uri="{BB962C8B-B14F-4D97-AF65-F5344CB8AC3E}">
        <p14:creationId xmlns:p14="http://schemas.microsoft.com/office/powerpoint/2010/main" val="884935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F7DA9F75-81EC-4007-9F8D-679EEE145D64}"/>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02  /  ALGORYTMY GENETYCZNE</a:t>
            </a:r>
          </a:p>
        </p:txBody>
      </p:sp>
      <p:sp>
        <p:nvSpPr>
          <p:cNvPr id="2" name="text-1">
            <a:extLst>
              <a:ext uri="{FF2B5EF4-FFF2-40B4-BE49-F238E27FC236}">
                <a16:creationId xmlns:a16="http://schemas.microsoft.com/office/drawing/2014/main" id="{FD7A4917-930F-4392-A409-E6BAA27D9B90}"/>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Funkcja celu i kary</a:t>
            </a:r>
          </a:p>
        </p:txBody>
      </p:sp>
      <p:sp>
        <p:nvSpPr>
          <p:cNvPr id="3" name="text-2">
            <a:extLst>
              <a:ext uri="{FF2B5EF4-FFF2-40B4-BE49-F238E27FC236}">
                <a16:creationId xmlns:a16="http://schemas.microsoft.com/office/drawing/2014/main" id="{C7FE5989-641F-4E27-9413-E4EBD4F732C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1353546F-F2FC-43A5-A9B0-5E9F4B34A7BD}"/>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34</a:t>
            </a:r>
          </a:p>
        </p:txBody>
      </p:sp>
      <p:sp>
        <p:nvSpPr>
          <p:cNvPr id="5" name="text-4">
            <a:extLst>
              <a:ext uri="{FF2B5EF4-FFF2-40B4-BE49-F238E27FC236}">
                <a16:creationId xmlns:a16="http://schemas.microsoft.com/office/drawing/2014/main" id="{C11752EB-8E3C-47FE-B78B-02F6B85309C5}"/>
              </a:ext>
            </a:extLst>
          </p:cNvPr>
          <p:cNvSpPr>
            <a:spLocks noGrp="1"/>
          </p:cNvSpPr>
          <p:nvPr/>
        </p:nvSpPr>
        <p:spPr>
          <a:xfrm>
            <a:off x="609600" y="1952625"/>
            <a:ext cx="10972800" cy="685800"/>
          </a:xfrm>
          <a:prstGeom prst="rect">
            <a:avLst/>
          </a:prstGeom>
          <a:noFill/>
          <a:ln w="0">
            <a:noFill/>
          </a:ln>
        </p:spPr>
        <p:txBody>
          <a:bodyPr wrap="square" lIns="0" tIns="0" rIns="0" bIns="0" anchor="t">
            <a:noAutofit/>
          </a:bodyPr>
          <a:lstStyle/>
          <a:p>
            <a:pPr>
              <a:defRPr sz="3225" b="1">
                <a:solidFill>
                  <a:srgbClr val="007F7A"/>
                </a:solidFill>
                <a:latin typeface="Nimbus Sans"/>
                <a:ea typeface="Nimbus Sans"/>
                <a:cs typeface="Nimbus Sans"/>
              </a:defRPr>
            </a:pPr>
            <a:r>
              <a:rPr sz="3225" b="1">
                <a:solidFill>
                  <a:srgbClr val="007F7A"/>
                </a:solidFill>
                <a:latin typeface="Nimbus Sans"/>
                <a:ea typeface="Nimbus Sans"/>
                <a:cs typeface="Nimbus Sans"/>
              </a:rPr>
              <a:t>J(x) = f(x) + λ · kara(x)</a:t>
            </a:r>
          </a:p>
        </p:txBody>
      </p:sp>
      <p:sp>
        <p:nvSpPr>
          <p:cNvPr id="6" name="text-5">
            <a:extLst>
              <a:ext uri="{FF2B5EF4-FFF2-40B4-BE49-F238E27FC236}">
                <a16:creationId xmlns:a16="http://schemas.microsoft.com/office/drawing/2014/main" id="{5E30EEE4-D524-424F-BF8A-5AAEBEA8813E}"/>
              </a:ext>
            </a:extLst>
          </p:cNvPr>
          <p:cNvSpPr>
            <a:spLocks noGrp="1"/>
          </p:cNvSpPr>
          <p:nvPr/>
        </p:nvSpPr>
        <p:spPr>
          <a:xfrm>
            <a:off x="628650" y="2924175"/>
            <a:ext cx="10953750" cy="723900"/>
          </a:xfrm>
          <a:prstGeom prst="rect">
            <a:avLst/>
          </a:prstGeom>
          <a:noFill/>
          <a:ln w="0">
            <a:noFill/>
          </a:ln>
        </p:spPr>
        <p:txBody>
          <a:bodyPr wrap="square" lIns="0" tIns="0" rIns="0" bIns="0" anchor="t">
            <a:noAutofit/>
          </a:bodyPr>
          <a:lstStyle/>
          <a:p>
            <a:pPr>
              <a:defRPr sz="2100" b="0">
                <a:solidFill>
                  <a:srgbClr val="586779"/>
                </a:solidFill>
                <a:latin typeface="Nimbus Sans"/>
                <a:ea typeface="Nimbus Sans"/>
                <a:cs typeface="Nimbus Sans"/>
              </a:defRPr>
            </a:pPr>
            <a:r>
              <a:rPr sz="2100" b="0">
                <a:solidFill>
                  <a:srgbClr val="586779"/>
                </a:solidFill>
                <a:latin typeface="Nimbus Sans"/>
                <a:ea typeface="Nimbus Sans"/>
                <a:cs typeface="Nimbus Sans"/>
              </a:rPr>
              <a:t>Przykład dla minimalizacji</a:t>
            </a:r>
          </a:p>
        </p:txBody>
      </p:sp>
      <p:sp>
        <p:nvSpPr>
          <p:cNvPr id="7" name="text-6">
            <a:extLst>
              <a:ext uri="{FF2B5EF4-FFF2-40B4-BE49-F238E27FC236}">
                <a16:creationId xmlns:a16="http://schemas.microsoft.com/office/drawing/2014/main" id="{22863C94-5E2A-4C15-AEF8-D9F1ADEE67EF}"/>
              </a:ext>
            </a:extLst>
          </p:cNvPr>
          <p:cNvSpPr>
            <a:spLocks noGrp="1"/>
          </p:cNvSpPr>
          <p:nvPr/>
        </p:nvSpPr>
        <p:spPr>
          <a:xfrm>
            <a:off x="628650"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Cel</a:t>
            </a:r>
          </a:p>
        </p:txBody>
      </p:sp>
      <p:sp>
        <p:nvSpPr>
          <p:cNvPr id="8" name="text-7">
            <a:extLst>
              <a:ext uri="{FF2B5EF4-FFF2-40B4-BE49-F238E27FC236}">
                <a16:creationId xmlns:a16="http://schemas.microsoft.com/office/drawing/2014/main" id="{2A0FB8F9-EDBA-4617-AE6D-0511D6BD9C70}"/>
              </a:ext>
            </a:extLst>
          </p:cNvPr>
          <p:cNvSpPr>
            <a:spLocks noGrp="1"/>
          </p:cNvSpPr>
          <p:nvPr/>
        </p:nvSpPr>
        <p:spPr>
          <a:xfrm>
            <a:off x="628650"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Mierzy jakość rozwiązania w jednostkach zadania.</a:t>
            </a:r>
          </a:p>
        </p:txBody>
      </p:sp>
      <p:sp>
        <p:nvSpPr>
          <p:cNvPr id="9" name="text-8">
            <a:extLst>
              <a:ext uri="{FF2B5EF4-FFF2-40B4-BE49-F238E27FC236}">
                <a16:creationId xmlns:a16="http://schemas.microsoft.com/office/drawing/2014/main" id="{3354C636-D01B-46F0-B982-576F0C266AE9}"/>
              </a:ext>
            </a:extLst>
          </p:cNvPr>
          <p:cNvSpPr>
            <a:spLocks noGrp="1"/>
          </p:cNvSpPr>
          <p:nvPr/>
        </p:nvSpPr>
        <p:spPr>
          <a:xfrm>
            <a:off x="6505575"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Ograniczenia</a:t>
            </a:r>
          </a:p>
        </p:txBody>
      </p:sp>
      <p:sp>
        <p:nvSpPr>
          <p:cNvPr id="10" name="text-9">
            <a:extLst>
              <a:ext uri="{FF2B5EF4-FFF2-40B4-BE49-F238E27FC236}">
                <a16:creationId xmlns:a16="http://schemas.microsoft.com/office/drawing/2014/main" id="{E989EF71-7892-41D6-9993-EC87AC518254}"/>
              </a:ext>
            </a:extLst>
          </p:cNvPr>
          <p:cNvSpPr>
            <a:spLocks noGrp="1"/>
          </p:cNvSpPr>
          <p:nvPr/>
        </p:nvSpPr>
        <p:spPr>
          <a:xfrm>
            <a:off x="6505575"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Kara, naprawa albo reprezentacja gwarantująca dopuszczalność.</a:t>
            </a:r>
          </a:p>
        </p:txBody>
      </p:sp>
    </p:spTree>
    <p:extLst>
      <p:ext uri="{BB962C8B-B14F-4D97-AF65-F5344CB8AC3E}">
        <p14:creationId xmlns:p14="http://schemas.microsoft.com/office/powerpoint/2010/main" val="12221160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9A7A330F-761F-4E23-9565-526F643ABE35}"/>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02  /  ALGORYTMY GENETYCZNE</a:t>
            </a:r>
          </a:p>
        </p:txBody>
      </p:sp>
      <p:sp>
        <p:nvSpPr>
          <p:cNvPr id="2" name="text-1">
            <a:extLst>
              <a:ext uri="{FF2B5EF4-FFF2-40B4-BE49-F238E27FC236}">
                <a16:creationId xmlns:a16="http://schemas.microsoft.com/office/drawing/2014/main" id="{1EBA0B7B-11C6-41A7-B5FE-153FF81B15D6}"/>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Selekcja osobników</a:t>
            </a:r>
          </a:p>
        </p:txBody>
      </p:sp>
      <p:sp>
        <p:nvSpPr>
          <p:cNvPr id="3" name="text-2">
            <a:extLst>
              <a:ext uri="{FF2B5EF4-FFF2-40B4-BE49-F238E27FC236}">
                <a16:creationId xmlns:a16="http://schemas.microsoft.com/office/drawing/2014/main" id="{D7FC1AEE-9803-41FD-ADA0-8D729D6365BC}"/>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4C41BE5A-0AAA-404A-9590-B543ACA8FEEB}"/>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35</a:t>
            </a:r>
          </a:p>
        </p:txBody>
      </p:sp>
      <p:graphicFrame>
        <p:nvGraphicFramePr>
          <p:cNvPr id="10" name="Tabela 9"/>
          <p:cNvGraphicFramePr/>
          <p:nvPr/>
        </p:nvGraphicFramePr>
        <p:xfrm>
          <a:off x="609600" y="1971675"/>
          <a:ext cx="10972800" cy="35433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85800">
                <a:tc>
                  <a:txBody>
                    <a:bodyPr/>
                    <a:lstStyle/>
                    <a:p>
                      <a:r>
                        <a:rPr sz="1725" b="1">
                          <a:solidFill>
                            <a:srgbClr val="FFFFFF"/>
                          </a:solidFill>
                          <a:latin typeface="Nimbus Sans"/>
                          <a:ea typeface="Nimbus Sans"/>
                          <a:cs typeface="Nimbus Sans"/>
                        </a:rPr>
                        <a:t>Metoda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Mechanizm</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Ryzyko</a:t>
                      </a:r>
                    </a:p>
                  </a:txBody>
                  <a:tcPr marL="133350" marR="114300" marT="123825" marB="104775" anchor="ctr">
                    <a:solidFill>
                      <a:srgbClr val="0B1426"/>
                    </a:solidFill>
                  </a:tcPr>
                </a:tc>
                <a:extLst>
                  <a:ext uri="{0D108BD9-81ED-4DB2-BD59-A6C34878D82A}">
                    <a16:rowId xmlns:a16="http://schemas.microsoft.com/office/drawing/2014/main" val="10000"/>
                  </a:ext>
                </a:extLst>
              </a:tr>
              <a:tr h="685800">
                <a:tc>
                  <a:txBody>
                    <a:bodyPr/>
                    <a:lstStyle/>
                    <a:p>
                      <a:r>
                        <a:rPr sz="1875" b="1">
                          <a:solidFill>
                            <a:srgbClr val="17243A"/>
                          </a:solidFill>
                          <a:latin typeface="Nimbus Sans"/>
                          <a:ea typeface="Nimbus Sans"/>
                          <a:cs typeface="Nimbus Sans"/>
                        </a:rPr>
                        <a:t>Turniejowa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Najlepszy z losowej podgrupy</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Duży turniej szybko zmniejsza różnorodność</a:t>
                      </a:r>
                    </a:p>
                  </a:txBody>
                  <a:tcPr marL="133350" marR="114300" marT="123825" marB="104775" anchor="ctr">
                    <a:solidFill>
                      <a:srgbClr val="FFFFFF"/>
                    </a:solidFill>
                  </a:tcPr>
                </a:tc>
                <a:extLst>
                  <a:ext uri="{0D108BD9-81ED-4DB2-BD59-A6C34878D82A}">
                    <a16:rowId xmlns:a16="http://schemas.microsoft.com/office/drawing/2014/main" val="10001"/>
                  </a:ext>
                </a:extLst>
              </a:tr>
              <a:tr h="685800">
                <a:tc>
                  <a:txBody>
                    <a:bodyPr/>
                    <a:lstStyle/>
                    <a:p>
                      <a:r>
                        <a:rPr sz="1875" b="1">
                          <a:solidFill>
                            <a:srgbClr val="17243A"/>
                          </a:solidFill>
                          <a:latin typeface="Nimbus Sans"/>
                          <a:ea typeface="Nimbus Sans"/>
                          <a:cs typeface="Nimbus Sans"/>
                        </a:rPr>
                        <a:t>Rankingowa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Szansa zależy od miejsca w rankingu</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Wymaga sortowania populacji</a:t>
                      </a:r>
                    </a:p>
                  </a:txBody>
                  <a:tcPr marL="133350" marR="114300" marT="123825" marB="104775" anchor="ctr">
                    <a:solidFill>
                      <a:srgbClr val="E9EFED"/>
                    </a:solidFill>
                  </a:tcPr>
                </a:tc>
                <a:extLst>
                  <a:ext uri="{0D108BD9-81ED-4DB2-BD59-A6C34878D82A}">
                    <a16:rowId xmlns:a16="http://schemas.microsoft.com/office/drawing/2014/main" val="10002"/>
                  </a:ext>
                </a:extLst>
              </a:tr>
              <a:tr h="685800">
                <a:tc>
                  <a:txBody>
                    <a:bodyPr/>
                    <a:lstStyle/>
                    <a:p>
                      <a:r>
                        <a:rPr sz="1875" b="1">
                          <a:solidFill>
                            <a:srgbClr val="17243A"/>
                          </a:solidFill>
                          <a:latin typeface="Nimbus Sans"/>
                          <a:ea typeface="Nimbus Sans"/>
                          <a:cs typeface="Nimbus Sans"/>
                        </a:rPr>
                        <a:t>Ruletkowa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Szansa proporcjonalna do fitness</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Wymaga sensownej skali i wartości</a:t>
                      </a:r>
                    </a:p>
                  </a:txBody>
                  <a:tcPr marL="133350" marR="114300" marT="123825" marB="104775" anchor="ctr">
                    <a:solidFill>
                      <a:srgbClr val="FFFFFF"/>
                    </a:solidFill>
                  </a:tcPr>
                </a:tc>
                <a:extLst>
                  <a:ext uri="{0D108BD9-81ED-4DB2-BD59-A6C34878D82A}">
                    <a16:rowId xmlns:a16="http://schemas.microsoft.com/office/drawing/2014/main" val="10003"/>
                  </a:ext>
                </a:extLst>
              </a:tr>
              <a:tr h="685800">
                <a:tc>
                  <a:txBody>
                    <a:bodyPr/>
                    <a:lstStyle/>
                    <a:p>
                      <a:r>
                        <a:rPr sz="1875" b="1">
                          <a:solidFill>
                            <a:srgbClr val="17243A"/>
                          </a:solidFill>
                          <a:latin typeface="Nimbus Sans"/>
                          <a:ea typeface="Nimbus Sans"/>
                          <a:cs typeface="Nimbus Sans"/>
                        </a:rPr>
                        <a:t>Elityzm</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Zachowanie najlepszych rozwiązań</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Zbyt wiele elit ogranicza eksplorację</a:t>
                      </a:r>
                    </a:p>
                  </a:txBody>
                  <a:tcPr marL="133350" marR="114300" marT="123825" marB="104775" anchor="ctr">
                    <a:solidFill>
                      <a:srgbClr val="E9EFE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88290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28EF9913-627B-4DC9-AEDB-20D69BC4F0F5}"/>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02  /  ALGORYTMY GENETYCZNE</a:t>
            </a:r>
          </a:p>
        </p:txBody>
      </p:sp>
      <p:sp>
        <p:nvSpPr>
          <p:cNvPr id="2" name="text-1">
            <a:extLst>
              <a:ext uri="{FF2B5EF4-FFF2-40B4-BE49-F238E27FC236}">
                <a16:creationId xmlns:a16="http://schemas.microsoft.com/office/drawing/2014/main" id="{F90932B3-1F11-4D8F-9A8E-211BD78C13D7}"/>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Krzyżowanie arytmetyczne</a:t>
            </a:r>
          </a:p>
        </p:txBody>
      </p:sp>
      <p:sp>
        <p:nvSpPr>
          <p:cNvPr id="3" name="text-2">
            <a:extLst>
              <a:ext uri="{FF2B5EF4-FFF2-40B4-BE49-F238E27FC236}">
                <a16:creationId xmlns:a16="http://schemas.microsoft.com/office/drawing/2014/main" id="{DB4FCBD9-4C6A-4D21-A08C-1AF4CD0AF806}"/>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455C9A23-275C-49C1-BE8D-E83CB2D81244}"/>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36</a:t>
            </a:r>
          </a:p>
        </p:txBody>
      </p:sp>
      <p:sp>
        <p:nvSpPr>
          <p:cNvPr id="5" name="text-4">
            <a:extLst>
              <a:ext uri="{FF2B5EF4-FFF2-40B4-BE49-F238E27FC236}">
                <a16:creationId xmlns:a16="http://schemas.microsoft.com/office/drawing/2014/main" id="{7313AC70-04EE-4CD9-9697-BF182E4BE73A}"/>
              </a:ext>
            </a:extLst>
          </p:cNvPr>
          <p:cNvSpPr>
            <a:spLocks noGrp="1"/>
          </p:cNvSpPr>
          <p:nvPr/>
        </p:nvSpPr>
        <p:spPr>
          <a:xfrm>
            <a:off x="609600" y="1952625"/>
            <a:ext cx="10972800" cy="685800"/>
          </a:xfrm>
          <a:prstGeom prst="rect">
            <a:avLst/>
          </a:prstGeom>
          <a:noFill/>
          <a:ln w="0">
            <a:noFill/>
          </a:ln>
        </p:spPr>
        <p:txBody>
          <a:bodyPr wrap="square" lIns="0" tIns="0" rIns="0" bIns="0" anchor="t">
            <a:noAutofit/>
          </a:bodyPr>
          <a:lstStyle/>
          <a:p>
            <a:pPr>
              <a:defRPr sz="3225" b="1">
                <a:solidFill>
                  <a:srgbClr val="007F7A"/>
                </a:solidFill>
                <a:latin typeface="Nimbus Sans"/>
                <a:ea typeface="Nimbus Sans"/>
                <a:cs typeface="Nimbus Sans"/>
              </a:defRPr>
            </a:pPr>
            <a:r>
              <a:rPr sz="3225" b="1">
                <a:solidFill>
                  <a:srgbClr val="007F7A"/>
                </a:solidFill>
                <a:latin typeface="Nimbus Sans"/>
                <a:ea typeface="Nimbus Sans"/>
                <a:cs typeface="Nimbus Sans"/>
              </a:rPr>
              <a:t>dziecko = α · rodzic A + (1 − α) · rodzic B</a:t>
            </a:r>
          </a:p>
        </p:txBody>
      </p:sp>
      <p:sp>
        <p:nvSpPr>
          <p:cNvPr id="6" name="text-5">
            <a:extLst>
              <a:ext uri="{FF2B5EF4-FFF2-40B4-BE49-F238E27FC236}">
                <a16:creationId xmlns:a16="http://schemas.microsoft.com/office/drawing/2014/main" id="{B8FC053E-CFB5-4ADE-8B97-A240CD8E63CC}"/>
              </a:ext>
            </a:extLst>
          </p:cNvPr>
          <p:cNvSpPr>
            <a:spLocks noGrp="1"/>
          </p:cNvSpPr>
          <p:nvPr/>
        </p:nvSpPr>
        <p:spPr>
          <a:xfrm>
            <a:off x="628650" y="2924175"/>
            <a:ext cx="10953750" cy="723900"/>
          </a:xfrm>
          <a:prstGeom prst="rect">
            <a:avLst/>
          </a:prstGeom>
          <a:noFill/>
          <a:ln w="0">
            <a:noFill/>
          </a:ln>
        </p:spPr>
        <p:txBody>
          <a:bodyPr wrap="square" lIns="0" tIns="0" rIns="0" bIns="0" anchor="t">
            <a:noAutofit/>
          </a:bodyPr>
          <a:lstStyle/>
          <a:p>
            <a:pPr>
              <a:defRPr sz="2100" b="0">
                <a:solidFill>
                  <a:srgbClr val="586779"/>
                </a:solidFill>
                <a:latin typeface="Nimbus Sans"/>
                <a:ea typeface="Nimbus Sans"/>
                <a:cs typeface="Nimbus Sans"/>
              </a:defRPr>
            </a:pPr>
            <a:r>
              <a:rPr sz="2100" b="0">
                <a:solidFill>
                  <a:srgbClr val="586779"/>
                </a:solidFill>
                <a:latin typeface="Nimbus Sans"/>
                <a:ea typeface="Nimbus Sans"/>
                <a:cs typeface="Nimbus Sans"/>
              </a:rPr>
              <a:t>α ∈ [0, 1] dla zmiennych rzeczywistych</a:t>
            </a:r>
          </a:p>
        </p:txBody>
      </p:sp>
      <p:sp>
        <p:nvSpPr>
          <p:cNvPr id="7" name="text-6">
            <a:extLst>
              <a:ext uri="{FF2B5EF4-FFF2-40B4-BE49-F238E27FC236}">
                <a16:creationId xmlns:a16="http://schemas.microsoft.com/office/drawing/2014/main" id="{D5E10568-79A5-4042-9629-68ABF751BA20}"/>
              </a:ext>
            </a:extLst>
          </p:cNvPr>
          <p:cNvSpPr>
            <a:spLocks noGrp="1"/>
          </p:cNvSpPr>
          <p:nvPr/>
        </p:nvSpPr>
        <p:spPr>
          <a:xfrm>
            <a:off x="628650"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Przykład</a:t>
            </a:r>
          </a:p>
        </p:txBody>
      </p:sp>
      <p:sp>
        <p:nvSpPr>
          <p:cNvPr id="8" name="text-7">
            <a:extLst>
              <a:ext uri="{FF2B5EF4-FFF2-40B4-BE49-F238E27FC236}">
                <a16:creationId xmlns:a16="http://schemas.microsoft.com/office/drawing/2014/main" id="{4ED35780-9929-46A5-9820-FAB4618F79D1}"/>
              </a:ext>
            </a:extLst>
          </p:cNvPr>
          <p:cNvSpPr>
            <a:spLocks noGrp="1"/>
          </p:cNvSpPr>
          <p:nvPr/>
        </p:nvSpPr>
        <p:spPr>
          <a:xfrm>
            <a:off x="628650" y="4791075"/>
            <a:ext cx="5076825"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A = (2, 8), B = (6, 4), α = 0,25</a:t>
            </a:r>
          </a:p>
        </p:txBody>
      </p:sp>
      <p:sp>
        <p:nvSpPr>
          <p:cNvPr id="9" name="text-8">
            <a:extLst>
              <a:ext uri="{FF2B5EF4-FFF2-40B4-BE49-F238E27FC236}">
                <a16:creationId xmlns:a16="http://schemas.microsoft.com/office/drawing/2014/main" id="{546B177B-792B-4B24-924B-FCFA0B04BDD4}"/>
              </a:ext>
            </a:extLst>
          </p:cNvPr>
          <p:cNvSpPr>
            <a:spLocks noGrp="1"/>
          </p:cNvSpPr>
          <p:nvPr/>
        </p:nvSpPr>
        <p:spPr>
          <a:xfrm>
            <a:off x="6505575"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Wynik</a:t>
            </a:r>
          </a:p>
        </p:txBody>
      </p:sp>
      <p:sp>
        <p:nvSpPr>
          <p:cNvPr id="10" name="text-9">
            <a:extLst>
              <a:ext uri="{FF2B5EF4-FFF2-40B4-BE49-F238E27FC236}">
                <a16:creationId xmlns:a16="http://schemas.microsoft.com/office/drawing/2014/main" id="{D7633041-636D-4E8B-9EF7-D7C045E0381F}"/>
              </a:ext>
            </a:extLst>
          </p:cNvPr>
          <p:cNvSpPr>
            <a:spLocks noGrp="1"/>
          </p:cNvSpPr>
          <p:nvPr/>
        </p:nvSpPr>
        <p:spPr>
          <a:xfrm>
            <a:off x="6505575" y="4791075"/>
            <a:ext cx="5076825"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Dziecko = (5, 5)</a:t>
            </a:r>
          </a:p>
        </p:txBody>
      </p:sp>
    </p:spTree>
    <p:extLst>
      <p:ext uri="{BB962C8B-B14F-4D97-AF65-F5344CB8AC3E}">
        <p14:creationId xmlns:p14="http://schemas.microsoft.com/office/powerpoint/2010/main" val="1150462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B35F770F-5F28-470C-9EFA-5A89F978341E}"/>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02  /  ALGORYTMY GENETYCZNE</a:t>
            </a:r>
          </a:p>
        </p:txBody>
      </p:sp>
      <p:sp>
        <p:nvSpPr>
          <p:cNvPr id="2" name="text-1">
            <a:extLst>
              <a:ext uri="{FF2B5EF4-FFF2-40B4-BE49-F238E27FC236}">
                <a16:creationId xmlns:a16="http://schemas.microsoft.com/office/drawing/2014/main" id="{A8192225-9DAB-4DE5-8F5B-CA217F83FB69}"/>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Mutacja i różnorodność</a:t>
            </a:r>
          </a:p>
        </p:txBody>
      </p:sp>
      <p:sp>
        <p:nvSpPr>
          <p:cNvPr id="3" name="text-2">
            <a:extLst>
              <a:ext uri="{FF2B5EF4-FFF2-40B4-BE49-F238E27FC236}">
                <a16:creationId xmlns:a16="http://schemas.microsoft.com/office/drawing/2014/main" id="{72F24653-9A0C-462F-A4EE-02D3875A3DC6}"/>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A9B4A22C-41D2-4BEC-9BCC-ADC736DE3055}"/>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37</a:t>
            </a:r>
          </a:p>
        </p:txBody>
      </p:sp>
      <p:sp>
        <p:nvSpPr>
          <p:cNvPr id="5" name="text-4">
            <a:extLst>
              <a:ext uri="{FF2B5EF4-FFF2-40B4-BE49-F238E27FC236}">
                <a16:creationId xmlns:a16="http://schemas.microsoft.com/office/drawing/2014/main" id="{CDAE849C-1766-4BA6-89FD-2E69BAF811A6}"/>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MUTACJA GAUSSOWSKA</a:t>
            </a:r>
          </a:p>
        </p:txBody>
      </p:sp>
      <p:sp>
        <p:nvSpPr>
          <p:cNvPr id="6" name="text-5">
            <a:extLst>
              <a:ext uri="{FF2B5EF4-FFF2-40B4-BE49-F238E27FC236}">
                <a16:creationId xmlns:a16="http://schemas.microsoft.com/office/drawing/2014/main" id="{55795223-CA0B-4D69-8033-7C936877D3A0}"/>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x′ = x + ε,  ε ~ N(0, σ²)</a:t>
            </a:r>
          </a:p>
        </p:txBody>
      </p:sp>
      <p:sp>
        <p:nvSpPr>
          <p:cNvPr id="7" name="text-6">
            <a:extLst>
              <a:ext uri="{FF2B5EF4-FFF2-40B4-BE49-F238E27FC236}">
                <a16:creationId xmlns:a16="http://schemas.microsoft.com/office/drawing/2014/main" id="{3214EBDE-61D5-4898-94FA-6E033C71519B}"/>
              </a:ext>
            </a:extLst>
          </p:cNvPr>
          <p:cNvSpPr>
            <a:spLocks noGrp="1"/>
          </p:cNvSpPr>
          <p:nvPr/>
        </p:nvSpPr>
        <p:spPr>
          <a:xfrm>
            <a:off x="609600" y="327069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Prawdopodobieństwo mutacji określa częstość zmian.</a:t>
            </a:r>
          </a:p>
        </p:txBody>
      </p:sp>
      <p:sp>
        <p:nvSpPr>
          <p:cNvPr id="8" name="text-7">
            <a:extLst>
              <a:ext uri="{FF2B5EF4-FFF2-40B4-BE49-F238E27FC236}">
                <a16:creationId xmlns:a16="http://schemas.microsoft.com/office/drawing/2014/main" id="{EA54DFE9-F36D-4C14-AA24-DBBA597779DE}"/>
              </a:ext>
            </a:extLst>
          </p:cNvPr>
          <p:cNvSpPr>
            <a:spLocks noGrp="1"/>
          </p:cNvSpPr>
          <p:nvPr/>
        </p:nvSpPr>
        <p:spPr>
          <a:xfrm>
            <a:off x="609600" y="4201859"/>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Sigma określa ich skalę.</a:t>
            </a:r>
          </a:p>
        </p:txBody>
      </p:sp>
      <p:sp>
        <p:nvSpPr>
          <p:cNvPr id="9" name="text-8">
            <a:extLst>
              <a:ext uri="{FF2B5EF4-FFF2-40B4-BE49-F238E27FC236}">
                <a16:creationId xmlns:a16="http://schemas.microsoft.com/office/drawing/2014/main" id="{DAF63422-4891-4F1A-BE81-76EFE9B30ECE}"/>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DIAGNOSTYKA</a:t>
            </a:r>
          </a:p>
        </p:txBody>
      </p:sp>
      <p:sp>
        <p:nvSpPr>
          <p:cNvPr id="10" name="text-9">
            <a:extLst>
              <a:ext uri="{FF2B5EF4-FFF2-40B4-BE49-F238E27FC236}">
                <a16:creationId xmlns:a16="http://schemas.microsoft.com/office/drawing/2014/main" id="{B329748C-EEE2-494C-8338-7B30DAACC825}"/>
              </a:ext>
            </a:extLst>
          </p:cNvPr>
          <p:cNvSpPr>
            <a:spLocks noGrp="1"/>
          </p:cNvSpPr>
          <p:nvPr/>
        </p:nvSpPr>
        <p:spPr>
          <a:xfrm>
            <a:off x="6515100" y="267652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Populacja nie powinna zbyt szybko się ujednolicić.</a:t>
            </a:r>
          </a:p>
        </p:txBody>
      </p:sp>
      <p:sp>
        <p:nvSpPr>
          <p:cNvPr id="11" name="text-10">
            <a:extLst>
              <a:ext uri="{FF2B5EF4-FFF2-40B4-BE49-F238E27FC236}">
                <a16:creationId xmlns:a16="http://schemas.microsoft.com/office/drawing/2014/main" id="{88CE198A-4118-4CBD-8B4A-6019AE78B310}"/>
              </a:ext>
            </a:extLst>
          </p:cNvPr>
          <p:cNvSpPr>
            <a:spLocks noGrp="1"/>
          </p:cNvSpPr>
          <p:nvPr/>
        </p:nvSpPr>
        <p:spPr>
          <a:xfrm>
            <a:off x="6515100" y="3607689"/>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Sama mutacja nie gwarantuje poprawy.</a:t>
            </a:r>
          </a:p>
        </p:txBody>
      </p:sp>
      <p:sp>
        <p:nvSpPr>
          <p:cNvPr id="12" name="text-11">
            <a:extLst>
              <a:ext uri="{FF2B5EF4-FFF2-40B4-BE49-F238E27FC236}">
                <a16:creationId xmlns:a16="http://schemas.microsoft.com/office/drawing/2014/main" id="{D88D6DC2-1E5A-4AAC-AF16-B68EFBFEF70D}"/>
              </a:ext>
            </a:extLst>
          </p:cNvPr>
          <p:cNvSpPr>
            <a:spLocks noGrp="1"/>
          </p:cNvSpPr>
          <p:nvPr/>
        </p:nvSpPr>
        <p:spPr>
          <a:xfrm>
            <a:off x="6515100" y="4538853"/>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Wyniki porównujemy dla wielu ziaren.</a:t>
            </a:r>
          </a:p>
        </p:txBody>
      </p:sp>
    </p:spTree>
    <p:extLst>
      <p:ext uri="{BB962C8B-B14F-4D97-AF65-F5344CB8AC3E}">
        <p14:creationId xmlns:p14="http://schemas.microsoft.com/office/powerpoint/2010/main" val="19842569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2E4D004C-9E8D-467E-A82A-A14E5E9947F0}"/>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01503999-8324-490F-BBFF-8E19B2144D4D}"/>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38</a:t>
            </a:r>
          </a:p>
        </p:txBody>
      </p:sp>
      <p:sp>
        <p:nvSpPr>
          <p:cNvPr id="3" name="text-2">
            <a:extLst>
              <a:ext uri="{FF2B5EF4-FFF2-40B4-BE49-F238E27FC236}">
                <a16:creationId xmlns:a16="http://schemas.microsoft.com/office/drawing/2014/main" id="{8B68421E-B2C0-43FB-B60A-6100EB859695}"/>
              </a:ext>
            </a:extLst>
          </p:cNvPr>
          <p:cNvSpPr>
            <a:spLocks noGrp="1"/>
          </p:cNvSpPr>
          <p:nvPr/>
        </p:nvSpPr>
        <p:spPr>
          <a:xfrm>
            <a:off x="609600" y="352425"/>
            <a:ext cx="10972800" cy="238125"/>
          </a:xfrm>
          <a:prstGeom prst="rect">
            <a:avLst/>
          </a:prstGeom>
          <a:noFill/>
          <a:ln w="0">
            <a:noFill/>
          </a:ln>
        </p:spPr>
        <p:txBody>
          <a:bodyPr wrap="square" lIns="0" tIns="0" rIns="0" bIns="0" anchor="t">
            <a:noAutofit/>
          </a:bodyPr>
          <a:lstStyle/>
          <a:p>
            <a:pPr>
              <a:defRPr sz="1125" b="1">
                <a:solidFill>
                  <a:srgbClr val="62DCCB"/>
                </a:solidFill>
                <a:latin typeface="Nimbus Sans"/>
                <a:ea typeface="Nimbus Sans"/>
                <a:cs typeface="Nimbus Sans"/>
              </a:defRPr>
            </a:pPr>
            <a:r>
              <a:rPr sz="1125" b="1">
                <a:solidFill>
                  <a:srgbClr val="62DCCB"/>
                </a:solidFill>
                <a:latin typeface="Nimbus Sans"/>
                <a:ea typeface="Nimbus Sans"/>
                <a:cs typeface="Nimbus Sans"/>
              </a:rPr>
              <a:t>PYTHON  /  02  /  ALGORYTMY GENETYCZNE</a:t>
            </a:r>
          </a:p>
        </p:txBody>
      </p:sp>
      <p:sp>
        <p:nvSpPr>
          <p:cNvPr id="4" name="text-3">
            <a:extLst>
              <a:ext uri="{FF2B5EF4-FFF2-40B4-BE49-F238E27FC236}">
                <a16:creationId xmlns:a16="http://schemas.microsoft.com/office/drawing/2014/main" id="{05492037-4ACE-46B6-95BC-60C822E546AC}"/>
              </a:ext>
            </a:extLst>
          </p:cNvPr>
          <p:cNvSpPr>
            <a:spLocks noGrp="1"/>
          </p:cNvSpPr>
          <p:nvPr/>
        </p:nvSpPr>
        <p:spPr>
          <a:xfrm>
            <a:off x="609600" y="828675"/>
            <a:ext cx="10972800" cy="1047750"/>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Pętla algorytmu genetycznego</a:t>
            </a:r>
          </a:p>
        </p:txBody>
      </p:sp>
      <p:sp>
        <p:nvSpPr>
          <p:cNvPr id="5" name="text-4">
            <a:extLst>
              <a:ext uri="{FF2B5EF4-FFF2-40B4-BE49-F238E27FC236}">
                <a16:creationId xmlns:a16="http://schemas.microsoft.com/office/drawing/2014/main" id="{F3B23850-C5E8-47E2-818B-CC6B4446E448}"/>
              </a:ext>
            </a:extLst>
          </p:cNvPr>
          <p:cNvSpPr>
            <a:spLocks noGrp="1"/>
          </p:cNvSpPr>
          <p:nvPr/>
        </p:nvSpPr>
        <p:spPr>
          <a:xfrm>
            <a:off x="609600" y="2095500"/>
            <a:ext cx="7839075" cy="3838575"/>
          </a:xfrm>
          <a:prstGeom prst="rect">
            <a:avLst/>
          </a:prstGeom>
          <a:noFill/>
          <a:ln w="0">
            <a:noFill/>
          </a:ln>
        </p:spPr>
        <p:txBody>
          <a:bodyPr wrap="square" lIns="0" tIns="0" rIns="0" bIns="0" anchor="t">
            <a:noAutofit/>
          </a:bodyPr>
          <a:lstStyle/>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populacja = inicjalizuj()</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for pokolenie in range(limit):</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koszty = ocen(populacja)</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elita = zachowaj_najlepszych(populacja, koszty)</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rodzice = selekcja_turniejowa(populacja, koszty)</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dzieci = krzyzowanie(rodzice)</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dzieci = mutacja(dzieci)</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dzieci = napraw_ograniczenia(dzieci)</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populacja = polacz(elita, dzieci)</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zapisz_log(pokolenie, populacja)</a:t>
            </a:r>
          </a:p>
        </p:txBody>
      </p:sp>
      <p:sp>
        <p:nvSpPr>
          <p:cNvPr id="6" name="text-5">
            <a:extLst>
              <a:ext uri="{FF2B5EF4-FFF2-40B4-BE49-F238E27FC236}">
                <a16:creationId xmlns:a16="http://schemas.microsoft.com/office/drawing/2014/main" id="{79C157F6-3CD3-4D3C-99E6-0BC422F031D1}"/>
              </a:ext>
            </a:extLst>
          </p:cNvPr>
          <p:cNvSpPr>
            <a:spLocks noGrp="1"/>
          </p:cNvSpPr>
          <p:nvPr/>
        </p:nvSpPr>
        <p:spPr>
          <a:xfrm>
            <a:off x="8924925" y="2057400"/>
            <a:ext cx="2657475" cy="495300"/>
          </a:xfrm>
          <a:prstGeom prst="rect">
            <a:avLst/>
          </a:prstGeom>
          <a:noFill/>
          <a:ln w="0">
            <a:noFill/>
          </a:ln>
        </p:spPr>
        <p:txBody>
          <a:bodyPr wrap="square" lIns="0" tIns="0" rIns="0" bIns="0" anchor="t">
            <a:noAutofit/>
          </a:bodyPr>
          <a:lstStyle/>
          <a:p>
            <a:pPr>
              <a:defRPr sz="1575" b="1">
                <a:solidFill>
                  <a:srgbClr val="62DCCB"/>
                </a:solidFill>
                <a:latin typeface="Nimbus Sans"/>
                <a:ea typeface="Nimbus Sans"/>
                <a:cs typeface="Nimbus Sans"/>
              </a:defRPr>
            </a:pPr>
            <a:r>
              <a:rPr sz="1575" b="1">
                <a:solidFill>
                  <a:srgbClr val="62DCCB"/>
                </a:solidFill>
                <a:latin typeface="Nimbus Sans"/>
                <a:ea typeface="Nimbus Sans"/>
                <a:cs typeface="Nimbus Sans"/>
              </a:rPr>
              <a:t>Pseudokod</a:t>
            </a:r>
          </a:p>
        </p:txBody>
      </p:sp>
      <p:sp>
        <p:nvSpPr>
          <p:cNvPr id="7" name="text-6">
            <a:extLst>
              <a:ext uri="{FF2B5EF4-FFF2-40B4-BE49-F238E27FC236}">
                <a16:creationId xmlns:a16="http://schemas.microsoft.com/office/drawing/2014/main" id="{EC21B527-7775-4D40-8690-CB13BCA8635F}"/>
              </a:ext>
            </a:extLst>
          </p:cNvPr>
          <p:cNvSpPr>
            <a:spLocks noGrp="1"/>
          </p:cNvSpPr>
          <p:nvPr/>
        </p:nvSpPr>
        <p:spPr>
          <a:xfrm>
            <a:off x="8924925" y="2657475"/>
            <a:ext cx="2657475" cy="1294257"/>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Log obejmuje najlepszy koszt, medianę i różnorodność.</a:t>
            </a:r>
          </a:p>
        </p:txBody>
      </p:sp>
      <p:sp>
        <p:nvSpPr>
          <p:cNvPr id="8" name="text-7">
            <a:extLst>
              <a:ext uri="{FF2B5EF4-FFF2-40B4-BE49-F238E27FC236}">
                <a16:creationId xmlns:a16="http://schemas.microsoft.com/office/drawing/2014/main" id="{49CD0B2D-9DC5-4C70-B1D0-D0AC4E4CA16A}"/>
              </a:ext>
            </a:extLst>
          </p:cNvPr>
          <p:cNvSpPr>
            <a:spLocks noGrp="1"/>
          </p:cNvSpPr>
          <p:nvPr/>
        </p:nvSpPr>
        <p:spPr>
          <a:xfrm>
            <a:off x="8924925" y="4123182"/>
            <a:ext cx="2657475" cy="992124"/>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Budżet porównania to liczba ocen funkcji celu.</a:t>
            </a:r>
          </a:p>
        </p:txBody>
      </p:sp>
    </p:spTree>
    <p:extLst>
      <p:ext uri="{BB962C8B-B14F-4D97-AF65-F5344CB8AC3E}">
        <p14:creationId xmlns:p14="http://schemas.microsoft.com/office/powerpoint/2010/main" val="1176108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619336EE-62E2-4983-B658-0ECCFF98FAE0}"/>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02  /  ALGORYTMY GENETYCZNE</a:t>
            </a:r>
          </a:p>
        </p:txBody>
      </p:sp>
      <p:sp>
        <p:nvSpPr>
          <p:cNvPr id="2" name="text-1">
            <a:extLst>
              <a:ext uri="{FF2B5EF4-FFF2-40B4-BE49-F238E27FC236}">
                <a16:creationId xmlns:a16="http://schemas.microsoft.com/office/drawing/2014/main" id="{47DC5664-FEEF-4ABE-B326-70872BB0EEC5}"/>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Zbieżność populacji</a:t>
            </a:r>
          </a:p>
        </p:txBody>
      </p:sp>
      <p:sp>
        <p:nvSpPr>
          <p:cNvPr id="3" name="text-2">
            <a:extLst>
              <a:ext uri="{FF2B5EF4-FFF2-40B4-BE49-F238E27FC236}">
                <a16:creationId xmlns:a16="http://schemas.microsoft.com/office/drawing/2014/main" id="{E8202724-E509-442B-B90E-F38B89B6B6E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86F70D03-FC57-4128-B6C8-273A8BE447C1}"/>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39</a:t>
            </a:r>
          </a:p>
        </p:txBody>
      </p:sp>
      <p:graphicFrame>
        <p:nvGraphicFramePr>
          <p:cNvPr id="14" name="Chart"/>
          <p:cNvGraphicFramePr/>
          <p:nvPr/>
        </p:nvGraphicFramePr>
        <p:xfrm>
          <a:off x="542925" y="1924050"/>
          <a:ext cx="7648575" cy="39719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
            <a:extLst>
              <a:ext uri="{FF2B5EF4-FFF2-40B4-BE49-F238E27FC236}">
                <a16:creationId xmlns:a16="http://schemas.microsoft.com/office/drawing/2014/main" id="{AB0D2A1B-8374-44A2-8A02-09F8C3A65FDD}"/>
              </a:ext>
            </a:extLst>
          </p:cNvPr>
          <p:cNvSpPr>
            <a:spLocks noGrp="1"/>
          </p:cNvSpPr>
          <p:nvPr/>
        </p:nvSpPr>
        <p:spPr>
          <a:xfrm>
            <a:off x="8591550" y="2133600"/>
            <a:ext cx="29908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Dwa spojrzenia</a:t>
            </a:r>
          </a:p>
        </p:txBody>
      </p:sp>
      <p:sp>
        <p:nvSpPr>
          <p:cNvPr id="7" name="text-5">
            <a:extLst>
              <a:ext uri="{FF2B5EF4-FFF2-40B4-BE49-F238E27FC236}">
                <a16:creationId xmlns:a16="http://schemas.microsoft.com/office/drawing/2014/main" id="{07968226-9ECA-4B23-9982-B4B6D86D85FD}"/>
              </a:ext>
            </a:extLst>
          </p:cNvPr>
          <p:cNvSpPr>
            <a:spLocks noGrp="1"/>
          </p:cNvSpPr>
          <p:nvPr/>
        </p:nvSpPr>
        <p:spPr>
          <a:xfrm>
            <a:off x="8591550" y="2733675"/>
            <a:ext cx="2990850" cy="992124"/>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Najlepszy wynik pokazuje znalezione rozwiązanie.</a:t>
            </a:r>
          </a:p>
        </p:txBody>
      </p:sp>
      <p:sp>
        <p:nvSpPr>
          <p:cNvPr id="8" name="text-6">
            <a:extLst>
              <a:ext uri="{FF2B5EF4-FFF2-40B4-BE49-F238E27FC236}">
                <a16:creationId xmlns:a16="http://schemas.microsoft.com/office/drawing/2014/main" id="{AFB0929A-35A4-422F-B747-FE11B36E509D}"/>
              </a:ext>
            </a:extLst>
          </p:cNvPr>
          <p:cNvSpPr>
            <a:spLocks noGrp="1"/>
          </p:cNvSpPr>
          <p:nvPr/>
        </p:nvSpPr>
        <p:spPr>
          <a:xfrm>
            <a:off x="8591550" y="3897249"/>
            <a:ext cx="2990850" cy="689991"/>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Mediana mówi, co dzieje się z populacją.</a:t>
            </a:r>
          </a:p>
        </p:txBody>
      </p:sp>
      <p:sp>
        <p:nvSpPr>
          <p:cNvPr id="9" name="text-7">
            <a:extLst>
              <a:ext uri="{FF2B5EF4-FFF2-40B4-BE49-F238E27FC236}">
                <a16:creationId xmlns:a16="http://schemas.microsoft.com/office/drawing/2014/main" id="{A430BE88-B775-4B26-9E2F-E58C06877334}"/>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Dane ilustracyjne, przykład minimalizacji z elityzmem.</a:t>
            </a:r>
          </a:p>
        </p:txBody>
      </p:sp>
    </p:spTree>
    <p:extLst>
      <p:ext uri="{BB962C8B-B14F-4D97-AF65-F5344CB8AC3E}">
        <p14:creationId xmlns:p14="http://schemas.microsoft.com/office/powerpoint/2010/main" val="11716305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50220FC0-8C5B-455E-83A2-C1F627CE8139}"/>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2F97E114-50D8-4A46-863B-C78529B4561F}"/>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40</a:t>
            </a:r>
          </a:p>
        </p:txBody>
      </p:sp>
      <p:sp>
        <p:nvSpPr>
          <p:cNvPr id="3" name="text-2">
            <a:extLst>
              <a:ext uri="{FF2B5EF4-FFF2-40B4-BE49-F238E27FC236}">
                <a16:creationId xmlns:a16="http://schemas.microsoft.com/office/drawing/2014/main" id="{64373D66-2834-44CF-8E35-27B1A5FE7CCE}"/>
              </a:ext>
            </a:extLst>
          </p:cNvPr>
          <p:cNvSpPr>
            <a:spLocks noGrp="1"/>
          </p:cNvSpPr>
          <p:nvPr/>
        </p:nvSpPr>
        <p:spPr>
          <a:xfrm>
            <a:off x="609600" y="400050"/>
            <a:ext cx="10477500" cy="28575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LABORATORIUM 04  /  60 MIN</a:t>
            </a:r>
          </a:p>
        </p:txBody>
      </p:sp>
      <p:sp>
        <p:nvSpPr>
          <p:cNvPr id="4" name="text-3">
            <a:extLst>
              <a:ext uri="{FF2B5EF4-FFF2-40B4-BE49-F238E27FC236}">
                <a16:creationId xmlns:a16="http://schemas.microsoft.com/office/drawing/2014/main" id="{63D8079E-694E-415A-BC7A-B2378AFF85FB}"/>
              </a:ext>
            </a:extLst>
          </p:cNvPr>
          <p:cNvSpPr>
            <a:spLocks noGrp="1"/>
          </p:cNvSpPr>
          <p:nvPr/>
        </p:nvSpPr>
        <p:spPr>
          <a:xfrm>
            <a:off x="609600" y="971550"/>
            <a:ext cx="10972800" cy="1000125"/>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Optymalizacja funkcji Rastrigina</a:t>
            </a:r>
          </a:p>
        </p:txBody>
      </p:sp>
      <p:sp>
        <p:nvSpPr>
          <p:cNvPr id="5" name="text-4">
            <a:extLst>
              <a:ext uri="{FF2B5EF4-FFF2-40B4-BE49-F238E27FC236}">
                <a16:creationId xmlns:a16="http://schemas.microsoft.com/office/drawing/2014/main" id="{0DE96ABE-5AB4-44B6-9C22-20F8E05038E7}"/>
              </a:ext>
            </a:extLst>
          </p:cNvPr>
          <p:cNvSpPr>
            <a:spLocks noGrp="1"/>
          </p:cNvSpPr>
          <p:nvPr/>
        </p:nvSpPr>
        <p:spPr>
          <a:xfrm>
            <a:off x="609600" y="23145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01</a:t>
            </a:r>
          </a:p>
        </p:txBody>
      </p:sp>
      <p:sp>
        <p:nvSpPr>
          <p:cNvPr id="6" name="text-5">
            <a:extLst>
              <a:ext uri="{FF2B5EF4-FFF2-40B4-BE49-F238E27FC236}">
                <a16:creationId xmlns:a16="http://schemas.microsoft.com/office/drawing/2014/main" id="{8E7D9F25-6538-4773-AA1D-E1D99A2CEA06}"/>
              </a:ext>
            </a:extLst>
          </p:cNvPr>
          <p:cNvSpPr>
            <a:spLocks noGrp="1"/>
          </p:cNvSpPr>
          <p:nvPr/>
        </p:nvSpPr>
        <p:spPr>
          <a:xfrm>
            <a:off x="1485900" y="22764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Zaimplementuj f(x) dla dwóch zmiennych.</a:t>
            </a:r>
          </a:p>
        </p:txBody>
      </p:sp>
      <p:sp>
        <p:nvSpPr>
          <p:cNvPr id="7" name="text-6">
            <a:extLst>
              <a:ext uri="{FF2B5EF4-FFF2-40B4-BE49-F238E27FC236}">
                <a16:creationId xmlns:a16="http://schemas.microsoft.com/office/drawing/2014/main" id="{1303F359-5945-46D7-AD62-35C83B6FF936}"/>
              </a:ext>
            </a:extLst>
          </p:cNvPr>
          <p:cNvSpPr>
            <a:spLocks noGrp="1"/>
          </p:cNvSpPr>
          <p:nvPr/>
        </p:nvSpPr>
        <p:spPr>
          <a:xfrm>
            <a:off x="609600" y="31527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02</a:t>
            </a:r>
          </a:p>
        </p:txBody>
      </p:sp>
      <p:sp>
        <p:nvSpPr>
          <p:cNvPr id="8" name="text-7">
            <a:extLst>
              <a:ext uri="{FF2B5EF4-FFF2-40B4-BE49-F238E27FC236}">
                <a16:creationId xmlns:a16="http://schemas.microsoft.com/office/drawing/2014/main" id="{827A9204-E422-4F00-AFC0-8B187A24E305}"/>
              </a:ext>
            </a:extLst>
          </p:cNvPr>
          <p:cNvSpPr>
            <a:spLocks noGrp="1"/>
          </p:cNvSpPr>
          <p:nvPr/>
        </p:nvSpPr>
        <p:spPr>
          <a:xfrm>
            <a:off x="1485900" y="31146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Użyj populacji 60 osobników i 80 pokoleń.</a:t>
            </a:r>
          </a:p>
        </p:txBody>
      </p:sp>
      <p:sp>
        <p:nvSpPr>
          <p:cNvPr id="9" name="text-8">
            <a:extLst>
              <a:ext uri="{FF2B5EF4-FFF2-40B4-BE49-F238E27FC236}">
                <a16:creationId xmlns:a16="http://schemas.microsoft.com/office/drawing/2014/main" id="{BC6988EA-C9B9-4F6E-97D5-B34C84056562}"/>
              </a:ext>
            </a:extLst>
          </p:cNvPr>
          <p:cNvSpPr>
            <a:spLocks noGrp="1"/>
          </p:cNvSpPr>
          <p:nvPr/>
        </p:nvSpPr>
        <p:spPr>
          <a:xfrm>
            <a:off x="609600" y="39909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03</a:t>
            </a:r>
          </a:p>
        </p:txBody>
      </p:sp>
      <p:sp>
        <p:nvSpPr>
          <p:cNvPr id="10" name="text-9">
            <a:extLst>
              <a:ext uri="{FF2B5EF4-FFF2-40B4-BE49-F238E27FC236}">
                <a16:creationId xmlns:a16="http://schemas.microsoft.com/office/drawing/2014/main" id="{39019352-5E76-4710-B9DE-99F6043B22A3}"/>
              </a:ext>
            </a:extLst>
          </p:cNvPr>
          <p:cNvSpPr>
            <a:spLocks noGrp="1"/>
          </p:cNvSpPr>
          <p:nvPr/>
        </p:nvSpPr>
        <p:spPr>
          <a:xfrm>
            <a:off x="1485900" y="39528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Dodaj turniej, krzyżowanie, mutację oraz 2 elity.</a:t>
            </a:r>
          </a:p>
        </p:txBody>
      </p:sp>
      <p:sp>
        <p:nvSpPr>
          <p:cNvPr id="11" name="text-10">
            <a:extLst>
              <a:ext uri="{FF2B5EF4-FFF2-40B4-BE49-F238E27FC236}">
                <a16:creationId xmlns:a16="http://schemas.microsoft.com/office/drawing/2014/main" id="{2D89FA28-C654-415B-89CF-87388E490359}"/>
              </a:ext>
            </a:extLst>
          </p:cNvPr>
          <p:cNvSpPr>
            <a:spLocks noGrp="1"/>
          </p:cNvSpPr>
          <p:nvPr/>
        </p:nvSpPr>
        <p:spPr>
          <a:xfrm>
            <a:off x="609600" y="48291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04</a:t>
            </a:r>
          </a:p>
        </p:txBody>
      </p:sp>
      <p:sp>
        <p:nvSpPr>
          <p:cNvPr id="12" name="text-11">
            <a:extLst>
              <a:ext uri="{FF2B5EF4-FFF2-40B4-BE49-F238E27FC236}">
                <a16:creationId xmlns:a16="http://schemas.microsoft.com/office/drawing/2014/main" id="{23DD7430-9F19-4692-A828-2ECA51EE88F6}"/>
              </a:ext>
            </a:extLst>
          </p:cNvPr>
          <p:cNvSpPr>
            <a:spLocks noGrp="1"/>
          </p:cNvSpPr>
          <p:nvPr/>
        </p:nvSpPr>
        <p:spPr>
          <a:xfrm>
            <a:off x="1485900" y="47910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Porównaj 5 ziaren z losowym wyszukiwaniem.</a:t>
            </a:r>
          </a:p>
        </p:txBody>
      </p:sp>
      <p:sp>
        <p:nvSpPr>
          <p:cNvPr id="13" name="text-12">
            <a:extLst>
              <a:ext uri="{FF2B5EF4-FFF2-40B4-BE49-F238E27FC236}">
                <a16:creationId xmlns:a16="http://schemas.microsoft.com/office/drawing/2014/main" id="{D0482883-96D3-4DE2-AD24-C8A8A6477654}"/>
              </a:ext>
            </a:extLst>
          </p:cNvPr>
          <p:cNvSpPr>
            <a:spLocks noGrp="1"/>
          </p:cNvSpPr>
          <p:nvPr/>
        </p:nvSpPr>
        <p:spPr>
          <a:xfrm>
            <a:off x="609600" y="5848350"/>
            <a:ext cx="1371600" cy="257175"/>
          </a:xfrm>
          <a:prstGeom prst="rect">
            <a:avLst/>
          </a:prstGeom>
          <a:noFill/>
          <a:ln w="0">
            <a:noFill/>
          </a:ln>
        </p:spPr>
        <p:txBody>
          <a:bodyPr wrap="square" lIns="0" tIns="0" rIns="0" bIns="0" anchor="t">
            <a:noAutofit/>
          </a:bodyPr>
          <a:lstStyle/>
          <a:p>
            <a:pPr>
              <a:defRPr sz="1200" b="1">
                <a:solidFill>
                  <a:srgbClr val="62DCCB"/>
                </a:solidFill>
                <a:latin typeface="Nimbus Sans"/>
                <a:ea typeface="Nimbus Sans"/>
                <a:cs typeface="Nimbus Sans"/>
              </a:defRPr>
            </a:pPr>
            <a:r>
              <a:rPr sz="1200" b="1">
                <a:solidFill>
                  <a:srgbClr val="62DCCB"/>
                </a:solidFill>
                <a:latin typeface="Nimbus Sans"/>
                <a:ea typeface="Nimbus Sans"/>
                <a:cs typeface="Nimbus Sans"/>
              </a:rPr>
              <a:t>REZULTAT</a:t>
            </a:r>
          </a:p>
        </p:txBody>
      </p:sp>
      <p:sp>
        <p:nvSpPr>
          <p:cNvPr id="14" name="text-13">
            <a:extLst>
              <a:ext uri="{FF2B5EF4-FFF2-40B4-BE49-F238E27FC236}">
                <a16:creationId xmlns:a16="http://schemas.microsoft.com/office/drawing/2014/main" id="{68F7A3C6-D83E-4375-BD04-E2B1549FC03B}"/>
              </a:ext>
            </a:extLst>
          </p:cNvPr>
          <p:cNvSpPr>
            <a:spLocks noGrp="1"/>
          </p:cNvSpPr>
          <p:nvPr/>
        </p:nvSpPr>
        <p:spPr>
          <a:xfrm>
            <a:off x="2057400" y="5791200"/>
            <a:ext cx="9525000" cy="457200"/>
          </a:xfrm>
          <a:prstGeom prst="rect">
            <a:avLst/>
          </a:prstGeom>
          <a:noFill/>
          <a:ln w="0">
            <a:noFill/>
          </a:ln>
        </p:spPr>
        <p:txBody>
          <a:bodyPr wrap="square" lIns="0" tIns="0" rIns="0" bIns="0" anchor="t">
            <a:noAutofit/>
          </a:bodyPr>
          <a:lstStyle/>
          <a:p>
            <a:pPr>
              <a:defRPr sz="1800" b="0">
                <a:solidFill>
                  <a:srgbClr val="D7E3E8"/>
                </a:solidFill>
                <a:latin typeface="Nimbus Sans"/>
                <a:ea typeface="Nimbus Sans"/>
                <a:cs typeface="Nimbus Sans"/>
              </a:defRPr>
            </a:pPr>
            <a:r>
              <a:rPr sz="1800" b="0">
                <a:solidFill>
                  <a:srgbClr val="D7E3E8"/>
                </a:solidFill>
                <a:latin typeface="Nimbus Sans"/>
                <a:ea typeface="Nimbus Sans"/>
                <a:cs typeface="Nimbus Sans"/>
              </a:rPr>
              <a:t>Wykres kosztu, log eksperymentu i porównanie przy równym budżecie.</a:t>
            </a:r>
          </a:p>
        </p:txBody>
      </p:sp>
    </p:spTree>
    <p:extLst>
      <p:ext uri="{BB962C8B-B14F-4D97-AF65-F5344CB8AC3E}">
        <p14:creationId xmlns:p14="http://schemas.microsoft.com/office/powerpoint/2010/main" val="1478433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5E51E6A6-6A0A-4164-840A-F63BC1731734}"/>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02  /  ALGORYTMY GENETYCZNE</a:t>
            </a:r>
          </a:p>
        </p:txBody>
      </p:sp>
      <p:sp>
        <p:nvSpPr>
          <p:cNvPr id="2" name="text-1">
            <a:extLst>
              <a:ext uri="{FF2B5EF4-FFF2-40B4-BE49-F238E27FC236}">
                <a16:creationId xmlns:a16="http://schemas.microsoft.com/office/drawing/2014/main" id="{F31D05E1-862F-4398-B21F-EB1CBBFF51B2}"/>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Przykład: optymalizacja portfela</a:t>
            </a:r>
          </a:p>
        </p:txBody>
      </p:sp>
      <p:sp>
        <p:nvSpPr>
          <p:cNvPr id="3" name="text-2">
            <a:extLst>
              <a:ext uri="{FF2B5EF4-FFF2-40B4-BE49-F238E27FC236}">
                <a16:creationId xmlns:a16="http://schemas.microsoft.com/office/drawing/2014/main" id="{C11568B1-B505-4575-A410-E1C0BE3D7AD6}"/>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02AA9E8D-097F-46F4-A5E9-9A9A64007D60}"/>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41</a:t>
            </a:r>
          </a:p>
        </p:txBody>
      </p:sp>
      <p:sp>
        <p:nvSpPr>
          <p:cNvPr id="5" name="text-4">
            <a:extLst>
              <a:ext uri="{FF2B5EF4-FFF2-40B4-BE49-F238E27FC236}">
                <a16:creationId xmlns:a16="http://schemas.microsoft.com/office/drawing/2014/main" id="{F5C9A1F4-65F5-4C90-A88E-E945EC145E69}"/>
              </a:ext>
            </a:extLst>
          </p:cNvPr>
          <p:cNvSpPr>
            <a:spLocks noGrp="1"/>
          </p:cNvSpPr>
          <p:nvPr/>
        </p:nvSpPr>
        <p:spPr>
          <a:xfrm>
            <a:off x="609600" y="1952625"/>
            <a:ext cx="10972800" cy="685800"/>
          </a:xfrm>
          <a:prstGeom prst="rect">
            <a:avLst/>
          </a:prstGeom>
          <a:noFill/>
          <a:ln w="0">
            <a:noFill/>
          </a:ln>
        </p:spPr>
        <p:txBody>
          <a:bodyPr wrap="square" lIns="0" tIns="0" rIns="0" bIns="0" anchor="t">
            <a:noAutofit/>
          </a:bodyPr>
          <a:lstStyle/>
          <a:p>
            <a:pPr>
              <a:defRPr sz="3225" b="1">
                <a:solidFill>
                  <a:srgbClr val="007F7A"/>
                </a:solidFill>
                <a:latin typeface="Nimbus Sans"/>
                <a:ea typeface="Nimbus Sans"/>
                <a:cs typeface="Nimbus Sans"/>
              </a:defRPr>
            </a:pPr>
            <a:r>
              <a:rPr sz="3225" b="1">
                <a:solidFill>
                  <a:srgbClr val="007F7A"/>
                </a:solidFill>
                <a:latin typeface="Nimbus Sans"/>
                <a:ea typeface="Nimbus Sans"/>
                <a:cs typeface="Nimbus Sans"/>
              </a:rPr>
              <a:t>min J(w) = wᵀΣw − λ · μᵀw</a:t>
            </a:r>
          </a:p>
        </p:txBody>
      </p:sp>
      <p:sp>
        <p:nvSpPr>
          <p:cNvPr id="6" name="text-5">
            <a:extLst>
              <a:ext uri="{FF2B5EF4-FFF2-40B4-BE49-F238E27FC236}">
                <a16:creationId xmlns:a16="http://schemas.microsoft.com/office/drawing/2014/main" id="{1A3FF40B-8346-488B-B602-4363E19387F1}"/>
              </a:ext>
            </a:extLst>
          </p:cNvPr>
          <p:cNvSpPr>
            <a:spLocks noGrp="1"/>
          </p:cNvSpPr>
          <p:nvPr/>
        </p:nvSpPr>
        <p:spPr>
          <a:xfrm>
            <a:off x="628650" y="2924175"/>
            <a:ext cx="10953750" cy="723900"/>
          </a:xfrm>
          <a:prstGeom prst="rect">
            <a:avLst/>
          </a:prstGeom>
          <a:noFill/>
          <a:ln w="0">
            <a:noFill/>
          </a:ln>
        </p:spPr>
        <p:txBody>
          <a:bodyPr wrap="square" lIns="0" tIns="0" rIns="0" bIns="0" anchor="t">
            <a:noAutofit/>
          </a:bodyPr>
          <a:lstStyle/>
          <a:p>
            <a:pPr>
              <a:defRPr sz="2100" b="0">
                <a:solidFill>
                  <a:srgbClr val="586779"/>
                </a:solidFill>
                <a:latin typeface="Nimbus Sans"/>
                <a:ea typeface="Nimbus Sans"/>
                <a:cs typeface="Nimbus Sans"/>
              </a:defRPr>
            </a:pPr>
            <a:r>
              <a:rPr sz="2100" b="0">
                <a:solidFill>
                  <a:srgbClr val="586779"/>
                </a:solidFill>
                <a:latin typeface="Nimbus Sans"/>
                <a:ea typeface="Nimbus Sans"/>
                <a:cs typeface="Nimbus Sans"/>
              </a:rPr>
              <a:t>wᵢ ≥ 0,   Σᵢwᵢ = 1</a:t>
            </a:r>
          </a:p>
        </p:txBody>
      </p:sp>
      <p:sp>
        <p:nvSpPr>
          <p:cNvPr id="7" name="text-6">
            <a:extLst>
              <a:ext uri="{FF2B5EF4-FFF2-40B4-BE49-F238E27FC236}">
                <a16:creationId xmlns:a16="http://schemas.microsoft.com/office/drawing/2014/main" id="{B1C2AE04-7647-43E3-BF4A-93A4BFCAAB0A}"/>
              </a:ext>
            </a:extLst>
          </p:cNvPr>
          <p:cNvSpPr>
            <a:spLocks noGrp="1"/>
          </p:cNvSpPr>
          <p:nvPr/>
        </p:nvSpPr>
        <p:spPr>
          <a:xfrm>
            <a:off x="628650"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Chromosom</a:t>
            </a:r>
          </a:p>
        </p:txBody>
      </p:sp>
      <p:sp>
        <p:nvSpPr>
          <p:cNvPr id="8" name="text-7">
            <a:extLst>
              <a:ext uri="{FF2B5EF4-FFF2-40B4-BE49-F238E27FC236}">
                <a16:creationId xmlns:a16="http://schemas.microsoft.com/office/drawing/2014/main" id="{F8D76617-FD11-4A67-A0DC-317C907CE53F}"/>
              </a:ext>
            </a:extLst>
          </p:cNvPr>
          <p:cNvSpPr>
            <a:spLocks noGrp="1"/>
          </p:cNvSpPr>
          <p:nvPr/>
        </p:nvSpPr>
        <p:spPr>
          <a:xfrm>
            <a:off x="628650"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Wagi instrumentów z limitem koncentracji.</a:t>
            </a:r>
          </a:p>
        </p:txBody>
      </p:sp>
      <p:sp>
        <p:nvSpPr>
          <p:cNvPr id="9" name="text-8">
            <a:extLst>
              <a:ext uri="{FF2B5EF4-FFF2-40B4-BE49-F238E27FC236}">
                <a16:creationId xmlns:a16="http://schemas.microsoft.com/office/drawing/2014/main" id="{DFF936CE-47A4-423A-9AE6-E53FC0BA0E96}"/>
              </a:ext>
            </a:extLst>
          </p:cNvPr>
          <p:cNvSpPr>
            <a:spLocks noGrp="1"/>
          </p:cNvSpPr>
          <p:nvPr/>
        </p:nvSpPr>
        <p:spPr>
          <a:xfrm>
            <a:off x="6505575"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Ocena</a:t>
            </a:r>
          </a:p>
        </p:txBody>
      </p:sp>
      <p:sp>
        <p:nvSpPr>
          <p:cNvPr id="10" name="text-9">
            <a:extLst>
              <a:ext uri="{FF2B5EF4-FFF2-40B4-BE49-F238E27FC236}">
                <a16:creationId xmlns:a16="http://schemas.microsoft.com/office/drawing/2014/main" id="{83241CB9-F15C-4823-B4FB-180B76B54925}"/>
              </a:ext>
            </a:extLst>
          </p:cNvPr>
          <p:cNvSpPr>
            <a:spLocks noGrp="1"/>
          </p:cNvSpPr>
          <p:nvPr/>
        </p:nvSpPr>
        <p:spPr>
          <a:xfrm>
            <a:off x="6505575"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Kompromis między wariancją a oczekiwanym zwrotem.</a:t>
            </a:r>
          </a:p>
        </p:txBody>
      </p:sp>
    </p:spTree>
    <p:extLst>
      <p:ext uri="{BB962C8B-B14F-4D97-AF65-F5344CB8AC3E}">
        <p14:creationId xmlns:p14="http://schemas.microsoft.com/office/powerpoint/2010/main" val="694185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511B09B8-3C99-4A5E-8D2A-A6C8782DD8D3}"/>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02  /  ALGORYTMY GENETYCZNE</a:t>
            </a:r>
          </a:p>
        </p:txBody>
      </p:sp>
      <p:sp>
        <p:nvSpPr>
          <p:cNvPr id="2" name="text-1">
            <a:extLst>
              <a:ext uri="{FF2B5EF4-FFF2-40B4-BE49-F238E27FC236}">
                <a16:creationId xmlns:a16="http://schemas.microsoft.com/office/drawing/2014/main" id="{67B7B9FD-928A-4A3D-B308-46B0C56A8C6D}"/>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Przykład: równanie różniczkowe</a:t>
            </a:r>
          </a:p>
        </p:txBody>
      </p:sp>
      <p:sp>
        <p:nvSpPr>
          <p:cNvPr id="3" name="text-2">
            <a:extLst>
              <a:ext uri="{FF2B5EF4-FFF2-40B4-BE49-F238E27FC236}">
                <a16:creationId xmlns:a16="http://schemas.microsoft.com/office/drawing/2014/main" id="{32AC2F3B-07AD-4CE9-B7F6-DE7990C3C217}"/>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8A1BF234-BC33-4D48-8A0E-2636D71990A0}"/>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42</a:t>
            </a:r>
          </a:p>
        </p:txBody>
      </p:sp>
      <p:sp>
        <p:nvSpPr>
          <p:cNvPr id="5" name="text-4">
            <a:extLst>
              <a:ext uri="{FF2B5EF4-FFF2-40B4-BE49-F238E27FC236}">
                <a16:creationId xmlns:a16="http://schemas.microsoft.com/office/drawing/2014/main" id="{F8735B54-6979-421E-AFED-594DEDFD11E8}"/>
              </a:ext>
            </a:extLst>
          </p:cNvPr>
          <p:cNvSpPr>
            <a:spLocks noGrp="1"/>
          </p:cNvSpPr>
          <p:nvPr/>
        </p:nvSpPr>
        <p:spPr>
          <a:xfrm>
            <a:off x="609600" y="1952625"/>
            <a:ext cx="10972800" cy="1171575"/>
          </a:xfrm>
          <a:prstGeom prst="rect">
            <a:avLst/>
          </a:prstGeom>
          <a:noFill/>
          <a:ln w="0">
            <a:noFill/>
          </a:ln>
        </p:spPr>
        <p:txBody>
          <a:bodyPr wrap="square" lIns="0" tIns="0" rIns="0" bIns="0" anchor="t">
            <a:noAutofit/>
          </a:bodyPr>
          <a:lstStyle/>
          <a:p>
            <a:pPr>
              <a:defRPr sz="3225" b="1">
                <a:solidFill>
                  <a:srgbClr val="007F7A"/>
                </a:solidFill>
                <a:latin typeface="Nimbus Sans"/>
                <a:ea typeface="Nimbus Sans"/>
                <a:cs typeface="Nimbus Sans"/>
              </a:defRPr>
            </a:pPr>
            <a:r>
              <a:rPr sz="3225" b="1">
                <a:solidFill>
                  <a:srgbClr val="007F7A"/>
                </a:solidFill>
                <a:latin typeface="Nimbus Sans"/>
                <a:ea typeface="Nimbus Sans"/>
                <a:cs typeface="Nimbus Sans"/>
              </a:rPr>
              <a:t>J(θ) = średnia[(y′θ(t) + yθ(t))²]</a:t>
            </a:r>
          </a:p>
          <a:p>
            <a:pPr>
              <a:defRPr sz="3225" b="1">
                <a:solidFill>
                  <a:srgbClr val="007F7A"/>
                </a:solidFill>
                <a:latin typeface="Nimbus Sans"/>
                <a:ea typeface="Nimbus Sans"/>
                <a:cs typeface="Nimbus Sans"/>
              </a:defRPr>
            </a:pPr>
            <a:r>
              <a:rPr sz="3225" b="1">
                <a:solidFill>
                  <a:srgbClr val="007F7A"/>
                </a:solidFill>
                <a:latin typeface="Nimbus Sans"/>
                <a:ea typeface="Nimbus Sans"/>
                <a:cs typeface="Nimbus Sans"/>
              </a:rPr>
              <a:t>+ λ · (yθ(0) − 1)²</a:t>
            </a:r>
          </a:p>
        </p:txBody>
      </p:sp>
      <p:sp>
        <p:nvSpPr>
          <p:cNvPr id="6" name="text-5">
            <a:extLst>
              <a:ext uri="{FF2B5EF4-FFF2-40B4-BE49-F238E27FC236}">
                <a16:creationId xmlns:a16="http://schemas.microsoft.com/office/drawing/2014/main" id="{79A7F1A3-D10D-4C92-B011-9FEEF0E300D6}"/>
              </a:ext>
            </a:extLst>
          </p:cNvPr>
          <p:cNvSpPr>
            <a:spLocks noGrp="1"/>
          </p:cNvSpPr>
          <p:nvPr/>
        </p:nvSpPr>
        <p:spPr>
          <a:xfrm>
            <a:off x="628650" y="3295650"/>
            <a:ext cx="10953750" cy="723900"/>
          </a:xfrm>
          <a:prstGeom prst="rect">
            <a:avLst/>
          </a:prstGeom>
          <a:noFill/>
          <a:ln w="0">
            <a:noFill/>
          </a:ln>
        </p:spPr>
        <p:txBody>
          <a:bodyPr wrap="square" lIns="0" tIns="0" rIns="0" bIns="0" anchor="t">
            <a:noAutofit/>
          </a:bodyPr>
          <a:lstStyle/>
          <a:p>
            <a:pPr>
              <a:defRPr sz="2100" b="0">
                <a:solidFill>
                  <a:srgbClr val="586779"/>
                </a:solidFill>
                <a:latin typeface="Nimbus Sans"/>
                <a:ea typeface="Nimbus Sans"/>
                <a:cs typeface="Nimbus Sans"/>
              </a:defRPr>
            </a:pPr>
            <a:r>
              <a:rPr sz="2100" b="0">
                <a:solidFill>
                  <a:srgbClr val="586779"/>
                </a:solidFill>
                <a:latin typeface="Nimbus Sans"/>
                <a:ea typeface="Nimbus Sans"/>
                <a:cs typeface="Nimbus Sans"/>
              </a:rPr>
              <a:t>Zadanie: y′ + y = 0,  y(0) = 1</a:t>
            </a:r>
          </a:p>
        </p:txBody>
      </p:sp>
      <p:sp>
        <p:nvSpPr>
          <p:cNvPr id="7" name="text-6">
            <a:extLst>
              <a:ext uri="{FF2B5EF4-FFF2-40B4-BE49-F238E27FC236}">
                <a16:creationId xmlns:a16="http://schemas.microsoft.com/office/drawing/2014/main" id="{77FC141E-31F3-4AB1-A0F9-D53EE85BD13C}"/>
              </a:ext>
            </a:extLst>
          </p:cNvPr>
          <p:cNvSpPr>
            <a:spLocks noGrp="1"/>
          </p:cNvSpPr>
          <p:nvPr/>
        </p:nvSpPr>
        <p:spPr>
          <a:xfrm>
            <a:off x="628650"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Reprezentacja</a:t>
            </a:r>
          </a:p>
        </p:txBody>
      </p:sp>
      <p:sp>
        <p:nvSpPr>
          <p:cNvPr id="8" name="text-7">
            <a:extLst>
              <a:ext uri="{FF2B5EF4-FFF2-40B4-BE49-F238E27FC236}">
                <a16:creationId xmlns:a16="http://schemas.microsoft.com/office/drawing/2014/main" id="{C9963D7D-E7F4-4261-A1EF-76BB4269BBE1}"/>
              </a:ext>
            </a:extLst>
          </p:cNvPr>
          <p:cNvSpPr>
            <a:spLocks noGrp="1"/>
          </p:cNvSpPr>
          <p:nvPr/>
        </p:nvSpPr>
        <p:spPr>
          <a:xfrm>
            <a:off x="628650"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Współczynniki przybliżenia yθ(t), np. wielomianu.</a:t>
            </a:r>
          </a:p>
        </p:txBody>
      </p:sp>
      <p:sp>
        <p:nvSpPr>
          <p:cNvPr id="9" name="text-8">
            <a:extLst>
              <a:ext uri="{FF2B5EF4-FFF2-40B4-BE49-F238E27FC236}">
                <a16:creationId xmlns:a16="http://schemas.microsoft.com/office/drawing/2014/main" id="{09670239-5A14-4985-B048-443D09089B97}"/>
              </a:ext>
            </a:extLst>
          </p:cNvPr>
          <p:cNvSpPr>
            <a:spLocks noGrp="1"/>
          </p:cNvSpPr>
          <p:nvPr/>
        </p:nvSpPr>
        <p:spPr>
          <a:xfrm>
            <a:off x="6505575"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Weryfikacja</a:t>
            </a:r>
          </a:p>
        </p:txBody>
      </p:sp>
      <p:sp>
        <p:nvSpPr>
          <p:cNvPr id="10" name="text-9">
            <a:extLst>
              <a:ext uri="{FF2B5EF4-FFF2-40B4-BE49-F238E27FC236}">
                <a16:creationId xmlns:a16="http://schemas.microsoft.com/office/drawing/2014/main" id="{08AF3122-4C4D-4FBC-89C2-9B87CBAFDBA7}"/>
              </a:ext>
            </a:extLst>
          </p:cNvPr>
          <p:cNvSpPr>
            <a:spLocks noGrp="1"/>
          </p:cNvSpPr>
          <p:nvPr/>
        </p:nvSpPr>
        <p:spPr>
          <a:xfrm>
            <a:off x="6505575"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Porównanie z y(t) = exp(−t) na nowych punktach siatki.</a:t>
            </a:r>
          </a:p>
        </p:txBody>
      </p:sp>
    </p:spTree>
    <p:extLst>
      <p:ext uri="{BB962C8B-B14F-4D97-AF65-F5344CB8AC3E}">
        <p14:creationId xmlns:p14="http://schemas.microsoft.com/office/powerpoint/2010/main" val="838459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pic>
        <p:nvPicPr>
          <p:cNvPr id="7" name="Obraz 6"/>
          <p:cNvPicPr>
            <a:picLocks noChangeAspect="1"/>
          </p:cNvPicPr>
          <p:nvPr/>
        </p:nvPicPr>
        <p:blipFill>
          <a:blip r:embed="rId3"/>
          <a:srcRect t="27" b="27"/>
          <a:stretch>
            <a:fillRect/>
          </a:stretch>
        </p:blipFill>
        <p:spPr>
          <a:xfrm>
            <a:off x="0" y="0"/>
            <a:ext cx="12192000" cy="6858000"/>
          </a:xfrm>
          <a:prstGeom prst="rect">
            <a:avLst/>
          </a:prstGeom>
        </p:spPr>
      </p:pic>
      <p:sp>
        <p:nvSpPr>
          <p:cNvPr id="2" name="text-0">
            <a:extLst>
              <a:ext uri="{FF2B5EF4-FFF2-40B4-BE49-F238E27FC236}">
                <a16:creationId xmlns:a16="http://schemas.microsoft.com/office/drawing/2014/main" id="{10641654-69AE-4CD7-ACD6-D9B950C19A87}"/>
              </a:ext>
            </a:extLst>
          </p:cNvPr>
          <p:cNvSpPr>
            <a:spLocks noGrp="1"/>
          </p:cNvSpPr>
          <p:nvPr/>
        </p:nvSpPr>
        <p:spPr>
          <a:xfrm>
            <a:off x="581025" y="504825"/>
            <a:ext cx="2857500" cy="1428750"/>
          </a:xfrm>
          <a:prstGeom prst="rect">
            <a:avLst/>
          </a:prstGeom>
          <a:noFill/>
          <a:ln w="0">
            <a:noFill/>
          </a:ln>
        </p:spPr>
        <p:txBody>
          <a:bodyPr wrap="square" lIns="0" tIns="0" rIns="0" bIns="0" anchor="t">
            <a:noAutofit/>
          </a:bodyPr>
          <a:lstStyle/>
          <a:p>
            <a:pPr>
              <a:defRPr sz="9300" b="1">
                <a:solidFill>
                  <a:srgbClr val="62DCCB"/>
                </a:solidFill>
                <a:latin typeface="Nimbus Sans"/>
                <a:ea typeface="Nimbus Sans"/>
                <a:cs typeface="Nimbus Sans"/>
              </a:defRPr>
            </a:pPr>
            <a:r>
              <a:rPr sz="9300" b="1">
                <a:solidFill>
                  <a:srgbClr val="62DCCB"/>
                </a:solidFill>
                <a:latin typeface="Nimbus Sans"/>
                <a:ea typeface="Nimbus Sans"/>
                <a:cs typeface="Nimbus Sans"/>
              </a:rPr>
              <a:t>03</a:t>
            </a:r>
          </a:p>
        </p:txBody>
      </p:sp>
      <p:sp>
        <p:nvSpPr>
          <p:cNvPr id="3" name="text-1">
            <a:extLst>
              <a:ext uri="{FF2B5EF4-FFF2-40B4-BE49-F238E27FC236}">
                <a16:creationId xmlns:a16="http://schemas.microsoft.com/office/drawing/2014/main" id="{7911F9B3-4488-492B-8FFA-E28387DAB0CC}"/>
              </a:ext>
            </a:extLst>
          </p:cNvPr>
          <p:cNvSpPr>
            <a:spLocks noGrp="1"/>
          </p:cNvSpPr>
          <p:nvPr/>
        </p:nvSpPr>
        <p:spPr>
          <a:xfrm>
            <a:off x="609600" y="2219325"/>
            <a:ext cx="8858250" cy="1885950"/>
          </a:xfrm>
          <a:prstGeom prst="rect">
            <a:avLst/>
          </a:prstGeom>
          <a:noFill/>
          <a:ln w="0">
            <a:noFill/>
          </a:ln>
        </p:spPr>
        <p:txBody>
          <a:bodyPr wrap="square" lIns="0" tIns="0" rIns="0" bIns="0" anchor="t">
            <a:noAutofit/>
          </a:bodyPr>
          <a:lstStyle/>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Logika</a:t>
            </a:r>
          </a:p>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rozmyta</a:t>
            </a:r>
          </a:p>
        </p:txBody>
      </p:sp>
      <p:sp>
        <p:nvSpPr>
          <p:cNvPr id="4" name="text-2">
            <a:extLst>
              <a:ext uri="{FF2B5EF4-FFF2-40B4-BE49-F238E27FC236}">
                <a16:creationId xmlns:a16="http://schemas.microsoft.com/office/drawing/2014/main" id="{2E55DDE0-1DC2-4926-A255-DA63EBEDA62B}"/>
              </a:ext>
            </a:extLst>
          </p:cNvPr>
          <p:cNvSpPr>
            <a:spLocks noGrp="1"/>
          </p:cNvSpPr>
          <p:nvPr/>
        </p:nvSpPr>
        <p:spPr>
          <a:xfrm>
            <a:off x="638175" y="4314825"/>
            <a:ext cx="5048250" cy="1047750"/>
          </a:xfrm>
          <a:prstGeom prst="rect">
            <a:avLst/>
          </a:prstGeom>
          <a:noFill/>
          <a:ln w="0">
            <a:noFill/>
          </a:ln>
        </p:spPr>
        <p:txBody>
          <a:bodyPr wrap="square" lIns="0" tIns="0" rIns="0" bIns="0" anchor="t">
            <a:noAutofit/>
          </a:bodyPr>
          <a:lstStyle/>
          <a:p>
            <a:pPr>
              <a:defRPr sz="2100" b="0">
                <a:solidFill>
                  <a:srgbClr val="D7E3E8"/>
                </a:solidFill>
                <a:latin typeface="Nimbus Sans"/>
                <a:ea typeface="Nimbus Sans"/>
                <a:cs typeface="Nimbus Sans"/>
              </a:defRPr>
            </a:pPr>
            <a:r>
              <a:rPr sz="2100" b="0">
                <a:solidFill>
                  <a:srgbClr val="D7E3E8"/>
                </a:solidFill>
                <a:latin typeface="Nimbus Sans"/>
                <a:ea typeface="Nimbus Sans"/>
                <a:cs typeface="Nimbus Sans"/>
              </a:rPr>
              <a:t>Stopniowalność pojęć i wnioskowanie na regułach</a:t>
            </a:r>
          </a:p>
        </p:txBody>
      </p:sp>
      <p:sp>
        <p:nvSpPr>
          <p:cNvPr id="5" name="text-3">
            <a:extLst>
              <a:ext uri="{FF2B5EF4-FFF2-40B4-BE49-F238E27FC236}">
                <a16:creationId xmlns:a16="http://schemas.microsoft.com/office/drawing/2014/main" id="{22C4A4C4-31B2-4270-9CF4-EAC16499EBDA}"/>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6" name="text-4">
            <a:extLst>
              <a:ext uri="{FF2B5EF4-FFF2-40B4-BE49-F238E27FC236}">
                <a16:creationId xmlns:a16="http://schemas.microsoft.com/office/drawing/2014/main" id="{EA0760A6-88A4-450D-8B3C-D9457BA1FA66}"/>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43</a:t>
            </a:r>
          </a:p>
        </p:txBody>
      </p:sp>
    </p:spTree>
    <p:extLst>
      <p:ext uri="{BB962C8B-B14F-4D97-AF65-F5344CB8AC3E}">
        <p14:creationId xmlns:p14="http://schemas.microsoft.com/office/powerpoint/2010/main" val="13157521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4" name="text-0">
            <a:extLst>
              <a:ext uri="{FF2B5EF4-FFF2-40B4-BE49-F238E27FC236}">
                <a16:creationId xmlns:a16="http://schemas.microsoft.com/office/drawing/2014/main" id="{69A5C522-DBD8-4940-BCBB-BE08783F7838}"/>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03  /  LOGIKA ROZMYTA</a:t>
            </a:r>
          </a:p>
        </p:txBody>
      </p:sp>
      <p:sp>
        <p:nvSpPr>
          <p:cNvPr id="2" name="text-1">
            <a:extLst>
              <a:ext uri="{FF2B5EF4-FFF2-40B4-BE49-F238E27FC236}">
                <a16:creationId xmlns:a16="http://schemas.microsoft.com/office/drawing/2014/main" id="{E9ECA866-48D3-47ED-8BA9-56DBACF4D55E}"/>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Przynależność a prawdopodobieństwo</a:t>
            </a:r>
          </a:p>
        </p:txBody>
      </p:sp>
      <p:sp>
        <p:nvSpPr>
          <p:cNvPr id="3" name="text-2">
            <a:extLst>
              <a:ext uri="{FF2B5EF4-FFF2-40B4-BE49-F238E27FC236}">
                <a16:creationId xmlns:a16="http://schemas.microsoft.com/office/drawing/2014/main" id="{50684E8E-76B4-4F0F-9E07-E5F4CA27EEF9}"/>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1E3E6D04-4219-4369-9C22-F2FBC623E411}"/>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44</a:t>
            </a:r>
          </a:p>
        </p:txBody>
      </p:sp>
      <p:sp>
        <p:nvSpPr>
          <p:cNvPr id="5" name="text-4">
            <a:extLst>
              <a:ext uri="{FF2B5EF4-FFF2-40B4-BE49-F238E27FC236}">
                <a16:creationId xmlns:a16="http://schemas.microsoft.com/office/drawing/2014/main" id="{98F0EEE7-40B5-4009-B166-6CDD13B7057C}"/>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PRZYNALEŻNOŚĆ</a:t>
            </a:r>
          </a:p>
        </p:txBody>
      </p:sp>
      <p:sp>
        <p:nvSpPr>
          <p:cNvPr id="6" name="text-5">
            <a:extLst>
              <a:ext uri="{FF2B5EF4-FFF2-40B4-BE49-F238E27FC236}">
                <a16:creationId xmlns:a16="http://schemas.microsoft.com/office/drawing/2014/main" id="{B5C7C229-C24D-4F31-AB98-5D079DF1E31A}"/>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μciepło(26°C) = 0,7</a:t>
            </a:r>
          </a:p>
        </p:txBody>
      </p:sp>
      <p:sp>
        <p:nvSpPr>
          <p:cNvPr id="7" name="text-6">
            <a:extLst>
              <a:ext uri="{FF2B5EF4-FFF2-40B4-BE49-F238E27FC236}">
                <a16:creationId xmlns:a16="http://schemas.microsoft.com/office/drawing/2014/main" id="{437F43B1-E4F9-44BC-BCC5-2020D4FB5754}"/>
              </a:ext>
            </a:extLst>
          </p:cNvPr>
          <p:cNvSpPr>
            <a:spLocks noGrp="1"/>
          </p:cNvSpPr>
          <p:nvPr/>
        </p:nvSpPr>
        <p:spPr>
          <a:xfrm>
            <a:off x="609600" y="327069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Stopień zgodności wartości z pojęciem „ciepło”.</a:t>
            </a:r>
          </a:p>
        </p:txBody>
      </p:sp>
      <p:sp>
        <p:nvSpPr>
          <p:cNvPr id="8" name="text-7">
            <a:extLst>
              <a:ext uri="{FF2B5EF4-FFF2-40B4-BE49-F238E27FC236}">
                <a16:creationId xmlns:a16="http://schemas.microsoft.com/office/drawing/2014/main" id="{85F14E1B-8274-4239-A626-0D8737B12D13}"/>
              </a:ext>
            </a:extLst>
          </p:cNvPr>
          <p:cNvSpPr>
            <a:spLocks noGrp="1"/>
          </p:cNvSpPr>
          <p:nvPr/>
        </p:nvSpPr>
        <p:spPr>
          <a:xfrm>
            <a:off x="609600" y="4201859"/>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Zależy od zdefiniowanej funkcji przynależności.</a:t>
            </a:r>
          </a:p>
        </p:txBody>
      </p:sp>
      <p:sp>
        <p:nvSpPr>
          <p:cNvPr id="9" name="text-8">
            <a:extLst>
              <a:ext uri="{FF2B5EF4-FFF2-40B4-BE49-F238E27FC236}">
                <a16:creationId xmlns:a16="http://schemas.microsoft.com/office/drawing/2014/main" id="{4773FC06-5031-4A22-9BE5-855A80F49FF4}"/>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PRAWDOPODOBIEŃSTWO</a:t>
            </a:r>
          </a:p>
        </p:txBody>
      </p:sp>
      <p:sp>
        <p:nvSpPr>
          <p:cNvPr id="10" name="text-9">
            <a:extLst>
              <a:ext uri="{FF2B5EF4-FFF2-40B4-BE49-F238E27FC236}">
                <a16:creationId xmlns:a16="http://schemas.microsoft.com/office/drawing/2014/main" id="{761DC206-7EC8-4773-BB8C-2DEB32A739C9}"/>
              </a:ext>
            </a:extLst>
          </p:cNvPr>
          <p:cNvSpPr>
            <a:spLocks noGrp="1"/>
          </p:cNvSpPr>
          <p:nvPr/>
        </p:nvSpPr>
        <p:spPr>
          <a:xfrm>
            <a:off x="6515100" y="267652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P(T &gt; 25°C) = 0,7</a:t>
            </a:r>
          </a:p>
        </p:txBody>
      </p:sp>
      <p:sp>
        <p:nvSpPr>
          <p:cNvPr id="11" name="text-10">
            <a:extLst>
              <a:ext uri="{FF2B5EF4-FFF2-40B4-BE49-F238E27FC236}">
                <a16:creationId xmlns:a16="http://schemas.microsoft.com/office/drawing/2014/main" id="{1FC69EC2-083E-493A-99F7-339142A0899B}"/>
              </a:ext>
            </a:extLst>
          </p:cNvPr>
          <p:cNvSpPr>
            <a:spLocks noGrp="1"/>
          </p:cNvSpPr>
          <p:nvPr/>
        </p:nvSpPr>
        <p:spPr>
          <a:xfrm>
            <a:off x="6515100" y="327069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Niepewność co do wystąpienia zdarzenia.</a:t>
            </a:r>
          </a:p>
        </p:txBody>
      </p:sp>
      <p:sp>
        <p:nvSpPr>
          <p:cNvPr id="12" name="text-11">
            <a:extLst>
              <a:ext uri="{FF2B5EF4-FFF2-40B4-BE49-F238E27FC236}">
                <a16:creationId xmlns:a16="http://schemas.microsoft.com/office/drawing/2014/main" id="{E0EEBE6B-9526-4126-8C69-46FC725477AC}"/>
              </a:ext>
            </a:extLst>
          </p:cNvPr>
          <p:cNvSpPr>
            <a:spLocks noGrp="1"/>
          </p:cNvSpPr>
          <p:nvPr/>
        </p:nvSpPr>
        <p:spPr>
          <a:xfrm>
            <a:off x="6515100" y="4201859"/>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Dotyczy rozkładu możliwych wyników.</a:t>
            </a:r>
          </a:p>
        </p:txBody>
      </p:sp>
      <p:sp>
        <p:nvSpPr>
          <p:cNvPr id="13" name="text-12">
            <a:extLst>
              <a:ext uri="{FF2B5EF4-FFF2-40B4-BE49-F238E27FC236}">
                <a16:creationId xmlns:a16="http://schemas.microsoft.com/office/drawing/2014/main" id="{1C22B186-A1CF-48D1-B062-1A88F8E65796}"/>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W obu przypadkach pojawia się przedział [0, 1], ale znaczenie liczb jest inne.</a:t>
            </a:r>
          </a:p>
        </p:txBody>
      </p:sp>
    </p:spTree>
    <p:extLst>
      <p:ext uri="{BB962C8B-B14F-4D97-AF65-F5344CB8AC3E}">
        <p14:creationId xmlns:p14="http://schemas.microsoft.com/office/powerpoint/2010/main" val="1188434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5856CA1B-C49F-42DE-B2F6-57D39A0CC5AD}"/>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03  /  LOGIKA ROZMYTA</a:t>
            </a:r>
          </a:p>
        </p:txBody>
      </p:sp>
      <p:sp>
        <p:nvSpPr>
          <p:cNvPr id="2" name="text-1">
            <a:extLst>
              <a:ext uri="{FF2B5EF4-FFF2-40B4-BE49-F238E27FC236}">
                <a16:creationId xmlns:a16="http://schemas.microsoft.com/office/drawing/2014/main" id="{0EFFC78C-F119-4225-ACFC-B6930D4E08A2}"/>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Funkcje przynależności temperatury</a:t>
            </a:r>
          </a:p>
        </p:txBody>
      </p:sp>
      <p:sp>
        <p:nvSpPr>
          <p:cNvPr id="3" name="text-2">
            <a:extLst>
              <a:ext uri="{FF2B5EF4-FFF2-40B4-BE49-F238E27FC236}">
                <a16:creationId xmlns:a16="http://schemas.microsoft.com/office/drawing/2014/main" id="{E0308F10-9E37-44AB-BD0D-F7D0CEDD747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7C5280AF-F800-4FB8-A24A-1E5C0A6C7036}"/>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45</a:t>
            </a:r>
          </a:p>
        </p:txBody>
      </p:sp>
      <p:graphicFrame>
        <p:nvGraphicFramePr>
          <p:cNvPr id="14" name="Chart"/>
          <p:cNvGraphicFramePr/>
          <p:nvPr/>
        </p:nvGraphicFramePr>
        <p:xfrm>
          <a:off x="542925" y="1924050"/>
          <a:ext cx="7648575" cy="39719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
            <a:extLst>
              <a:ext uri="{FF2B5EF4-FFF2-40B4-BE49-F238E27FC236}">
                <a16:creationId xmlns:a16="http://schemas.microsoft.com/office/drawing/2014/main" id="{ADB2041E-9367-4CDE-A368-E76B19657944}"/>
              </a:ext>
            </a:extLst>
          </p:cNvPr>
          <p:cNvSpPr>
            <a:spLocks noGrp="1"/>
          </p:cNvSpPr>
          <p:nvPr/>
        </p:nvSpPr>
        <p:spPr>
          <a:xfrm>
            <a:off x="8591550" y="2133600"/>
            <a:ext cx="29908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Zbiory rozmyte</a:t>
            </a:r>
          </a:p>
        </p:txBody>
      </p:sp>
      <p:sp>
        <p:nvSpPr>
          <p:cNvPr id="7" name="text-5">
            <a:extLst>
              <a:ext uri="{FF2B5EF4-FFF2-40B4-BE49-F238E27FC236}">
                <a16:creationId xmlns:a16="http://schemas.microsoft.com/office/drawing/2014/main" id="{8764C1E2-1A28-4585-BED5-22218A43EDC3}"/>
              </a:ext>
            </a:extLst>
          </p:cNvPr>
          <p:cNvSpPr>
            <a:spLocks noGrp="1"/>
          </p:cNvSpPr>
          <p:nvPr/>
        </p:nvSpPr>
        <p:spPr>
          <a:xfrm>
            <a:off x="8591550" y="2733675"/>
            <a:ext cx="2990850" cy="1294257"/>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Nakładające się pojęcia pozwalają łagodnie zmieniać reakcję systemu.</a:t>
            </a:r>
          </a:p>
        </p:txBody>
      </p:sp>
      <p:sp>
        <p:nvSpPr>
          <p:cNvPr id="8" name="text-6">
            <a:extLst>
              <a:ext uri="{FF2B5EF4-FFF2-40B4-BE49-F238E27FC236}">
                <a16:creationId xmlns:a16="http://schemas.microsoft.com/office/drawing/2014/main" id="{2C3A169A-AEC1-4254-927B-12FCBD622064}"/>
              </a:ext>
            </a:extLst>
          </p:cNvPr>
          <p:cNvSpPr>
            <a:spLocks noGrp="1"/>
          </p:cNvSpPr>
          <p:nvPr/>
        </p:nvSpPr>
        <p:spPr>
          <a:xfrm>
            <a:off x="8591550" y="4199382"/>
            <a:ext cx="2990850" cy="689991"/>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Granice wynikają z wiedzy o procesie.</a:t>
            </a:r>
          </a:p>
        </p:txBody>
      </p:sp>
      <p:sp>
        <p:nvSpPr>
          <p:cNvPr id="9" name="text-7">
            <a:extLst>
              <a:ext uri="{FF2B5EF4-FFF2-40B4-BE49-F238E27FC236}">
                <a16:creationId xmlns:a16="http://schemas.microsoft.com/office/drawing/2014/main" id="{C31B392A-0944-4764-A92D-1E139E370CC4}"/>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Autorski przykład funkcji trapezowych i trójkątnej.</a:t>
            </a:r>
          </a:p>
        </p:txBody>
      </p:sp>
    </p:spTree>
    <p:extLst>
      <p:ext uri="{BB962C8B-B14F-4D97-AF65-F5344CB8AC3E}">
        <p14:creationId xmlns:p14="http://schemas.microsoft.com/office/powerpoint/2010/main" val="11019193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B4D734EF-9909-4763-B91C-2EC27DDED731}"/>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03  /  LOGIKA ROZMYTA</a:t>
            </a:r>
          </a:p>
        </p:txBody>
      </p:sp>
      <p:sp>
        <p:nvSpPr>
          <p:cNvPr id="2" name="text-1">
            <a:extLst>
              <a:ext uri="{FF2B5EF4-FFF2-40B4-BE49-F238E27FC236}">
                <a16:creationId xmlns:a16="http://schemas.microsoft.com/office/drawing/2014/main" id="{DB226D57-5A2E-4540-9F44-45A71412C101}"/>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Operatory rozmyte: przykład</a:t>
            </a:r>
          </a:p>
        </p:txBody>
      </p:sp>
      <p:sp>
        <p:nvSpPr>
          <p:cNvPr id="3" name="text-2">
            <a:extLst>
              <a:ext uri="{FF2B5EF4-FFF2-40B4-BE49-F238E27FC236}">
                <a16:creationId xmlns:a16="http://schemas.microsoft.com/office/drawing/2014/main" id="{31E0C140-09D4-4F3A-A2F5-2D85E84854A4}"/>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A5324529-DE1B-436C-8B5E-C43D2937E7F6}"/>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46</a:t>
            </a:r>
          </a:p>
        </p:txBody>
      </p:sp>
      <p:graphicFrame>
        <p:nvGraphicFramePr>
          <p:cNvPr id="11" name="Tabela 10"/>
          <p:cNvGraphicFramePr/>
          <p:nvPr/>
        </p:nvGraphicFramePr>
        <p:xfrm>
          <a:off x="609600" y="1971675"/>
          <a:ext cx="10972800"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85800">
                <a:tc>
                  <a:txBody>
                    <a:bodyPr/>
                    <a:lstStyle/>
                    <a:p>
                      <a:r>
                        <a:rPr sz="1725" b="1">
                          <a:solidFill>
                            <a:srgbClr val="FFFFFF"/>
                          </a:solidFill>
                          <a:latin typeface="Nimbus Sans"/>
                          <a:ea typeface="Nimbus Sans"/>
                          <a:cs typeface="Nimbus Sans"/>
                        </a:rPr>
                        <a:t>Operator</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Wybrana definicja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Dla a = 0,7 i b = 0,4</a:t>
                      </a:r>
                    </a:p>
                  </a:txBody>
                  <a:tcPr marL="133350" marR="114300" marT="123825" marB="104775" anchor="ctr">
                    <a:solidFill>
                      <a:srgbClr val="0B1426"/>
                    </a:solidFill>
                  </a:tcPr>
                </a:tc>
                <a:extLst>
                  <a:ext uri="{0D108BD9-81ED-4DB2-BD59-A6C34878D82A}">
                    <a16:rowId xmlns:a16="http://schemas.microsoft.com/office/drawing/2014/main" val="10000"/>
                  </a:ext>
                </a:extLst>
              </a:tr>
              <a:tr h="685800">
                <a:tc>
                  <a:txBody>
                    <a:bodyPr/>
                    <a:lstStyle/>
                    <a:p>
                      <a:r>
                        <a:rPr sz="1875" b="1">
                          <a:solidFill>
                            <a:srgbClr val="17243A"/>
                          </a:solidFill>
                          <a:latin typeface="Nimbus Sans"/>
                          <a:ea typeface="Nimbus Sans"/>
                          <a:cs typeface="Nimbus Sans"/>
                        </a:rPr>
                        <a:t>AND</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min(a, b)</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0,4</a:t>
                      </a:r>
                    </a:p>
                  </a:txBody>
                  <a:tcPr marL="133350" marR="114300" marT="123825" marB="104775" anchor="ctr">
                    <a:solidFill>
                      <a:srgbClr val="FFFFFF"/>
                    </a:solidFill>
                  </a:tcPr>
                </a:tc>
                <a:extLst>
                  <a:ext uri="{0D108BD9-81ED-4DB2-BD59-A6C34878D82A}">
                    <a16:rowId xmlns:a16="http://schemas.microsoft.com/office/drawing/2014/main" val="10001"/>
                  </a:ext>
                </a:extLst>
              </a:tr>
              <a:tr h="685800">
                <a:tc>
                  <a:txBody>
                    <a:bodyPr/>
                    <a:lstStyle/>
                    <a:p>
                      <a:r>
                        <a:rPr sz="1875" b="1">
                          <a:solidFill>
                            <a:srgbClr val="17243A"/>
                          </a:solidFill>
                          <a:latin typeface="Nimbus Sans"/>
                          <a:ea typeface="Nimbus Sans"/>
                          <a:cs typeface="Nimbus Sans"/>
                        </a:rPr>
                        <a:t>OR</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max(a, b)</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0,7</a:t>
                      </a:r>
                    </a:p>
                  </a:txBody>
                  <a:tcPr marL="133350" marR="114300" marT="123825" marB="104775" anchor="ctr">
                    <a:solidFill>
                      <a:srgbClr val="E9EFED"/>
                    </a:solidFill>
                  </a:tcPr>
                </a:tc>
                <a:extLst>
                  <a:ext uri="{0D108BD9-81ED-4DB2-BD59-A6C34878D82A}">
                    <a16:rowId xmlns:a16="http://schemas.microsoft.com/office/drawing/2014/main" val="10002"/>
                  </a:ext>
                </a:extLst>
              </a:tr>
              <a:tr h="685800">
                <a:tc>
                  <a:txBody>
                    <a:bodyPr/>
                    <a:lstStyle/>
                    <a:p>
                      <a:r>
                        <a:rPr sz="1875" b="1">
                          <a:solidFill>
                            <a:srgbClr val="17243A"/>
                          </a:solidFill>
                          <a:latin typeface="Nimbus Sans"/>
                          <a:ea typeface="Nimbus Sans"/>
                          <a:cs typeface="Nimbus Sans"/>
                        </a:rPr>
                        <a:t>NOT</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1 − 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0,3</a:t>
                      </a:r>
                    </a:p>
                  </a:txBody>
                  <a:tcPr marL="133350" marR="114300" marT="123825" marB="104775" anchor="ctr">
                    <a:solidFill>
                      <a:srgbClr val="FFFFFF"/>
                    </a:solidFill>
                  </a:tcPr>
                </a:tc>
                <a:extLst>
                  <a:ext uri="{0D108BD9-81ED-4DB2-BD59-A6C34878D82A}">
                    <a16:rowId xmlns:a16="http://schemas.microsoft.com/office/drawing/2014/main" val="10003"/>
                  </a:ext>
                </a:extLst>
              </a:tr>
              <a:tr h="685800">
                <a:tc>
                  <a:txBody>
                    <a:bodyPr/>
                    <a:lstStyle/>
                    <a:p>
                      <a:r>
                        <a:rPr sz="1875" b="1">
                          <a:solidFill>
                            <a:srgbClr val="17243A"/>
                          </a:solidFill>
                          <a:latin typeface="Nimbus Sans"/>
                          <a:ea typeface="Nimbus Sans"/>
                          <a:cs typeface="Nimbus Sans"/>
                        </a:rPr>
                        <a:t>Alternatywne AND</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a · b</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0,28</a:t>
                      </a:r>
                    </a:p>
                  </a:txBody>
                  <a:tcPr marL="133350" marR="114300" marT="123825" marB="104775" anchor="ctr">
                    <a:solidFill>
                      <a:srgbClr val="E9EFED"/>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569398DC-DDC8-4059-AA3B-A1F3AD53644E}"/>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Min i iloczyn to różne t-normy. Wybór operatora jest częścią modelu.</a:t>
            </a:r>
          </a:p>
        </p:txBody>
      </p:sp>
    </p:spTree>
    <p:extLst>
      <p:ext uri="{BB962C8B-B14F-4D97-AF65-F5344CB8AC3E}">
        <p14:creationId xmlns:p14="http://schemas.microsoft.com/office/powerpoint/2010/main" val="227919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E7CAE61C-195D-4AAD-8DF9-DD5DA9889B02}"/>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03  /  LOGIKA ROZMYTA</a:t>
            </a:r>
          </a:p>
        </p:txBody>
      </p:sp>
      <p:sp>
        <p:nvSpPr>
          <p:cNvPr id="2" name="text-1">
            <a:extLst>
              <a:ext uri="{FF2B5EF4-FFF2-40B4-BE49-F238E27FC236}">
                <a16:creationId xmlns:a16="http://schemas.microsoft.com/office/drawing/2014/main" id="{EF54CB4D-CC21-434F-A408-91C0857BEF23}"/>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Reguły sterownika wentylatora</a:t>
            </a:r>
          </a:p>
        </p:txBody>
      </p:sp>
      <p:sp>
        <p:nvSpPr>
          <p:cNvPr id="3" name="text-2">
            <a:extLst>
              <a:ext uri="{FF2B5EF4-FFF2-40B4-BE49-F238E27FC236}">
                <a16:creationId xmlns:a16="http://schemas.microsoft.com/office/drawing/2014/main" id="{41FBF58D-33CB-4230-AA25-8A9BFFB76C3F}"/>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9C61EB52-CFAE-4921-B87B-6AC06FC59417}"/>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47</a:t>
            </a:r>
          </a:p>
        </p:txBody>
      </p:sp>
      <p:sp>
        <p:nvSpPr>
          <p:cNvPr id="5" name="text-4">
            <a:extLst>
              <a:ext uri="{FF2B5EF4-FFF2-40B4-BE49-F238E27FC236}">
                <a16:creationId xmlns:a16="http://schemas.microsoft.com/office/drawing/2014/main" id="{0353236B-4A47-4039-AD31-2DB9C5AB1C0C}"/>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R1</a:t>
            </a:r>
          </a:p>
        </p:txBody>
      </p:sp>
      <p:sp>
        <p:nvSpPr>
          <p:cNvPr id="6" name="text-5">
            <a:extLst>
              <a:ext uri="{FF2B5EF4-FFF2-40B4-BE49-F238E27FC236}">
                <a16:creationId xmlns:a16="http://schemas.microsoft.com/office/drawing/2014/main" id="{D7AAD96D-E1CC-4A3D-B4D3-091B0FCA2018}"/>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Jeżeli chłodno</a:t>
            </a:r>
          </a:p>
        </p:txBody>
      </p:sp>
      <p:sp>
        <p:nvSpPr>
          <p:cNvPr id="7" name="text-6">
            <a:extLst>
              <a:ext uri="{FF2B5EF4-FFF2-40B4-BE49-F238E27FC236}">
                <a16:creationId xmlns:a16="http://schemas.microsoft.com/office/drawing/2014/main" id="{929710CE-95DB-407A-B9FA-FC76C1C6F13A}"/>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To prędkość wentylatora jest niska.</a:t>
            </a:r>
          </a:p>
        </p:txBody>
      </p:sp>
      <p:sp>
        <p:nvSpPr>
          <p:cNvPr id="8" name="text-7">
            <a:extLst>
              <a:ext uri="{FF2B5EF4-FFF2-40B4-BE49-F238E27FC236}">
                <a16:creationId xmlns:a16="http://schemas.microsoft.com/office/drawing/2014/main" id="{DD01CA89-412F-4D64-AABC-A79C3E6CEFD3}"/>
              </a:ext>
            </a:extLst>
          </p:cNvPr>
          <p:cNvSpPr>
            <a:spLocks noGrp="1"/>
          </p:cNvSpPr>
          <p:nvPr/>
        </p:nvSpPr>
        <p:spPr>
          <a:xfrm>
            <a:off x="609600" y="29432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R2</a:t>
            </a:r>
          </a:p>
        </p:txBody>
      </p:sp>
      <p:sp>
        <p:nvSpPr>
          <p:cNvPr id="9" name="text-8">
            <a:extLst>
              <a:ext uri="{FF2B5EF4-FFF2-40B4-BE49-F238E27FC236}">
                <a16:creationId xmlns:a16="http://schemas.microsoft.com/office/drawing/2014/main" id="{579DF7D0-1D73-415D-B733-445663559430}"/>
              </a:ext>
            </a:extLst>
          </p:cNvPr>
          <p:cNvSpPr>
            <a:spLocks noGrp="1"/>
          </p:cNvSpPr>
          <p:nvPr/>
        </p:nvSpPr>
        <p:spPr>
          <a:xfrm>
            <a:off x="1562100" y="29432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Jeżeli ciepło</a:t>
            </a:r>
          </a:p>
        </p:txBody>
      </p:sp>
      <p:sp>
        <p:nvSpPr>
          <p:cNvPr id="10" name="text-9">
            <a:extLst>
              <a:ext uri="{FF2B5EF4-FFF2-40B4-BE49-F238E27FC236}">
                <a16:creationId xmlns:a16="http://schemas.microsoft.com/office/drawing/2014/main" id="{D9F2429A-31E3-43F2-B782-8B0D5A6A0432}"/>
              </a:ext>
            </a:extLst>
          </p:cNvPr>
          <p:cNvSpPr>
            <a:spLocks noGrp="1"/>
          </p:cNvSpPr>
          <p:nvPr/>
        </p:nvSpPr>
        <p:spPr>
          <a:xfrm>
            <a:off x="1562100" y="33147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To prędkość wentylatora jest średnia.</a:t>
            </a:r>
          </a:p>
        </p:txBody>
      </p:sp>
      <p:sp>
        <p:nvSpPr>
          <p:cNvPr id="11" name="text-10">
            <a:extLst>
              <a:ext uri="{FF2B5EF4-FFF2-40B4-BE49-F238E27FC236}">
                <a16:creationId xmlns:a16="http://schemas.microsoft.com/office/drawing/2014/main" id="{3911107D-8618-4FDB-9D04-2908FF216EEC}"/>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R3</a:t>
            </a:r>
          </a:p>
        </p:txBody>
      </p:sp>
      <p:sp>
        <p:nvSpPr>
          <p:cNvPr id="12" name="text-11">
            <a:extLst>
              <a:ext uri="{FF2B5EF4-FFF2-40B4-BE49-F238E27FC236}">
                <a16:creationId xmlns:a16="http://schemas.microsoft.com/office/drawing/2014/main" id="{8B30C1BE-ABE2-466B-9DE1-AC3DF942A12F}"/>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Jeżeli gorąco</a:t>
            </a:r>
          </a:p>
        </p:txBody>
      </p:sp>
      <p:sp>
        <p:nvSpPr>
          <p:cNvPr id="13" name="text-12">
            <a:extLst>
              <a:ext uri="{FF2B5EF4-FFF2-40B4-BE49-F238E27FC236}">
                <a16:creationId xmlns:a16="http://schemas.microsoft.com/office/drawing/2014/main" id="{95A92942-D79F-4848-83F6-4B19D518BE08}"/>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To prędkość wentylatora jest wysoka.</a:t>
            </a:r>
          </a:p>
        </p:txBody>
      </p:sp>
      <p:sp>
        <p:nvSpPr>
          <p:cNvPr id="14" name="text-13">
            <a:extLst>
              <a:ext uri="{FF2B5EF4-FFF2-40B4-BE49-F238E27FC236}">
                <a16:creationId xmlns:a16="http://schemas.microsoft.com/office/drawing/2014/main" id="{1DF54FC8-55D3-4FA2-A348-3F446D3D8599}"/>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Wejście: temperatura 0–40°C. Wyjście: sterowanie 0–100%.</a:t>
            </a:r>
          </a:p>
        </p:txBody>
      </p:sp>
    </p:spTree>
    <p:extLst>
      <p:ext uri="{BB962C8B-B14F-4D97-AF65-F5344CB8AC3E}">
        <p14:creationId xmlns:p14="http://schemas.microsoft.com/office/powerpoint/2010/main" val="15804833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7" name="text-0">
            <a:extLst>
              <a:ext uri="{FF2B5EF4-FFF2-40B4-BE49-F238E27FC236}">
                <a16:creationId xmlns:a16="http://schemas.microsoft.com/office/drawing/2014/main" id="{61EDAC2F-D16E-4C71-885E-D5F2849D549A}"/>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03  /  LOGIKA ROZMYTA</a:t>
            </a:r>
          </a:p>
        </p:txBody>
      </p:sp>
      <p:sp>
        <p:nvSpPr>
          <p:cNvPr id="2" name="text-1">
            <a:extLst>
              <a:ext uri="{FF2B5EF4-FFF2-40B4-BE49-F238E27FC236}">
                <a16:creationId xmlns:a16="http://schemas.microsoft.com/office/drawing/2014/main" id="{8FA8BD78-7585-49C8-B56C-13BE7E4A2BD5}"/>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Wnioskowanie Mamdaniego</a:t>
            </a:r>
          </a:p>
        </p:txBody>
      </p:sp>
      <p:sp>
        <p:nvSpPr>
          <p:cNvPr id="3" name="text-2">
            <a:extLst>
              <a:ext uri="{FF2B5EF4-FFF2-40B4-BE49-F238E27FC236}">
                <a16:creationId xmlns:a16="http://schemas.microsoft.com/office/drawing/2014/main" id="{F2C36E3D-8E66-4FF3-BEC5-5FC39054A684}"/>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622848E7-A1C1-4F87-9435-66ADACA4C951}"/>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48</a:t>
            </a:r>
          </a:p>
        </p:txBody>
      </p:sp>
      <p:sp>
        <p:nvSpPr>
          <p:cNvPr id="5" name="text-4">
            <a:extLst>
              <a:ext uri="{FF2B5EF4-FFF2-40B4-BE49-F238E27FC236}">
                <a16:creationId xmlns:a16="http://schemas.microsoft.com/office/drawing/2014/main" id="{6F5EF7A9-BC0D-47B8-AC7A-88EB665B90D7}"/>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D647760A-76C6-492B-9C5B-D7493301C65A}"/>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Rozmywanie</a:t>
            </a:r>
          </a:p>
        </p:txBody>
      </p:sp>
      <p:sp>
        <p:nvSpPr>
          <p:cNvPr id="7" name="text-6">
            <a:extLst>
              <a:ext uri="{FF2B5EF4-FFF2-40B4-BE49-F238E27FC236}">
                <a16:creationId xmlns:a16="http://schemas.microsoft.com/office/drawing/2014/main" id="{D2EDD54B-05F4-4711-96D6-C989E7861999}"/>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Obliczenie przynależności wejścia do zbiorów.</a:t>
            </a:r>
          </a:p>
        </p:txBody>
      </p:sp>
      <p:sp>
        <p:nvSpPr>
          <p:cNvPr id="8" name="text-7">
            <a:extLst>
              <a:ext uri="{FF2B5EF4-FFF2-40B4-BE49-F238E27FC236}">
                <a16:creationId xmlns:a16="http://schemas.microsoft.com/office/drawing/2014/main" id="{380B138E-47F5-4D4C-B8E7-37376FE4B3CD}"/>
              </a:ext>
            </a:extLst>
          </p:cNvPr>
          <p:cNvSpPr>
            <a:spLocks noGrp="1"/>
          </p:cNvSpPr>
          <p:nvPr/>
        </p:nvSpPr>
        <p:spPr>
          <a:xfrm>
            <a:off x="609600" y="29432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68E3CE16-CCDE-437E-9911-C5CCB92A0342}"/>
              </a:ext>
            </a:extLst>
          </p:cNvPr>
          <p:cNvSpPr>
            <a:spLocks noGrp="1"/>
          </p:cNvSpPr>
          <p:nvPr/>
        </p:nvSpPr>
        <p:spPr>
          <a:xfrm>
            <a:off x="1562100" y="29432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Aktywacja reguł</a:t>
            </a:r>
          </a:p>
        </p:txBody>
      </p:sp>
      <p:sp>
        <p:nvSpPr>
          <p:cNvPr id="10" name="text-9">
            <a:extLst>
              <a:ext uri="{FF2B5EF4-FFF2-40B4-BE49-F238E27FC236}">
                <a16:creationId xmlns:a16="http://schemas.microsoft.com/office/drawing/2014/main" id="{08F49867-4510-49CB-9840-C0AA2BA91237}"/>
              </a:ext>
            </a:extLst>
          </p:cNvPr>
          <p:cNvSpPr>
            <a:spLocks noGrp="1"/>
          </p:cNvSpPr>
          <p:nvPr/>
        </p:nvSpPr>
        <p:spPr>
          <a:xfrm>
            <a:off x="1562100" y="33147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Wyznaczenie siły każdej reguły.</a:t>
            </a:r>
          </a:p>
        </p:txBody>
      </p:sp>
      <p:sp>
        <p:nvSpPr>
          <p:cNvPr id="11" name="text-10">
            <a:extLst>
              <a:ext uri="{FF2B5EF4-FFF2-40B4-BE49-F238E27FC236}">
                <a16:creationId xmlns:a16="http://schemas.microsoft.com/office/drawing/2014/main" id="{3D1AA7AB-A972-42D0-A5EC-B5C1B20FD856}"/>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08C02B28-14CA-4063-8EF0-888DCC8E29D2}"/>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Agregacja</a:t>
            </a:r>
          </a:p>
        </p:txBody>
      </p:sp>
      <p:sp>
        <p:nvSpPr>
          <p:cNvPr id="13" name="text-12">
            <a:extLst>
              <a:ext uri="{FF2B5EF4-FFF2-40B4-BE49-F238E27FC236}">
                <a16:creationId xmlns:a16="http://schemas.microsoft.com/office/drawing/2014/main" id="{18693550-6655-4EBA-B6CE-4DCAEE411641}"/>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Połączenie przyciętych zbiorów wyjściowych.</a:t>
            </a:r>
          </a:p>
        </p:txBody>
      </p:sp>
      <p:sp>
        <p:nvSpPr>
          <p:cNvPr id="14" name="text-13">
            <a:extLst>
              <a:ext uri="{FF2B5EF4-FFF2-40B4-BE49-F238E27FC236}">
                <a16:creationId xmlns:a16="http://schemas.microsoft.com/office/drawing/2014/main" id="{C17150D5-1B6E-441D-B074-3E3C24AF3B66}"/>
              </a:ext>
            </a:extLst>
          </p:cNvPr>
          <p:cNvSpPr>
            <a:spLocks noGrp="1"/>
          </p:cNvSpPr>
          <p:nvPr/>
        </p:nvSpPr>
        <p:spPr>
          <a:xfrm>
            <a:off x="609600" y="50006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7FAAF70E-50A2-45B9-9881-6BE2D57EC48D}"/>
              </a:ext>
            </a:extLst>
          </p:cNvPr>
          <p:cNvSpPr>
            <a:spLocks noGrp="1"/>
          </p:cNvSpPr>
          <p:nvPr/>
        </p:nvSpPr>
        <p:spPr>
          <a:xfrm>
            <a:off x="1562100" y="50006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Wyostrzanie</a:t>
            </a:r>
          </a:p>
        </p:txBody>
      </p:sp>
      <p:sp>
        <p:nvSpPr>
          <p:cNvPr id="16" name="text-15">
            <a:extLst>
              <a:ext uri="{FF2B5EF4-FFF2-40B4-BE49-F238E27FC236}">
                <a16:creationId xmlns:a16="http://schemas.microsoft.com/office/drawing/2014/main" id="{26C65910-B947-4BAB-8C9E-D3E7B0F9BB8B}"/>
              </a:ext>
            </a:extLst>
          </p:cNvPr>
          <p:cNvSpPr>
            <a:spLocks noGrp="1"/>
          </p:cNvSpPr>
          <p:nvPr/>
        </p:nvSpPr>
        <p:spPr>
          <a:xfrm>
            <a:off x="1562100" y="53721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Zamiana wyniku rozmytego na wartość sterującą.</a:t>
            </a:r>
          </a:p>
        </p:txBody>
      </p:sp>
    </p:spTree>
    <p:extLst>
      <p:ext uri="{BB962C8B-B14F-4D97-AF65-F5344CB8AC3E}">
        <p14:creationId xmlns:p14="http://schemas.microsoft.com/office/powerpoint/2010/main" val="996904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05447304-7D49-4984-8657-0053CC89A018}"/>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03  /  LOGIKA ROZMYTA</a:t>
            </a:r>
          </a:p>
        </p:txBody>
      </p:sp>
      <p:sp>
        <p:nvSpPr>
          <p:cNvPr id="2" name="text-1">
            <a:extLst>
              <a:ext uri="{FF2B5EF4-FFF2-40B4-BE49-F238E27FC236}">
                <a16:creationId xmlns:a16="http://schemas.microsoft.com/office/drawing/2014/main" id="{DE2187DA-A330-4EF1-8D10-B9FDFF60EEBE}"/>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Centroid wyniku rozmytego</a:t>
            </a:r>
          </a:p>
        </p:txBody>
      </p:sp>
      <p:sp>
        <p:nvSpPr>
          <p:cNvPr id="3" name="text-2">
            <a:extLst>
              <a:ext uri="{FF2B5EF4-FFF2-40B4-BE49-F238E27FC236}">
                <a16:creationId xmlns:a16="http://schemas.microsoft.com/office/drawing/2014/main" id="{EFE03A5B-BDBD-415A-9044-9ED5A6ACC992}"/>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52D4C8D7-467E-4321-96E8-12E8814112FE}"/>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49</a:t>
            </a:r>
          </a:p>
        </p:txBody>
      </p:sp>
      <p:sp>
        <p:nvSpPr>
          <p:cNvPr id="5" name="text-4">
            <a:extLst>
              <a:ext uri="{FF2B5EF4-FFF2-40B4-BE49-F238E27FC236}">
                <a16:creationId xmlns:a16="http://schemas.microsoft.com/office/drawing/2014/main" id="{60ABA5B4-3F5A-4C8D-8A49-7489F7658872}"/>
              </a:ext>
            </a:extLst>
          </p:cNvPr>
          <p:cNvSpPr>
            <a:spLocks noGrp="1"/>
          </p:cNvSpPr>
          <p:nvPr/>
        </p:nvSpPr>
        <p:spPr>
          <a:xfrm>
            <a:off x="609600" y="1952625"/>
            <a:ext cx="10972800" cy="685800"/>
          </a:xfrm>
          <a:prstGeom prst="rect">
            <a:avLst/>
          </a:prstGeom>
          <a:noFill/>
          <a:ln w="0">
            <a:noFill/>
          </a:ln>
        </p:spPr>
        <p:txBody>
          <a:bodyPr wrap="square" lIns="0" tIns="0" rIns="0" bIns="0" anchor="t">
            <a:noAutofit/>
          </a:bodyPr>
          <a:lstStyle/>
          <a:p>
            <a:pPr>
              <a:defRPr sz="3225" b="1">
                <a:solidFill>
                  <a:srgbClr val="007F7A"/>
                </a:solidFill>
                <a:latin typeface="Nimbus Sans"/>
                <a:ea typeface="Nimbus Sans"/>
                <a:cs typeface="Nimbus Sans"/>
              </a:defRPr>
            </a:pPr>
            <a:r>
              <a:rPr sz="3225" b="1">
                <a:solidFill>
                  <a:srgbClr val="007F7A"/>
                </a:solidFill>
                <a:latin typeface="Nimbus Sans"/>
                <a:ea typeface="Nimbus Sans"/>
                <a:cs typeface="Nimbus Sans"/>
              </a:rPr>
              <a:t>u* = ∫ u · μ(u) du / ∫ μ(u) du</a:t>
            </a:r>
          </a:p>
        </p:txBody>
      </p:sp>
      <p:sp>
        <p:nvSpPr>
          <p:cNvPr id="6" name="text-5">
            <a:extLst>
              <a:ext uri="{FF2B5EF4-FFF2-40B4-BE49-F238E27FC236}">
                <a16:creationId xmlns:a16="http://schemas.microsoft.com/office/drawing/2014/main" id="{FBD518B0-FA99-4815-B1D9-3E1EB32D6974}"/>
              </a:ext>
            </a:extLst>
          </p:cNvPr>
          <p:cNvSpPr>
            <a:spLocks noGrp="1"/>
          </p:cNvSpPr>
          <p:nvPr/>
        </p:nvSpPr>
        <p:spPr>
          <a:xfrm>
            <a:off x="628650" y="2924175"/>
            <a:ext cx="10953750" cy="723900"/>
          </a:xfrm>
          <a:prstGeom prst="rect">
            <a:avLst/>
          </a:prstGeom>
          <a:noFill/>
          <a:ln w="0">
            <a:noFill/>
          </a:ln>
        </p:spPr>
        <p:txBody>
          <a:bodyPr wrap="square" lIns="0" tIns="0" rIns="0" bIns="0" anchor="t">
            <a:noAutofit/>
          </a:bodyPr>
          <a:lstStyle/>
          <a:p>
            <a:pPr>
              <a:defRPr sz="2100" b="0">
                <a:solidFill>
                  <a:srgbClr val="586779"/>
                </a:solidFill>
                <a:latin typeface="Nimbus Sans"/>
                <a:ea typeface="Nimbus Sans"/>
                <a:cs typeface="Nimbus Sans"/>
              </a:defRPr>
            </a:pPr>
            <a:r>
              <a:rPr sz="2100" b="0">
                <a:solidFill>
                  <a:srgbClr val="586779"/>
                </a:solidFill>
                <a:latin typeface="Nimbus Sans"/>
                <a:ea typeface="Nimbus Sans"/>
                <a:cs typeface="Nimbus Sans"/>
              </a:rPr>
              <a:t>Środek ciężkości zagregowanego zbioru wyjściowego</a:t>
            </a:r>
          </a:p>
        </p:txBody>
      </p:sp>
      <p:sp>
        <p:nvSpPr>
          <p:cNvPr id="7" name="text-6">
            <a:extLst>
              <a:ext uri="{FF2B5EF4-FFF2-40B4-BE49-F238E27FC236}">
                <a16:creationId xmlns:a16="http://schemas.microsoft.com/office/drawing/2014/main" id="{FC535F87-02D7-4485-A346-A0C4C35BB8BD}"/>
              </a:ext>
            </a:extLst>
          </p:cNvPr>
          <p:cNvSpPr>
            <a:spLocks noGrp="1"/>
          </p:cNvSpPr>
          <p:nvPr/>
        </p:nvSpPr>
        <p:spPr>
          <a:xfrm>
            <a:off x="628650"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Warunek</a:t>
            </a:r>
          </a:p>
        </p:txBody>
      </p:sp>
      <p:sp>
        <p:nvSpPr>
          <p:cNvPr id="8" name="text-7">
            <a:extLst>
              <a:ext uri="{FF2B5EF4-FFF2-40B4-BE49-F238E27FC236}">
                <a16:creationId xmlns:a16="http://schemas.microsoft.com/office/drawing/2014/main" id="{588938C0-702E-4779-A9FA-1A59AF8BA2F0}"/>
              </a:ext>
            </a:extLst>
          </p:cNvPr>
          <p:cNvSpPr>
            <a:spLocks noGrp="1"/>
          </p:cNvSpPr>
          <p:nvPr/>
        </p:nvSpPr>
        <p:spPr>
          <a:xfrm>
            <a:off x="628650"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Mianownik musi być dodatni. Brak aktywnej reguły wymaga obsługi.</a:t>
            </a:r>
          </a:p>
        </p:txBody>
      </p:sp>
      <p:sp>
        <p:nvSpPr>
          <p:cNvPr id="9" name="text-8">
            <a:extLst>
              <a:ext uri="{FF2B5EF4-FFF2-40B4-BE49-F238E27FC236}">
                <a16:creationId xmlns:a16="http://schemas.microsoft.com/office/drawing/2014/main" id="{4D9A7BF0-6045-4ED5-B48C-A80398CF8ADB}"/>
              </a:ext>
            </a:extLst>
          </p:cNvPr>
          <p:cNvSpPr>
            <a:spLocks noGrp="1"/>
          </p:cNvSpPr>
          <p:nvPr/>
        </p:nvSpPr>
        <p:spPr>
          <a:xfrm>
            <a:off x="6505575"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Interpretacja</a:t>
            </a:r>
          </a:p>
        </p:txBody>
      </p:sp>
      <p:sp>
        <p:nvSpPr>
          <p:cNvPr id="10" name="text-9">
            <a:extLst>
              <a:ext uri="{FF2B5EF4-FFF2-40B4-BE49-F238E27FC236}">
                <a16:creationId xmlns:a16="http://schemas.microsoft.com/office/drawing/2014/main" id="{E902AF5A-F52C-4862-9822-8DA68E0A9867}"/>
              </a:ext>
            </a:extLst>
          </p:cNvPr>
          <p:cNvSpPr>
            <a:spLocks noGrp="1"/>
          </p:cNvSpPr>
          <p:nvPr/>
        </p:nvSpPr>
        <p:spPr>
          <a:xfrm>
            <a:off x="6505575"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Wynik zależy od całego kształtu zbioru, a nie tylko maksimum.</a:t>
            </a:r>
          </a:p>
        </p:txBody>
      </p:sp>
    </p:spTree>
    <p:extLst>
      <p:ext uri="{BB962C8B-B14F-4D97-AF65-F5344CB8AC3E}">
        <p14:creationId xmlns:p14="http://schemas.microsoft.com/office/powerpoint/2010/main" val="15226015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08CBDC9C-83CA-4898-A0AD-6D323ACFE5E6}"/>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A97BA718-36FF-4D38-83A0-13987561D6B7}"/>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50</a:t>
            </a:r>
          </a:p>
        </p:txBody>
      </p:sp>
      <p:sp>
        <p:nvSpPr>
          <p:cNvPr id="3" name="text-2">
            <a:extLst>
              <a:ext uri="{FF2B5EF4-FFF2-40B4-BE49-F238E27FC236}">
                <a16:creationId xmlns:a16="http://schemas.microsoft.com/office/drawing/2014/main" id="{0CA4B215-0951-4F87-8E46-F0D4F7F8F0E8}"/>
              </a:ext>
            </a:extLst>
          </p:cNvPr>
          <p:cNvSpPr>
            <a:spLocks noGrp="1"/>
          </p:cNvSpPr>
          <p:nvPr/>
        </p:nvSpPr>
        <p:spPr>
          <a:xfrm>
            <a:off x="609600" y="352425"/>
            <a:ext cx="10972800" cy="238125"/>
          </a:xfrm>
          <a:prstGeom prst="rect">
            <a:avLst/>
          </a:prstGeom>
          <a:noFill/>
          <a:ln w="0">
            <a:noFill/>
          </a:ln>
        </p:spPr>
        <p:txBody>
          <a:bodyPr wrap="square" lIns="0" tIns="0" rIns="0" bIns="0" anchor="t">
            <a:noAutofit/>
          </a:bodyPr>
          <a:lstStyle/>
          <a:p>
            <a:pPr>
              <a:defRPr sz="1125" b="1">
                <a:solidFill>
                  <a:srgbClr val="62DCCB"/>
                </a:solidFill>
                <a:latin typeface="Nimbus Sans"/>
                <a:ea typeface="Nimbus Sans"/>
                <a:cs typeface="Nimbus Sans"/>
              </a:defRPr>
            </a:pPr>
            <a:r>
              <a:rPr sz="1125" b="1">
                <a:solidFill>
                  <a:srgbClr val="62DCCB"/>
                </a:solidFill>
                <a:latin typeface="Nimbus Sans"/>
                <a:ea typeface="Nimbus Sans"/>
                <a:cs typeface="Nimbus Sans"/>
              </a:rPr>
              <a:t>PYTHON  /  03  /  LOGIKA ROZMYTA</a:t>
            </a:r>
          </a:p>
        </p:txBody>
      </p:sp>
      <p:sp>
        <p:nvSpPr>
          <p:cNvPr id="4" name="text-3">
            <a:extLst>
              <a:ext uri="{FF2B5EF4-FFF2-40B4-BE49-F238E27FC236}">
                <a16:creationId xmlns:a16="http://schemas.microsoft.com/office/drawing/2014/main" id="{232A6519-242B-4BA6-AA1C-8F5E6AFF5254}"/>
              </a:ext>
            </a:extLst>
          </p:cNvPr>
          <p:cNvSpPr>
            <a:spLocks noGrp="1"/>
          </p:cNvSpPr>
          <p:nvPr/>
        </p:nvSpPr>
        <p:spPr>
          <a:xfrm>
            <a:off x="609600" y="828675"/>
            <a:ext cx="10972800" cy="1047750"/>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Funkcje przynależności w Pythonie</a:t>
            </a:r>
          </a:p>
        </p:txBody>
      </p:sp>
      <p:sp>
        <p:nvSpPr>
          <p:cNvPr id="5" name="text-4">
            <a:extLst>
              <a:ext uri="{FF2B5EF4-FFF2-40B4-BE49-F238E27FC236}">
                <a16:creationId xmlns:a16="http://schemas.microsoft.com/office/drawing/2014/main" id="{C406447B-3D78-4592-BAEE-82596EA64FF6}"/>
              </a:ext>
            </a:extLst>
          </p:cNvPr>
          <p:cNvSpPr>
            <a:spLocks noGrp="1"/>
          </p:cNvSpPr>
          <p:nvPr/>
        </p:nvSpPr>
        <p:spPr>
          <a:xfrm>
            <a:off x="609600" y="2095500"/>
            <a:ext cx="7839075" cy="3838575"/>
          </a:xfrm>
          <a:prstGeom prst="rect">
            <a:avLst/>
          </a:prstGeom>
          <a:noFill/>
          <a:ln w="0">
            <a:noFill/>
          </a:ln>
        </p:spPr>
        <p:txBody>
          <a:bodyPr wrap="square" lIns="0" tIns="0" rIns="0" bIns="0" anchor="t">
            <a:noAutofit/>
          </a:bodyPr>
          <a:lstStyle/>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import numpy as np</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import skfuzzy as fuzz</a:t>
            </a:r>
          </a:p>
          <a:p>
            <a:endParaRPr sz="1575" b="0">
              <a:solidFill>
                <a:srgbClr val="FFFFFF"/>
              </a:solidFill>
              <a:latin typeface="DejaVu Sans Mono"/>
              <a:ea typeface="DejaVu Sans Mono"/>
              <a:cs typeface="DejaVu Sans Mono"/>
            </a:endParaRP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t = np.arange(0, 41, 1)</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cold = fuzz.trapmf(t, [0, 0, 10, 20])</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warm = fuzz.trimf(t, [10, 20, 30])</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hot = fuzz.trapmf(t, [20, 30, 40, 40])</a:t>
            </a:r>
          </a:p>
          <a:p>
            <a:endParaRPr sz="1575" b="0">
              <a:solidFill>
                <a:srgbClr val="FFFFFF"/>
              </a:solidFill>
              <a:latin typeface="DejaVu Sans Mono"/>
              <a:ea typeface="DejaVu Sans Mono"/>
              <a:cs typeface="DejaVu Sans Mono"/>
            </a:endParaRP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mu = fuzz.interp_membership(t, warm, 25)</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print(mu)  # 0.5</a:t>
            </a:r>
          </a:p>
        </p:txBody>
      </p:sp>
      <p:sp>
        <p:nvSpPr>
          <p:cNvPr id="6" name="text-5">
            <a:extLst>
              <a:ext uri="{FF2B5EF4-FFF2-40B4-BE49-F238E27FC236}">
                <a16:creationId xmlns:a16="http://schemas.microsoft.com/office/drawing/2014/main" id="{A0B2B199-2945-4220-801D-1A5A3FCA8274}"/>
              </a:ext>
            </a:extLst>
          </p:cNvPr>
          <p:cNvSpPr>
            <a:spLocks noGrp="1"/>
          </p:cNvSpPr>
          <p:nvPr/>
        </p:nvSpPr>
        <p:spPr>
          <a:xfrm>
            <a:off x="8924925" y="2057400"/>
            <a:ext cx="2657475" cy="495300"/>
          </a:xfrm>
          <a:prstGeom prst="rect">
            <a:avLst/>
          </a:prstGeom>
          <a:noFill/>
          <a:ln w="0">
            <a:noFill/>
          </a:ln>
        </p:spPr>
        <p:txBody>
          <a:bodyPr wrap="square" lIns="0" tIns="0" rIns="0" bIns="0" anchor="t">
            <a:noAutofit/>
          </a:bodyPr>
          <a:lstStyle/>
          <a:p>
            <a:pPr>
              <a:defRPr sz="1575" b="1">
                <a:solidFill>
                  <a:srgbClr val="62DCCB"/>
                </a:solidFill>
                <a:latin typeface="Nimbus Sans"/>
                <a:ea typeface="Nimbus Sans"/>
                <a:cs typeface="Nimbus Sans"/>
              </a:defRPr>
            </a:pPr>
            <a:r>
              <a:rPr sz="1575" b="1">
                <a:solidFill>
                  <a:srgbClr val="62DCCB"/>
                </a:solidFill>
                <a:latin typeface="Nimbus Sans"/>
                <a:ea typeface="Nimbus Sans"/>
                <a:cs typeface="Nimbus Sans"/>
              </a:rPr>
              <a:t>Pierwszy krok</a:t>
            </a:r>
          </a:p>
        </p:txBody>
      </p:sp>
      <p:sp>
        <p:nvSpPr>
          <p:cNvPr id="7" name="text-6">
            <a:extLst>
              <a:ext uri="{FF2B5EF4-FFF2-40B4-BE49-F238E27FC236}">
                <a16:creationId xmlns:a16="http://schemas.microsoft.com/office/drawing/2014/main" id="{6A8029C5-4414-4A3F-BB8D-160D54A37662}"/>
              </a:ext>
            </a:extLst>
          </p:cNvPr>
          <p:cNvSpPr>
            <a:spLocks noGrp="1"/>
          </p:cNvSpPr>
          <p:nvPr/>
        </p:nvSpPr>
        <p:spPr>
          <a:xfrm>
            <a:off x="8924925" y="2657475"/>
            <a:ext cx="2657475" cy="992124"/>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Dla temperatury 25°C obliczamy siłę reguły „ciepło”.</a:t>
            </a:r>
          </a:p>
        </p:txBody>
      </p:sp>
      <p:sp>
        <p:nvSpPr>
          <p:cNvPr id="8" name="text-7">
            <a:extLst>
              <a:ext uri="{FF2B5EF4-FFF2-40B4-BE49-F238E27FC236}">
                <a16:creationId xmlns:a16="http://schemas.microsoft.com/office/drawing/2014/main" id="{3B7E84C9-A447-40BE-9946-940EE2F02BFF}"/>
              </a:ext>
            </a:extLst>
          </p:cNvPr>
          <p:cNvSpPr>
            <a:spLocks noGrp="1"/>
          </p:cNvSpPr>
          <p:nvPr/>
        </p:nvSpPr>
        <p:spPr>
          <a:xfrm>
            <a:off x="8924925" y="3821049"/>
            <a:ext cx="2657475" cy="992124"/>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Dalej definiujemy wyjście, reguły i agregację.</a:t>
            </a:r>
          </a:p>
        </p:txBody>
      </p:sp>
    </p:spTree>
    <p:extLst>
      <p:ext uri="{BB962C8B-B14F-4D97-AF65-F5344CB8AC3E}">
        <p14:creationId xmlns:p14="http://schemas.microsoft.com/office/powerpoint/2010/main" val="5146040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07B750C1-14C6-45F4-A117-69379C6D1585}"/>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509CF606-BCCB-4EE9-A82D-A999BD762D01}"/>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51</a:t>
            </a:r>
          </a:p>
        </p:txBody>
      </p:sp>
      <p:sp>
        <p:nvSpPr>
          <p:cNvPr id="3" name="text-2">
            <a:extLst>
              <a:ext uri="{FF2B5EF4-FFF2-40B4-BE49-F238E27FC236}">
                <a16:creationId xmlns:a16="http://schemas.microsoft.com/office/drawing/2014/main" id="{D1D2BA53-B19E-40E5-A8ED-BD68F7CB1DFC}"/>
              </a:ext>
            </a:extLst>
          </p:cNvPr>
          <p:cNvSpPr>
            <a:spLocks noGrp="1"/>
          </p:cNvSpPr>
          <p:nvPr/>
        </p:nvSpPr>
        <p:spPr>
          <a:xfrm>
            <a:off x="609600" y="400050"/>
            <a:ext cx="10477500" cy="28575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LABORATORIUM 05  /  50 MIN</a:t>
            </a:r>
          </a:p>
        </p:txBody>
      </p:sp>
      <p:sp>
        <p:nvSpPr>
          <p:cNvPr id="4" name="text-3">
            <a:extLst>
              <a:ext uri="{FF2B5EF4-FFF2-40B4-BE49-F238E27FC236}">
                <a16:creationId xmlns:a16="http://schemas.microsoft.com/office/drawing/2014/main" id="{65B4B7BC-E953-4F5C-A352-1E5CFBD555B9}"/>
              </a:ext>
            </a:extLst>
          </p:cNvPr>
          <p:cNvSpPr>
            <a:spLocks noGrp="1"/>
          </p:cNvSpPr>
          <p:nvPr/>
        </p:nvSpPr>
        <p:spPr>
          <a:xfrm>
            <a:off x="609600" y="971550"/>
            <a:ext cx="10972800" cy="1000125"/>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Sterownik oparty na logice rozmytej</a:t>
            </a:r>
          </a:p>
        </p:txBody>
      </p:sp>
      <p:sp>
        <p:nvSpPr>
          <p:cNvPr id="5" name="text-4">
            <a:extLst>
              <a:ext uri="{FF2B5EF4-FFF2-40B4-BE49-F238E27FC236}">
                <a16:creationId xmlns:a16="http://schemas.microsoft.com/office/drawing/2014/main" id="{28CA81E7-E8A9-43E4-9D04-2098663E78E5}"/>
              </a:ext>
            </a:extLst>
          </p:cNvPr>
          <p:cNvSpPr>
            <a:spLocks noGrp="1"/>
          </p:cNvSpPr>
          <p:nvPr/>
        </p:nvSpPr>
        <p:spPr>
          <a:xfrm>
            <a:off x="609600" y="23145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01</a:t>
            </a:r>
          </a:p>
        </p:txBody>
      </p:sp>
      <p:sp>
        <p:nvSpPr>
          <p:cNvPr id="6" name="text-5">
            <a:extLst>
              <a:ext uri="{FF2B5EF4-FFF2-40B4-BE49-F238E27FC236}">
                <a16:creationId xmlns:a16="http://schemas.microsoft.com/office/drawing/2014/main" id="{304A2E2C-D804-483D-BF6F-4CF14AD28086}"/>
              </a:ext>
            </a:extLst>
          </p:cNvPr>
          <p:cNvSpPr>
            <a:spLocks noGrp="1"/>
          </p:cNvSpPr>
          <p:nvPr/>
        </p:nvSpPr>
        <p:spPr>
          <a:xfrm>
            <a:off x="1485900" y="22764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Zbuduj trzy zbiory temperatury i trzy zbiory prędkości.</a:t>
            </a:r>
          </a:p>
        </p:txBody>
      </p:sp>
      <p:sp>
        <p:nvSpPr>
          <p:cNvPr id="7" name="text-6">
            <a:extLst>
              <a:ext uri="{FF2B5EF4-FFF2-40B4-BE49-F238E27FC236}">
                <a16:creationId xmlns:a16="http://schemas.microsoft.com/office/drawing/2014/main" id="{D10C9D89-42A9-4D8E-A091-82D67CB0D6DA}"/>
              </a:ext>
            </a:extLst>
          </p:cNvPr>
          <p:cNvSpPr>
            <a:spLocks noGrp="1"/>
          </p:cNvSpPr>
          <p:nvPr/>
        </p:nvSpPr>
        <p:spPr>
          <a:xfrm>
            <a:off x="609600" y="31527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02</a:t>
            </a:r>
          </a:p>
        </p:txBody>
      </p:sp>
      <p:sp>
        <p:nvSpPr>
          <p:cNvPr id="8" name="text-7">
            <a:extLst>
              <a:ext uri="{FF2B5EF4-FFF2-40B4-BE49-F238E27FC236}">
                <a16:creationId xmlns:a16="http://schemas.microsoft.com/office/drawing/2014/main" id="{0DC18775-89AE-43CC-B98B-F954168EA5BD}"/>
              </a:ext>
            </a:extLst>
          </p:cNvPr>
          <p:cNvSpPr>
            <a:spLocks noGrp="1"/>
          </p:cNvSpPr>
          <p:nvPr/>
        </p:nvSpPr>
        <p:spPr>
          <a:xfrm>
            <a:off x="1485900" y="31146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Dodaj reguły R1–R3 oraz centroid.</a:t>
            </a:r>
          </a:p>
        </p:txBody>
      </p:sp>
      <p:sp>
        <p:nvSpPr>
          <p:cNvPr id="9" name="text-8">
            <a:extLst>
              <a:ext uri="{FF2B5EF4-FFF2-40B4-BE49-F238E27FC236}">
                <a16:creationId xmlns:a16="http://schemas.microsoft.com/office/drawing/2014/main" id="{40A08939-2F44-40F2-88AF-AA97CCAA3335}"/>
              </a:ext>
            </a:extLst>
          </p:cNvPr>
          <p:cNvSpPr>
            <a:spLocks noGrp="1"/>
          </p:cNvSpPr>
          <p:nvPr/>
        </p:nvSpPr>
        <p:spPr>
          <a:xfrm>
            <a:off x="609600" y="39909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03</a:t>
            </a:r>
          </a:p>
        </p:txBody>
      </p:sp>
      <p:sp>
        <p:nvSpPr>
          <p:cNvPr id="10" name="text-9">
            <a:extLst>
              <a:ext uri="{FF2B5EF4-FFF2-40B4-BE49-F238E27FC236}">
                <a16:creationId xmlns:a16="http://schemas.microsoft.com/office/drawing/2014/main" id="{69C885D4-A9E7-4FC8-AFD2-A8D7A656E093}"/>
              </a:ext>
            </a:extLst>
          </p:cNvPr>
          <p:cNvSpPr>
            <a:spLocks noGrp="1"/>
          </p:cNvSpPr>
          <p:nvPr/>
        </p:nvSpPr>
        <p:spPr>
          <a:xfrm>
            <a:off x="1485900" y="39528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Sprawdź wynik dla 10, 20, 25 i 35°C.</a:t>
            </a:r>
          </a:p>
        </p:txBody>
      </p:sp>
      <p:sp>
        <p:nvSpPr>
          <p:cNvPr id="11" name="text-10">
            <a:extLst>
              <a:ext uri="{FF2B5EF4-FFF2-40B4-BE49-F238E27FC236}">
                <a16:creationId xmlns:a16="http://schemas.microsoft.com/office/drawing/2014/main" id="{38A21D52-5ABC-4A15-A093-2A544DADD0A0}"/>
              </a:ext>
            </a:extLst>
          </p:cNvPr>
          <p:cNvSpPr>
            <a:spLocks noGrp="1"/>
          </p:cNvSpPr>
          <p:nvPr/>
        </p:nvSpPr>
        <p:spPr>
          <a:xfrm>
            <a:off x="609600" y="48291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04</a:t>
            </a:r>
          </a:p>
        </p:txBody>
      </p:sp>
      <p:sp>
        <p:nvSpPr>
          <p:cNvPr id="12" name="text-11">
            <a:extLst>
              <a:ext uri="{FF2B5EF4-FFF2-40B4-BE49-F238E27FC236}">
                <a16:creationId xmlns:a16="http://schemas.microsoft.com/office/drawing/2014/main" id="{7C09B215-AFC1-48BC-AEDE-60A17E7543F4}"/>
              </a:ext>
            </a:extLst>
          </p:cNvPr>
          <p:cNvSpPr>
            <a:spLocks noGrp="1"/>
          </p:cNvSpPr>
          <p:nvPr/>
        </p:nvSpPr>
        <p:spPr>
          <a:xfrm>
            <a:off x="1485900" y="47910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Narysuj charakterystykę sterowania dla całego zakresu.</a:t>
            </a:r>
          </a:p>
        </p:txBody>
      </p:sp>
      <p:sp>
        <p:nvSpPr>
          <p:cNvPr id="13" name="text-12">
            <a:extLst>
              <a:ext uri="{FF2B5EF4-FFF2-40B4-BE49-F238E27FC236}">
                <a16:creationId xmlns:a16="http://schemas.microsoft.com/office/drawing/2014/main" id="{E44FF926-9DA9-4095-9367-F4E03FFA56CB}"/>
              </a:ext>
            </a:extLst>
          </p:cNvPr>
          <p:cNvSpPr>
            <a:spLocks noGrp="1"/>
          </p:cNvSpPr>
          <p:nvPr/>
        </p:nvSpPr>
        <p:spPr>
          <a:xfrm>
            <a:off x="609600" y="5848350"/>
            <a:ext cx="1371600" cy="257175"/>
          </a:xfrm>
          <a:prstGeom prst="rect">
            <a:avLst/>
          </a:prstGeom>
          <a:noFill/>
          <a:ln w="0">
            <a:noFill/>
          </a:ln>
        </p:spPr>
        <p:txBody>
          <a:bodyPr wrap="square" lIns="0" tIns="0" rIns="0" bIns="0" anchor="t">
            <a:noAutofit/>
          </a:bodyPr>
          <a:lstStyle/>
          <a:p>
            <a:pPr>
              <a:defRPr sz="1200" b="1">
                <a:solidFill>
                  <a:srgbClr val="62DCCB"/>
                </a:solidFill>
                <a:latin typeface="Nimbus Sans"/>
                <a:ea typeface="Nimbus Sans"/>
                <a:cs typeface="Nimbus Sans"/>
              </a:defRPr>
            </a:pPr>
            <a:r>
              <a:rPr sz="1200" b="1">
                <a:solidFill>
                  <a:srgbClr val="62DCCB"/>
                </a:solidFill>
                <a:latin typeface="Nimbus Sans"/>
                <a:ea typeface="Nimbus Sans"/>
                <a:cs typeface="Nimbus Sans"/>
              </a:rPr>
              <a:t>REZULTAT</a:t>
            </a:r>
          </a:p>
        </p:txBody>
      </p:sp>
      <p:sp>
        <p:nvSpPr>
          <p:cNvPr id="14" name="text-13">
            <a:extLst>
              <a:ext uri="{FF2B5EF4-FFF2-40B4-BE49-F238E27FC236}">
                <a16:creationId xmlns:a16="http://schemas.microsoft.com/office/drawing/2014/main" id="{6FFD1B70-46E4-4C04-863E-32B367DFEE75}"/>
              </a:ext>
            </a:extLst>
          </p:cNvPr>
          <p:cNvSpPr>
            <a:spLocks noGrp="1"/>
          </p:cNvSpPr>
          <p:nvPr/>
        </p:nvSpPr>
        <p:spPr>
          <a:xfrm>
            <a:off x="2057400" y="5791200"/>
            <a:ext cx="9525000" cy="457200"/>
          </a:xfrm>
          <a:prstGeom prst="rect">
            <a:avLst/>
          </a:prstGeom>
          <a:noFill/>
          <a:ln w="0">
            <a:noFill/>
          </a:ln>
        </p:spPr>
        <p:txBody>
          <a:bodyPr wrap="square" lIns="0" tIns="0" rIns="0" bIns="0" anchor="t">
            <a:noAutofit/>
          </a:bodyPr>
          <a:lstStyle/>
          <a:p>
            <a:pPr>
              <a:defRPr sz="1800" b="0">
                <a:solidFill>
                  <a:srgbClr val="D7E3E8"/>
                </a:solidFill>
                <a:latin typeface="Nimbus Sans"/>
                <a:ea typeface="Nimbus Sans"/>
                <a:cs typeface="Nimbus Sans"/>
              </a:defRPr>
            </a:pPr>
            <a:r>
              <a:rPr sz="1800" b="0">
                <a:solidFill>
                  <a:srgbClr val="D7E3E8"/>
                </a:solidFill>
                <a:latin typeface="Nimbus Sans"/>
                <a:ea typeface="Nimbus Sans"/>
                <a:cs typeface="Nimbus Sans"/>
              </a:rPr>
              <a:t>Charakterystyka wejście–wyjście i opis reakcji na wartości graniczne.</a:t>
            </a:r>
          </a:p>
        </p:txBody>
      </p:sp>
    </p:spTree>
    <p:extLst>
      <p:ext uri="{BB962C8B-B14F-4D97-AF65-F5344CB8AC3E}">
        <p14:creationId xmlns:p14="http://schemas.microsoft.com/office/powerpoint/2010/main" val="21127430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358CF93C-A1C8-42BB-92A9-7B7621B6DC3A}"/>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03  /  LOGIKA ROZMYTA</a:t>
            </a:r>
          </a:p>
        </p:txBody>
      </p:sp>
      <p:sp>
        <p:nvSpPr>
          <p:cNvPr id="2" name="text-1">
            <a:extLst>
              <a:ext uri="{FF2B5EF4-FFF2-40B4-BE49-F238E27FC236}">
                <a16:creationId xmlns:a16="http://schemas.microsoft.com/office/drawing/2014/main" id="{8F5669F4-D93E-4571-9AFA-EF2D0BDEBF98}"/>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Mamdani i Sugeno</a:t>
            </a:r>
          </a:p>
        </p:txBody>
      </p:sp>
      <p:sp>
        <p:nvSpPr>
          <p:cNvPr id="3" name="text-2">
            <a:extLst>
              <a:ext uri="{FF2B5EF4-FFF2-40B4-BE49-F238E27FC236}">
                <a16:creationId xmlns:a16="http://schemas.microsoft.com/office/drawing/2014/main" id="{EDADFA92-A633-4784-A42A-9EB3AE019A3E}"/>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FCE84021-5832-462A-A9BE-744019A38578}"/>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52</a:t>
            </a:r>
          </a:p>
        </p:txBody>
      </p:sp>
      <p:graphicFrame>
        <p:nvGraphicFramePr>
          <p:cNvPr id="10" name="Tabela 9"/>
          <p:cNvGraphicFramePr/>
          <p:nvPr/>
        </p:nvGraphicFramePr>
        <p:xfrm>
          <a:off x="609600" y="1971675"/>
          <a:ext cx="10972800"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85800">
                <a:tc>
                  <a:txBody>
                    <a:bodyPr/>
                    <a:lstStyle/>
                    <a:p>
                      <a:r>
                        <a:rPr sz="1725" b="1">
                          <a:solidFill>
                            <a:srgbClr val="FFFFFF"/>
                          </a:solidFill>
                          <a:latin typeface="Nimbus Sans"/>
                          <a:ea typeface="Nimbus Sans"/>
                          <a:cs typeface="Nimbus Sans"/>
                        </a:rPr>
                        <a:t>Cecha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Mamdani</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Sugeno</a:t>
                      </a:r>
                    </a:p>
                  </a:txBody>
                  <a:tcPr marL="133350" marR="114300" marT="123825" marB="104775" anchor="ctr">
                    <a:solidFill>
                      <a:srgbClr val="0B1426"/>
                    </a:solidFill>
                  </a:tcPr>
                </a:tc>
                <a:extLst>
                  <a:ext uri="{0D108BD9-81ED-4DB2-BD59-A6C34878D82A}">
                    <a16:rowId xmlns:a16="http://schemas.microsoft.com/office/drawing/2014/main" val="10000"/>
                  </a:ext>
                </a:extLst>
              </a:tr>
              <a:tr h="685800">
                <a:tc>
                  <a:txBody>
                    <a:bodyPr/>
                    <a:lstStyle/>
                    <a:p>
                      <a:r>
                        <a:rPr sz="1875" b="1">
                          <a:solidFill>
                            <a:srgbClr val="17243A"/>
                          </a:solidFill>
                          <a:latin typeface="Nimbus Sans"/>
                          <a:ea typeface="Nimbus Sans"/>
                          <a:cs typeface="Nimbus Sans"/>
                        </a:rPr>
                        <a:t>Konsekwencja reguły</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Zbiór rozmyty</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Stała lub funkcja wejść</a:t>
                      </a:r>
                    </a:p>
                  </a:txBody>
                  <a:tcPr marL="133350" marR="114300" marT="123825" marB="104775" anchor="ctr">
                    <a:solidFill>
                      <a:srgbClr val="FFFFFF"/>
                    </a:solidFill>
                  </a:tcPr>
                </a:tc>
                <a:extLst>
                  <a:ext uri="{0D108BD9-81ED-4DB2-BD59-A6C34878D82A}">
                    <a16:rowId xmlns:a16="http://schemas.microsoft.com/office/drawing/2014/main" val="10001"/>
                  </a:ext>
                </a:extLst>
              </a:tr>
              <a:tr h="685800">
                <a:tc>
                  <a:txBody>
                    <a:bodyPr/>
                    <a:lstStyle/>
                    <a:p>
                      <a:r>
                        <a:rPr sz="1875" b="1">
                          <a:solidFill>
                            <a:srgbClr val="17243A"/>
                          </a:solidFill>
                          <a:latin typeface="Nimbus Sans"/>
                          <a:ea typeface="Nimbus Sans"/>
                          <a:cs typeface="Nimbus Sans"/>
                        </a:rPr>
                        <a:t>Wynik</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Agregacja i wyostrzanie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Znormalizowana suma ważona</a:t>
                      </a:r>
                    </a:p>
                  </a:txBody>
                  <a:tcPr marL="133350" marR="114300" marT="123825" marB="104775" anchor="ctr">
                    <a:solidFill>
                      <a:srgbClr val="E9EFED"/>
                    </a:solidFill>
                  </a:tcPr>
                </a:tc>
                <a:extLst>
                  <a:ext uri="{0D108BD9-81ED-4DB2-BD59-A6C34878D82A}">
                    <a16:rowId xmlns:a16="http://schemas.microsoft.com/office/drawing/2014/main" val="10002"/>
                  </a:ext>
                </a:extLst>
              </a:tr>
              <a:tr h="685800">
                <a:tc>
                  <a:txBody>
                    <a:bodyPr/>
                    <a:lstStyle/>
                    <a:p>
                      <a:r>
                        <a:rPr sz="1875" b="1">
                          <a:solidFill>
                            <a:srgbClr val="17243A"/>
                          </a:solidFill>
                          <a:latin typeface="Nimbus Sans"/>
                          <a:ea typeface="Nimbus Sans"/>
                          <a:cs typeface="Nimbus Sans"/>
                        </a:rPr>
                        <a:t>Czytelność</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Reguły językowe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Reguły z funkcjami liczbowymi</a:t>
                      </a:r>
                    </a:p>
                  </a:txBody>
                  <a:tcPr marL="133350" marR="114300" marT="123825" marB="104775" anchor="ctr">
                    <a:solidFill>
                      <a:srgbClr val="FFFFFF"/>
                    </a:solidFill>
                  </a:tcPr>
                </a:tc>
                <a:extLst>
                  <a:ext uri="{0D108BD9-81ED-4DB2-BD59-A6C34878D82A}">
                    <a16:rowId xmlns:a16="http://schemas.microsoft.com/office/drawing/2014/main" val="10003"/>
                  </a:ext>
                </a:extLst>
              </a:tr>
              <a:tr h="685800">
                <a:tc>
                  <a:txBody>
                    <a:bodyPr/>
                    <a:lstStyle/>
                    <a:p>
                      <a:r>
                        <a:rPr sz="1875" b="1">
                          <a:solidFill>
                            <a:srgbClr val="17243A"/>
                          </a:solidFill>
                          <a:latin typeface="Nimbus Sans"/>
                          <a:ea typeface="Nimbus Sans"/>
                          <a:cs typeface="Nimbus Sans"/>
                        </a:rPr>
                        <a:t>Zastosowanie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Sterowanie i decyzje eksperckie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Modelowanie i optymalizacja</a:t>
                      </a:r>
                    </a:p>
                  </a:txBody>
                  <a:tcPr marL="133350" marR="114300" marT="123825" marB="104775" anchor="ctr">
                    <a:solidFill>
                      <a:srgbClr val="E9EFE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974571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pic>
        <p:nvPicPr>
          <p:cNvPr id="7" name="Obraz 6"/>
          <p:cNvPicPr>
            <a:picLocks noChangeAspect="1"/>
          </p:cNvPicPr>
          <p:nvPr/>
        </p:nvPicPr>
        <p:blipFill>
          <a:blip r:embed="rId3"/>
          <a:srcRect t="27" b="27"/>
          <a:stretch>
            <a:fillRect/>
          </a:stretch>
        </p:blipFill>
        <p:spPr>
          <a:xfrm>
            <a:off x="0" y="0"/>
            <a:ext cx="12192000" cy="6858000"/>
          </a:xfrm>
          <a:prstGeom prst="rect">
            <a:avLst/>
          </a:prstGeom>
        </p:spPr>
      </p:pic>
      <p:sp>
        <p:nvSpPr>
          <p:cNvPr id="2" name="text-0">
            <a:extLst>
              <a:ext uri="{FF2B5EF4-FFF2-40B4-BE49-F238E27FC236}">
                <a16:creationId xmlns:a16="http://schemas.microsoft.com/office/drawing/2014/main" id="{00CB259D-F5EE-4851-9CAB-F5E6C846DAAC}"/>
              </a:ext>
            </a:extLst>
          </p:cNvPr>
          <p:cNvSpPr>
            <a:spLocks noGrp="1"/>
          </p:cNvSpPr>
          <p:nvPr/>
        </p:nvSpPr>
        <p:spPr>
          <a:xfrm>
            <a:off x="581025" y="504825"/>
            <a:ext cx="2857500" cy="1428750"/>
          </a:xfrm>
          <a:prstGeom prst="rect">
            <a:avLst/>
          </a:prstGeom>
          <a:noFill/>
          <a:ln w="0">
            <a:noFill/>
          </a:ln>
        </p:spPr>
        <p:txBody>
          <a:bodyPr wrap="square" lIns="0" tIns="0" rIns="0" bIns="0" anchor="t">
            <a:noAutofit/>
          </a:bodyPr>
          <a:lstStyle/>
          <a:p>
            <a:pPr>
              <a:defRPr sz="9300" b="1">
                <a:solidFill>
                  <a:srgbClr val="62DCCB"/>
                </a:solidFill>
                <a:latin typeface="Nimbus Sans"/>
                <a:ea typeface="Nimbus Sans"/>
                <a:cs typeface="Nimbus Sans"/>
              </a:defRPr>
            </a:pPr>
            <a:r>
              <a:rPr sz="9300" b="1">
                <a:solidFill>
                  <a:srgbClr val="62DCCB"/>
                </a:solidFill>
                <a:latin typeface="Nimbus Sans"/>
                <a:ea typeface="Nimbus Sans"/>
                <a:cs typeface="Nimbus Sans"/>
              </a:rPr>
              <a:t>04</a:t>
            </a:r>
          </a:p>
        </p:txBody>
      </p:sp>
      <p:sp>
        <p:nvSpPr>
          <p:cNvPr id="3" name="text-1">
            <a:extLst>
              <a:ext uri="{FF2B5EF4-FFF2-40B4-BE49-F238E27FC236}">
                <a16:creationId xmlns:a16="http://schemas.microsoft.com/office/drawing/2014/main" id="{741123EF-B1D5-4BED-88E3-DE0C3761B76E}"/>
              </a:ext>
            </a:extLst>
          </p:cNvPr>
          <p:cNvSpPr>
            <a:spLocks noGrp="1"/>
          </p:cNvSpPr>
          <p:nvPr/>
        </p:nvSpPr>
        <p:spPr>
          <a:xfrm>
            <a:off x="609600" y="2219325"/>
            <a:ext cx="8858250" cy="1885950"/>
          </a:xfrm>
          <a:prstGeom prst="rect">
            <a:avLst/>
          </a:prstGeom>
          <a:noFill/>
          <a:ln w="0">
            <a:noFill/>
          </a:ln>
        </p:spPr>
        <p:txBody>
          <a:bodyPr wrap="square" lIns="0" tIns="0" rIns="0" bIns="0" anchor="t">
            <a:noAutofit/>
          </a:bodyPr>
          <a:lstStyle/>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Modelowanie</a:t>
            </a:r>
          </a:p>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i ocena modeli</a:t>
            </a:r>
          </a:p>
        </p:txBody>
      </p:sp>
      <p:sp>
        <p:nvSpPr>
          <p:cNvPr id="4" name="text-2">
            <a:extLst>
              <a:ext uri="{FF2B5EF4-FFF2-40B4-BE49-F238E27FC236}">
                <a16:creationId xmlns:a16="http://schemas.microsoft.com/office/drawing/2014/main" id="{E3A2F401-D5A5-42B6-8F6C-7303C5D91238}"/>
              </a:ext>
            </a:extLst>
          </p:cNvPr>
          <p:cNvSpPr>
            <a:spLocks noGrp="1"/>
          </p:cNvSpPr>
          <p:nvPr/>
        </p:nvSpPr>
        <p:spPr>
          <a:xfrm>
            <a:off x="638175" y="4314825"/>
            <a:ext cx="5048250" cy="1047750"/>
          </a:xfrm>
          <a:prstGeom prst="rect">
            <a:avLst/>
          </a:prstGeom>
          <a:noFill/>
          <a:ln w="0">
            <a:noFill/>
          </a:ln>
        </p:spPr>
        <p:txBody>
          <a:bodyPr wrap="square" lIns="0" tIns="0" rIns="0" bIns="0" anchor="t">
            <a:noAutofit/>
          </a:bodyPr>
          <a:lstStyle/>
          <a:p>
            <a:pPr>
              <a:defRPr sz="2100" b="0">
                <a:solidFill>
                  <a:srgbClr val="D7E3E8"/>
                </a:solidFill>
                <a:latin typeface="Nimbus Sans"/>
                <a:ea typeface="Nimbus Sans"/>
                <a:cs typeface="Nimbus Sans"/>
              </a:defRPr>
            </a:pPr>
            <a:r>
              <a:rPr sz="2100" b="0">
                <a:solidFill>
                  <a:srgbClr val="D7E3E8"/>
                </a:solidFill>
                <a:latin typeface="Nimbus Sans"/>
                <a:ea typeface="Nimbus Sans"/>
                <a:cs typeface="Nimbus Sans"/>
              </a:rPr>
              <a:t>Metryki, wiarygodna walidacja i strojenie</a:t>
            </a:r>
          </a:p>
        </p:txBody>
      </p:sp>
      <p:sp>
        <p:nvSpPr>
          <p:cNvPr id="5" name="text-3">
            <a:extLst>
              <a:ext uri="{FF2B5EF4-FFF2-40B4-BE49-F238E27FC236}">
                <a16:creationId xmlns:a16="http://schemas.microsoft.com/office/drawing/2014/main" id="{CB21DA1A-1FCF-4F79-8B3E-4C43BE2B9A81}"/>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6" name="text-4">
            <a:extLst>
              <a:ext uri="{FF2B5EF4-FFF2-40B4-BE49-F238E27FC236}">
                <a16:creationId xmlns:a16="http://schemas.microsoft.com/office/drawing/2014/main" id="{1A78C630-85AB-4C83-9D54-B2E2847A2E85}"/>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53</a:t>
            </a:r>
          </a:p>
        </p:txBody>
      </p:sp>
    </p:spTree>
    <p:extLst>
      <p:ext uri="{BB962C8B-B14F-4D97-AF65-F5344CB8AC3E}">
        <p14:creationId xmlns:p14="http://schemas.microsoft.com/office/powerpoint/2010/main" val="20691401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97AB9BCC-F30D-4CBD-8AF5-43B3E4740DDC}"/>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04  /  MODELOWANIE I OCENA MODELI</a:t>
            </a:r>
          </a:p>
        </p:txBody>
      </p:sp>
      <p:sp>
        <p:nvSpPr>
          <p:cNvPr id="2" name="text-1">
            <a:extLst>
              <a:ext uri="{FF2B5EF4-FFF2-40B4-BE49-F238E27FC236}">
                <a16:creationId xmlns:a16="http://schemas.microsoft.com/office/drawing/2014/main" id="{B747BB83-8291-4D17-88F0-C146584DB8F2}"/>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Macierz pomyłek</a:t>
            </a:r>
          </a:p>
        </p:txBody>
      </p:sp>
      <p:sp>
        <p:nvSpPr>
          <p:cNvPr id="3" name="text-2">
            <a:extLst>
              <a:ext uri="{FF2B5EF4-FFF2-40B4-BE49-F238E27FC236}">
                <a16:creationId xmlns:a16="http://schemas.microsoft.com/office/drawing/2014/main" id="{C51ABFB9-5E90-42E2-9ED7-95EFE6CF1519}"/>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E25CE1D3-7BEC-4192-8BF6-9BF5310F64C3}"/>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54</a:t>
            </a:r>
          </a:p>
        </p:txBody>
      </p:sp>
      <p:graphicFrame>
        <p:nvGraphicFramePr>
          <p:cNvPr id="11" name="Tabela 10"/>
          <p:cNvGraphicFramePr/>
          <p:nvPr/>
        </p:nvGraphicFramePr>
        <p:xfrm>
          <a:off x="609600" y="1971675"/>
          <a:ext cx="10972800" cy="211455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704850">
                <a:tc>
                  <a:txBody>
                    <a:bodyPr/>
                    <a:lstStyle/>
                    <a:p>
                      <a:r>
                        <a:rPr sz="1725" b="1">
                          <a:solidFill>
                            <a:srgbClr val="FFFFFF"/>
                          </a:solidFill>
                          <a:latin typeface="Nimbus Sans"/>
                          <a:ea typeface="Nimbus Sans"/>
                          <a:cs typeface="Nimbus Sans"/>
                        </a:rPr>
                        <a:t>Rzeczywistość / predykcja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Dodatnia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Ujemna</a:t>
                      </a:r>
                    </a:p>
                  </a:txBody>
                  <a:tcPr marL="133350" marR="114300" marT="123825" marB="104775" anchor="ctr">
                    <a:solidFill>
                      <a:srgbClr val="0B1426"/>
                    </a:solidFill>
                  </a:tcPr>
                </a:tc>
                <a:extLst>
                  <a:ext uri="{0D108BD9-81ED-4DB2-BD59-A6C34878D82A}">
                    <a16:rowId xmlns:a16="http://schemas.microsoft.com/office/drawing/2014/main" val="10000"/>
                  </a:ext>
                </a:extLst>
              </a:tr>
              <a:tr h="704850">
                <a:tc>
                  <a:txBody>
                    <a:bodyPr/>
                    <a:lstStyle/>
                    <a:p>
                      <a:r>
                        <a:rPr sz="1875" b="1">
                          <a:solidFill>
                            <a:srgbClr val="17243A"/>
                          </a:solidFill>
                          <a:latin typeface="Nimbus Sans"/>
                          <a:ea typeface="Nimbus Sans"/>
                          <a:cs typeface="Nimbus Sans"/>
                        </a:rPr>
                        <a:t>Klasa dodatnia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TP = 40</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FN = 10</a:t>
                      </a:r>
                    </a:p>
                  </a:txBody>
                  <a:tcPr marL="133350" marR="114300" marT="123825" marB="104775" anchor="ctr">
                    <a:solidFill>
                      <a:srgbClr val="FFFFFF"/>
                    </a:solidFill>
                  </a:tcPr>
                </a:tc>
                <a:extLst>
                  <a:ext uri="{0D108BD9-81ED-4DB2-BD59-A6C34878D82A}">
                    <a16:rowId xmlns:a16="http://schemas.microsoft.com/office/drawing/2014/main" val="10001"/>
                  </a:ext>
                </a:extLst>
              </a:tr>
              <a:tr h="704850">
                <a:tc>
                  <a:txBody>
                    <a:bodyPr/>
                    <a:lstStyle/>
                    <a:p>
                      <a:r>
                        <a:rPr sz="1875" b="1">
                          <a:solidFill>
                            <a:srgbClr val="17243A"/>
                          </a:solidFill>
                          <a:latin typeface="Nimbus Sans"/>
                          <a:ea typeface="Nimbus Sans"/>
                          <a:cs typeface="Nimbus Sans"/>
                        </a:rPr>
                        <a:t>Klasa ujemna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FP = 20</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TN = 130</a:t>
                      </a:r>
                    </a:p>
                  </a:txBody>
                  <a:tcPr marL="133350" marR="114300" marT="123825" marB="104775" anchor="ctr">
                    <a:solidFill>
                      <a:srgbClr val="E9EFED"/>
                    </a:solidFill>
                  </a:tcPr>
                </a:tc>
                <a:extLst>
                  <a:ext uri="{0D108BD9-81ED-4DB2-BD59-A6C34878D82A}">
                    <a16:rowId xmlns:a16="http://schemas.microsoft.com/office/drawing/2014/main" val="10002"/>
                  </a:ext>
                </a:extLst>
              </a:tr>
            </a:tbl>
          </a:graphicData>
        </a:graphic>
      </p:graphicFrame>
      <p:sp>
        <p:nvSpPr>
          <p:cNvPr id="6" name="text-4">
            <a:extLst>
              <a:ext uri="{FF2B5EF4-FFF2-40B4-BE49-F238E27FC236}">
                <a16:creationId xmlns:a16="http://schemas.microsoft.com/office/drawing/2014/main" id="{8B16676F-E5B5-4AF4-9294-219773A4E336}"/>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Przykład dydaktyczny: 200 obserwacji, w tym 50 rzeczywiście dodatnich.</a:t>
            </a:r>
          </a:p>
        </p:txBody>
      </p:sp>
    </p:spTree>
    <p:extLst>
      <p:ext uri="{BB962C8B-B14F-4D97-AF65-F5344CB8AC3E}">
        <p14:creationId xmlns:p14="http://schemas.microsoft.com/office/powerpoint/2010/main" val="1034253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DCED928F-B51F-4F39-92DE-D185292E3656}"/>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04  /  MODELOWANIE I OCENA MODELI</a:t>
            </a:r>
          </a:p>
        </p:txBody>
      </p:sp>
      <p:sp>
        <p:nvSpPr>
          <p:cNvPr id="2" name="text-1">
            <a:extLst>
              <a:ext uri="{FF2B5EF4-FFF2-40B4-BE49-F238E27FC236}">
                <a16:creationId xmlns:a16="http://schemas.microsoft.com/office/drawing/2014/main" id="{7F9CCB55-D81C-4C88-B1C6-9E1264CBBBAA}"/>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Cztery metryki na tych samych danych</a:t>
            </a:r>
          </a:p>
        </p:txBody>
      </p:sp>
      <p:sp>
        <p:nvSpPr>
          <p:cNvPr id="3" name="text-2">
            <a:extLst>
              <a:ext uri="{FF2B5EF4-FFF2-40B4-BE49-F238E27FC236}">
                <a16:creationId xmlns:a16="http://schemas.microsoft.com/office/drawing/2014/main" id="{C9BDFE5D-26BF-4D7F-B29E-E979215AD80C}"/>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9535BCF3-EA84-4464-8BA6-A9F458268CEA}"/>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55</a:t>
            </a:r>
          </a:p>
        </p:txBody>
      </p:sp>
      <p:graphicFrame>
        <p:nvGraphicFramePr>
          <p:cNvPr id="10" name="Tabela 9"/>
          <p:cNvGraphicFramePr/>
          <p:nvPr/>
        </p:nvGraphicFramePr>
        <p:xfrm>
          <a:off x="609600" y="1971675"/>
          <a:ext cx="10972800"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85800">
                <a:tc>
                  <a:txBody>
                    <a:bodyPr/>
                    <a:lstStyle/>
                    <a:p>
                      <a:r>
                        <a:rPr sz="1725" b="1">
                          <a:solidFill>
                            <a:srgbClr val="FFFFFF"/>
                          </a:solidFill>
                          <a:latin typeface="Nimbus Sans"/>
                          <a:ea typeface="Nimbus Sans"/>
                          <a:cs typeface="Nimbus Sans"/>
                        </a:rPr>
                        <a:t>Metryka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Wzór</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Wynik</a:t>
                      </a:r>
                    </a:p>
                  </a:txBody>
                  <a:tcPr marL="133350" marR="114300" marT="123825" marB="104775" anchor="ctr">
                    <a:solidFill>
                      <a:srgbClr val="0B1426"/>
                    </a:solidFill>
                  </a:tcPr>
                </a:tc>
                <a:extLst>
                  <a:ext uri="{0D108BD9-81ED-4DB2-BD59-A6C34878D82A}">
                    <a16:rowId xmlns:a16="http://schemas.microsoft.com/office/drawing/2014/main" val="10000"/>
                  </a:ext>
                </a:extLst>
              </a:tr>
              <a:tr h="685800">
                <a:tc>
                  <a:txBody>
                    <a:bodyPr/>
                    <a:lstStyle/>
                    <a:p>
                      <a:r>
                        <a:rPr sz="1875" b="1">
                          <a:solidFill>
                            <a:srgbClr val="17243A"/>
                          </a:solidFill>
                          <a:latin typeface="Nimbus Sans"/>
                          <a:ea typeface="Nimbus Sans"/>
                          <a:cs typeface="Nimbus Sans"/>
                        </a:rPr>
                        <a:t>Accuracy</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(TP + TN) / N</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85,0%</a:t>
                      </a:r>
                    </a:p>
                  </a:txBody>
                  <a:tcPr marL="133350" marR="114300" marT="123825" marB="104775" anchor="ctr">
                    <a:solidFill>
                      <a:srgbClr val="FFFFFF"/>
                    </a:solidFill>
                  </a:tcPr>
                </a:tc>
                <a:extLst>
                  <a:ext uri="{0D108BD9-81ED-4DB2-BD59-A6C34878D82A}">
                    <a16:rowId xmlns:a16="http://schemas.microsoft.com/office/drawing/2014/main" val="10001"/>
                  </a:ext>
                </a:extLst>
              </a:tr>
              <a:tr h="685800">
                <a:tc>
                  <a:txBody>
                    <a:bodyPr/>
                    <a:lstStyle/>
                    <a:p>
                      <a:r>
                        <a:rPr sz="1875" b="1">
                          <a:solidFill>
                            <a:srgbClr val="17243A"/>
                          </a:solidFill>
                          <a:latin typeface="Nimbus Sans"/>
                          <a:ea typeface="Nimbus Sans"/>
                          <a:cs typeface="Nimbus Sans"/>
                        </a:rPr>
                        <a:t>Precision</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TP / (TP + FP)</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66,7%</a:t>
                      </a:r>
                    </a:p>
                  </a:txBody>
                  <a:tcPr marL="133350" marR="114300" marT="123825" marB="104775" anchor="ctr">
                    <a:solidFill>
                      <a:srgbClr val="E9EFED"/>
                    </a:solidFill>
                  </a:tcPr>
                </a:tc>
                <a:extLst>
                  <a:ext uri="{0D108BD9-81ED-4DB2-BD59-A6C34878D82A}">
                    <a16:rowId xmlns:a16="http://schemas.microsoft.com/office/drawing/2014/main" val="10002"/>
                  </a:ext>
                </a:extLst>
              </a:tr>
              <a:tr h="685800">
                <a:tc>
                  <a:txBody>
                    <a:bodyPr/>
                    <a:lstStyle/>
                    <a:p>
                      <a:r>
                        <a:rPr sz="1875" b="1">
                          <a:solidFill>
                            <a:srgbClr val="17243A"/>
                          </a:solidFill>
                          <a:latin typeface="Nimbus Sans"/>
                          <a:ea typeface="Nimbus Sans"/>
                          <a:cs typeface="Nimbus Sans"/>
                        </a:rPr>
                        <a:t>Recall</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TP / (TP + FN)</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80,0%</a:t>
                      </a:r>
                    </a:p>
                  </a:txBody>
                  <a:tcPr marL="133350" marR="114300" marT="123825" marB="104775" anchor="ctr">
                    <a:solidFill>
                      <a:srgbClr val="FFFFFF"/>
                    </a:solidFill>
                  </a:tcPr>
                </a:tc>
                <a:extLst>
                  <a:ext uri="{0D108BD9-81ED-4DB2-BD59-A6C34878D82A}">
                    <a16:rowId xmlns:a16="http://schemas.microsoft.com/office/drawing/2014/main" val="10003"/>
                  </a:ext>
                </a:extLst>
              </a:tr>
              <a:tr h="685800">
                <a:tc>
                  <a:txBody>
                    <a:bodyPr/>
                    <a:lstStyle/>
                    <a:p>
                      <a:r>
                        <a:rPr sz="1875" b="1">
                          <a:solidFill>
                            <a:srgbClr val="17243A"/>
                          </a:solidFill>
                          <a:latin typeface="Nimbus Sans"/>
                          <a:ea typeface="Nimbus Sans"/>
                          <a:cs typeface="Nimbus Sans"/>
                        </a:rPr>
                        <a:t>F1</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2 · precision · recall / (precision + recall)</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72,7%</a:t>
                      </a:r>
                    </a:p>
                  </a:txBody>
                  <a:tcPr marL="133350" marR="114300" marT="123825" marB="104775" anchor="ctr">
                    <a:solidFill>
                      <a:srgbClr val="E9EFE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822539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E68DE3F6-E764-40BB-96B0-EEEE1FE78F40}"/>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F1813151-56EC-43F7-A29D-068617FEE184}"/>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56</a:t>
            </a:r>
          </a:p>
        </p:txBody>
      </p:sp>
      <p:sp>
        <p:nvSpPr>
          <p:cNvPr id="3" name="text-2">
            <a:extLst>
              <a:ext uri="{FF2B5EF4-FFF2-40B4-BE49-F238E27FC236}">
                <a16:creationId xmlns:a16="http://schemas.microsoft.com/office/drawing/2014/main" id="{ADC20A92-32E8-4F42-9BFA-FA29B9FB2CE7}"/>
              </a:ext>
            </a:extLst>
          </p:cNvPr>
          <p:cNvSpPr>
            <a:spLocks noGrp="1"/>
          </p:cNvSpPr>
          <p:nvPr/>
        </p:nvSpPr>
        <p:spPr>
          <a:xfrm>
            <a:off x="609600" y="542925"/>
            <a:ext cx="10972800" cy="723900"/>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Pułapka accuracy</a:t>
            </a:r>
          </a:p>
        </p:txBody>
      </p:sp>
      <p:sp>
        <p:nvSpPr>
          <p:cNvPr id="4" name="text-3">
            <a:extLst>
              <a:ext uri="{FF2B5EF4-FFF2-40B4-BE49-F238E27FC236}">
                <a16:creationId xmlns:a16="http://schemas.microsoft.com/office/drawing/2014/main" id="{C1B0D056-3DC7-4F1C-AE99-F2ABB9AA14D5}"/>
              </a:ext>
            </a:extLst>
          </p:cNvPr>
          <p:cNvSpPr>
            <a:spLocks noGrp="1"/>
          </p:cNvSpPr>
          <p:nvPr/>
        </p:nvSpPr>
        <p:spPr>
          <a:xfrm>
            <a:off x="561975" y="1581150"/>
            <a:ext cx="10477500" cy="2190750"/>
          </a:xfrm>
          <a:prstGeom prst="rect">
            <a:avLst/>
          </a:prstGeom>
          <a:noFill/>
          <a:ln w="0">
            <a:noFill/>
          </a:ln>
        </p:spPr>
        <p:txBody>
          <a:bodyPr wrap="square" lIns="0" tIns="0" rIns="0" bIns="0" anchor="t">
            <a:noAutofit/>
          </a:bodyPr>
          <a:lstStyle/>
          <a:p>
            <a:pPr>
              <a:defRPr sz="14400" b="1">
                <a:solidFill>
                  <a:srgbClr val="62DCCB"/>
                </a:solidFill>
                <a:latin typeface="Nimbus Sans"/>
                <a:ea typeface="Nimbus Sans"/>
                <a:cs typeface="Nimbus Sans"/>
              </a:defRPr>
            </a:pPr>
            <a:r>
              <a:rPr sz="14400" b="1">
                <a:solidFill>
                  <a:srgbClr val="62DCCB"/>
                </a:solidFill>
                <a:latin typeface="Nimbus Sans"/>
                <a:ea typeface="Nimbus Sans"/>
                <a:cs typeface="Nimbus Sans"/>
              </a:rPr>
              <a:t>99%</a:t>
            </a:r>
          </a:p>
        </p:txBody>
      </p:sp>
      <p:sp>
        <p:nvSpPr>
          <p:cNvPr id="5" name="text-4">
            <a:extLst>
              <a:ext uri="{FF2B5EF4-FFF2-40B4-BE49-F238E27FC236}">
                <a16:creationId xmlns:a16="http://schemas.microsoft.com/office/drawing/2014/main" id="{EACF52B5-E856-473F-896D-7069C55066A4}"/>
              </a:ext>
            </a:extLst>
          </p:cNvPr>
          <p:cNvSpPr>
            <a:spLocks noGrp="1"/>
          </p:cNvSpPr>
          <p:nvPr/>
        </p:nvSpPr>
        <p:spPr>
          <a:xfrm>
            <a:off x="628650" y="4114800"/>
            <a:ext cx="10477500" cy="1190625"/>
          </a:xfrm>
          <a:prstGeom prst="rect">
            <a:avLst/>
          </a:prstGeom>
          <a:noFill/>
          <a:ln w="0">
            <a:noFill/>
          </a:ln>
        </p:spPr>
        <p:txBody>
          <a:bodyPr wrap="square" lIns="0" tIns="0" rIns="0" bIns="0" anchor="t">
            <a:noAutofit/>
          </a:bodyPr>
          <a:lstStyle/>
          <a:p>
            <a:pPr>
              <a:defRPr sz="2700" b="0">
                <a:solidFill>
                  <a:srgbClr val="FFFFFF"/>
                </a:solidFill>
                <a:latin typeface="Nimbus Sans"/>
                <a:ea typeface="Nimbus Sans"/>
                <a:cs typeface="Nimbus Sans"/>
              </a:defRPr>
            </a:pPr>
            <a:r>
              <a:rPr sz="2700" b="0">
                <a:solidFill>
                  <a:srgbClr val="FFFFFF"/>
                </a:solidFill>
                <a:latin typeface="Nimbus Sans"/>
                <a:ea typeface="Nimbus Sans"/>
                <a:cs typeface="Nimbus Sans"/>
              </a:rPr>
              <a:t>Taki wynik da predykcja „zawsze klasa ujemna”,</a:t>
            </a:r>
          </a:p>
          <a:p>
            <a:pPr>
              <a:defRPr sz="2700" b="0">
                <a:solidFill>
                  <a:srgbClr val="FFFFFF"/>
                </a:solidFill>
                <a:latin typeface="Nimbus Sans"/>
                <a:ea typeface="Nimbus Sans"/>
                <a:cs typeface="Nimbus Sans"/>
              </a:defRPr>
            </a:pPr>
            <a:r>
              <a:rPr sz="2700" b="0">
                <a:solidFill>
                  <a:srgbClr val="FFFFFF"/>
                </a:solidFill>
                <a:latin typeface="Nimbus Sans"/>
                <a:ea typeface="Nimbus Sans"/>
                <a:cs typeface="Nimbus Sans"/>
              </a:rPr>
              <a:t>gdy klasa dodatnia występuje w 1% przypadków.</a:t>
            </a:r>
          </a:p>
        </p:txBody>
      </p:sp>
      <p:sp>
        <p:nvSpPr>
          <p:cNvPr id="6" name="text-5">
            <a:extLst>
              <a:ext uri="{FF2B5EF4-FFF2-40B4-BE49-F238E27FC236}">
                <a16:creationId xmlns:a16="http://schemas.microsoft.com/office/drawing/2014/main" id="{A920F111-FC4A-461D-9E92-4A37010471CC}"/>
              </a:ext>
            </a:extLst>
          </p:cNvPr>
          <p:cNvSpPr>
            <a:spLocks noGrp="1"/>
          </p:cNvSpPr>
          <p:nvPr/>
        </p:nvSpPr>
        <p:spPr>
          <a:xfrm>
            <a:off x="628650" y="5667375"/>
            <a:ext cx="10477500" cy="514350"/>
          </a:xfrm>
          <a:prstGeom prst="rect">
            <a:avLst/>
          </a:prstGeom>
          <a:noFill/>
          <a:ln w="0">
            <a:noFill/>
          </a:ln>
        </p:spPr>
        <p:txBody>
          <a:bodyPr wrap="square" lIns="0" tIns="0" rIns="0" bIns="0" anchor="t">
            <a:noAutofit/>
          </a:bodyPr>
          <a:lstStyle/>
          <a:p>
            <a:pPr>
              <a:defRPr sz="2175" b="1">
                <a:solidFill>
                  <a:srgbClr val="62DCCB"/>
                </a:solidFill>
                <a:latin typeface="Nimbus Sans"/>
                <a:ea typeface="Nimbus Sans"/>
                <a:cs typeface="Nimbus Sans"/>
              </a:defRPr>
            </a:pPr>
            <a:r>
              <a:rPr sz="2175" b="1">
                <a:solidFill>
                  <a:srgbClr val="62DCCB"/>
                </a:solidFill>
                <a:latin typeface="Nimbus Sans"/>
                <a:ea typeface="Nimbus Sans"/>
                <a:cs typeface="Nimbus Sans"/>
              </a:rPr>
              <a:t>Recall klasy dodatniej wynosi wtedy 0%.</a:t>
            </a:r>
          </a:p>
        </p:txBody>
      </p:sp>
    </p:spTree>
    <p:extLst>
      <p:ext uri="{BB962C8B-B14F-4D97-AF65-F5344CB8AC3E}">
        <p14:creationId xmlns:p14="http://schemas.microsoft.com/office/powerpoint/2010/main" val="3248101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36A1DF65-F009-46A5-A1DF-4615B5E2E4C6}"/>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04  /  MODELOWANIE I OCENA MODELI</a:t>
            </a:r>
          </a:p>
        </p:txBody>
      </p:sp>
      <p:sp>
        <p:nvSpPr>
          <p:cNvPr id="2" name="text-1">
            <a:extLst>
              <a:ext uri="{FF2B5EF4-FFF2-40B4-BE49-F238E27FC236}">
                <a16:creationId xmlns:a16="http://schemas.microsoft.com/office/drawing/2014/main" id="{876E5B0E-07C0-427A-906E-3019B0197112}"/>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Próg decyzji a koszt błędów</a:t>
            </a:r>
          </a:p>
        </p:txBody>
      </p:sp>
      <p:sp>
        <p:nvSpPr>
          <p:cNvPr id="3" name="text-2">
            <a:extLst>
              <a:ext uri="{FF2B5EF4-FFF2-40B4-BE49-F238E27FC236}">
                <a16:creationId xmlns:a16="http://schemas.microsoft.com/office/drawing/2014/main" id="{F336B199-08AE-4472-9C49-A2711ECC9659}"/>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BDA2B22F-4CF9-4FBD-830D-7EF0CCCA46BA}"/>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57</a:t>
            </a:r>
          </a:p>
        </p:txBody>
      </p:sp>
      <p:graphicFrame>
        <p:nvGraphicFramePr>
          <p:cNvPr id="11" name="Tabela 10"/>
          <p:cNvGraphicFramePr/>
          <p:nvPr/>
        </p:nvGraphicFramePr>
        <p:xfrm>
          <a:off x="609600" y="1971675"/>
          <a:ext cx="10972800" cy="2771775"/>
        </p:xfrm>
        <a:graphic>
          <a:graphicData uri="http://schemas.openxmlformats.org/drawingml/2006/table">
            <a:tbl>
              <a:tblPr/>
              <a:tblGrid>
                <a:gridCol w="21945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692944">
                <a:tc>
                  <a:txBody>
                    <a:bodyPr/>
                    <a:lstStyle/>
                    <a:p>
                      <a:r>
                        <a:rPr sz="1725" b="1">
                          <a:solidFill>
                            <a:srgbClr val="FFFFFF"/>
                          </a:solidFill>
                          <a:latin typeface="Nimbus Sans"/>
                          <a:ea typeface="Nimbus Sans"/>
                          <a:cs typeface="Nimbus Sans"/>
                        </a:rPr>
                        <a:t>Próg</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TP / FN</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FP / TN</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Koszt</a:t>
                      </a:r>
                    </a:p>
                  </a:txBody>
                  <a:tcPr marL="133350" marR="114300" marT="123825" marB="104775" anchor="ctr">
                    <a:solidFill>
                      <a:srgbClr val="0B1426"/>
                    </a:solidFill>
                  </a:tcPr>
                </a:tc>
                <a:extLst>
                  <a:ext uri="{0D108BD9-81ED-4DB2-BD59-A6C34878D82A}">
                    <a16:rowId xmlns:a16="http://schemas.microsoft.com/office/drawing/2014/main" val="10000"/>
                  </a:ext>
                </a:extLst>
              </a:tr>
              <a:tr h="692944">
                <a:tc>
                  <a:txBody>
                    <a:bodyPr/>
                    <a:lstStyle/>
                    <a:p>
                      <a:r>
                        <a:rPr sz="1875" b="1">
                          <a:solidFill>
                            <a:srgbClr val="17243A"/>
                          </a:solidFill>
                          <a:latin typeface="Nimbus Sans"/>
                          <a:ea typeface="Nimbus Sans"/>
                          <a:cs typeface="Nimbus Sans"/>
                        </a:rPr>
                        <a:t>0,70</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25 / 25</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5 / 145</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255</a:t>
                      </a:r>
                    </a:p>
                  </a:txBody>
                  <a:tcPr marL="133350" marR="114300" marT="123825" marB="104775" anchor="ctr">
                    <a:solidFill>
                      <a:srgbClr val="FFFFFF"/>
                    </a:solidFill>
                  </a:tcPr>
                </a:tc>
                <a:extLst>
                  <a:ext uri="{0D108BD9-81ED-4DB2-BD59-A6C34878D82A}">
                    <a16:rowId xmlns:a16="http://schemas.microsoft.com/office/drawing/2014/main" val="10001"/>
                  </a:ext>
                </a:extLst>
              </a:tr>
              <a:tr h="692944">
                <a:tc>
                  <a:txBody>
                    <a:bodyPr/>
                    <a:lstStyle/>
                    <a:p>
                      <a:r>
                        <a:rPr sz="1875" b="1">
                          <a:solidFill>
                            <a:srgbClr val="17243A"/>
                          </a:solidFill>
                          <a:latin typeface="Nimbus Sans"/>
                          <a:ea typeface="Nimbus Sans"/>
                          <a:cs typeface="Nimbus Sans"/>
                        </a:rPr>
                        <a:t>0,50</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40 / 10</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20 / 130</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120</a:t>
                      </a:r>
                    </a:p>
                  </a:txBody>
                  <a:tcPr marL="133350" marR="114300" marT="123825" marB="104775" anchor="ctr">
                    <a:solidFill>
                      <a:srgbClr val="E9EFED"/>
                    </a:solidFill>
                  </a:tcPr>
                </a:tc>
                <a:extLst>
                  <a:ext uri="{0D108BD9-81ED-4DB2-BD59-A6C34878D82A}">
                    <a16:rowId xmlns:a16="http://schemas.microsoft.com/office/drawing/2014/main" val="10002"/>
                  </a:ext>
                </a:extLst>
              </a:tr>
              <a:tr h="692944">
                <a:tc>
                  <a:txBody>
                    <a:bodyPr/>
                    <a:lstStyle/>
                    <a:p>
                      <a:r>
                        <a:rPr sz="1875" b="1">
                          <a:solidFill>
                            <a:srgbClr val="17243A"/>
                          </a:solidFill>
                          <a:latin typeface="Nimbus Sans"/>
                          <a:ea typeface="Nimbus Sans"/>
                          <a:cs typeface="Nimbus Sans"/>
                        </a:rPr>
                        <a:t>0,30</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47 / 3</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40 / 110</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70</a:t>
                      </a:r>
                    </a:p>
                  </a:txBody>
                  <a:tcPr marL="133350" marR="114300" marT="123825" marB="104775" anchor="ctr">
                    <a:solidFill>
                      <a:srgbClr val="FFFFFF"/>
                    </a:solidFill>
                  </a:tcPr>
                </a:tc>
                <a:extLst>
                  <a:ext uri="{0D108BD9-81ED-4DB2-BD59-A6C34878D82A}">
                    <a16:rowId xmlns:a16="http://schemas.microsoft.com/office/drawing/2014/main" val="10003"/>
                  </a:ext>
                </a:extLst>
              </a:tr>
            </a:tbl>
          </a:graphicData>
        </a:graphic>
      </p:graphicFrame>
      <p:sp>
        <p:nvSpPr>
          <p:cNvPr id="6" name="text-4">
            <a:extLst>
              <a:ext uri="{FF2B5EF4-FFF2-40B4-BE49-F238E27FC236}">
                <a16:creationId xmlns:a16="http://schemas.microsoft.com/office/drawing/2014/main" id="{742CED7C-9EE9-44AC-B1C5-CB399837DAD2}"/>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Przykład hipotetyczny. Koszt FN = 10, koszt FP = 1. Koszt = 10 × FN + FP.</a:t>
            </a:r>
          </a:p>
        </p:txBody>
      </p:sp>
    </p:spTree>
    <p:extLst>
      <p:ext uri="{BB962C8B-B14F-4D97-AF65-F5344CB8AC3E}">
        <p14:creationId xmlns:p14="http://schemas.microsoft.com/office/powerpoint/2010/main" val="1018648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E8640B3F-205D-4902-A73E-73EA68E0511D}"/>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04  /  MODELOWANIE I OCENA MODELI</a:t>
            </a:r>
          </a:p>
        </p:txBody>
      </p:sp>
      <p:sp>
        <p:nvSpPr>
          <p:cNvPr id="2" name="text-1">
            <a:extLst>
              <a:ext uri="{FF2B5EF4-FFF2-40B4-BE49-F238E27FC236}">
                <a16:creationId xmlns:a16="http://schemas.microsoft.com/office/drawing/2014/main" id="{B3EFE9DB-5079-4356-873E-17B678100580}"/>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ROC-AUC i Precision–Recall</a:t>
            </a:r>
          </a:p>
        </p:txBody>
      </p:sp>
      <p:sp>
        <p:nvSpPr>
          <p:cNvPr id="3" name="text-2">
            <a:extLst>
              <a:ext uri="{FF2B5EF4-FFF2-40B4-BE49-F238E27FC236}">
                <a16:creationId xmlns:a16="http://schemas.microsoft.com/office/drawing/2014/main" id="{C09CF6DE-8519-4B38-A5F7-A2A08D5DA452}"/>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EDA0EA04-6B64-4AC0-A43F-FEC394F0F34B}"/>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58</a:t>
            </a:r>
          </a:p>
        </p:txBody>
      </p:sp>
      <p:sp>
        <p:nvSpPr>
          <p:cNvPr id="5" name="text-4">
            <a:extLst>
              <a:ext uri="{FF2B5EF4-FFF2-40B4-BE49-F238E27FC236}">
                <a16:creationId xmlns:a16="http://schemas.microsoft.com/office/drawing/2014/main" id="{6CEBE065-33D5-426D-9F5B-F3AC498DE930}"/>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ROC-AUC</a:t>
            </a:r>
          </a:p>
        </p:txBody>
      </p:sp>
      <p:sp>
        <p:nvSpPr>
          <p:cNvPr id="6" name="text-5">
            <a:extLst>
              <a:ext uri="{FF2B5EF4-FFF2-40B4-BE49-F238E27FC236}">
                <a16:creationId xmlns:a16="http://schemas.microsoft.com/office/drawing/2014/main" id="{F4053D02-3F32-4AA5-B522-BBFE64E1D609}"/>
              </a:ext>
            </a:extLst>
          </p:cNvPr>
          <p:cNvSpPr>
            <a:spLocks noGrp="1"/>
          </p:cNvSpPr>
          <p:nvPr/>
        </p:nvSpPr>
        <p:spPr>
          <a:xfrm>
            <a:off x="609600" y="267652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Porównuje TPR i FPR przy zmianie progu.</a:t>
            </a:r>
          </a:p>
        </p:txBody>
      </p:sp>
      <p:sp>
        <p:nvSpPr>
          <p:cNvPr id="7" name="text-6">
            <a:extLst>
              <a:ext uri="{FF2B5EF4-FFF2-40B4-BE49-F238E27FC236}">
                <a16:creationId xmlns:a16="http://schemas.microsoft.com/office/drawing/2014/main" id="{4D122FF1-E14A-4610-8D5D-4C2E4FD4001F}"/>
              </a:ext>
            </a:extLst>
          </p:cNvPr>
          <p:cNvSpPr>
            <a:spLocks noGrp="1"/>
          </p:cNvSpPr>
          <p:nvPr/>
        </p:nvSpPr>
        <p:spPr>
          <a:xfrm>
            <a:off x="609600" y="3607689"/>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Opisuje ranking wyników modelu.</a:t>
            </a:r>
          </a:p>
        </p:txBody>
      </p:sp>
      <p:sp>
        <p:nvSpPr>
          <p:cNvPr id="8" name="text-7">
            <a:extLst>
              <a:ext uri="{FF2B5EF4-FFF2-40B4-BE49-F238E27FC236}">
                <a16:creationId xmlns:a16="http://schemas.microsoft.com/office/drawing/2014/main" id="{C665E3CA-7BE7-4DA1-9098-5DD7790CECA8}"/>
              </a:ext>
            </a:extLst>
          </p:cNvPr>
          <p:cNvSpPr>
            <a:spLocks noGrp="1"/>
          </p:cNvSpPr>
          <p:nvPr/>
        </p:nvSpPr>
        <p:spPr>
          <a:xfrm>
            <a:off x="609600" y="4201859"/>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Nie ustala automatycznie progu operacyjnego.</a:t>
            </a:r>
          </a:p>
        </p:txBody>
      </p:sp>
      <p:sp>
        <p:nvSpPr>
          <p:cNvPr id="9" name="text-8">
            <a:extLst>
              <a:ext uri="{FF2B5EF4-FFF2-40B4-BE49-F238E27FC236}">
                <a16:creationId xmlns:a16="http://schemas.microsoft.com/office/drawing/2014/main" id="{223DB98F-C35B-4EAF-A56F-030FFF6DBA4A}"/>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PRECISION–RECALL</a:t>
            </a:r>
          </a:p>
        </p:txBody>
      </p:sp>
      <p:sp>
        <p:nvSpPr>
          <p:cNvPr id="10" name="text-9">
            <a:extLst>
              <a:ext uri="{FF2B5EF4-FFF2-40B4-BE49-F238E27FC236}">
                <a16:creationId xmlns:a16="http://schemas.microsoft.com/office/drawing/2014/main" id="{7F79C1D1-9A11-453E-84B8-6CA860D09034}"/>
              </a:ext>
            </a:extLst>
          </p:cNvPr>
          <p:cNvSpPr>
            <a:spLocks noGrp="1"/>
          </p:cNvSpPr>
          <p:nvPr/>
        </p:nvSpPr>
        <p:spPr>
          <a:xfrm>
            <a:off x="6515100" y="267652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Pokazuje precyzję i wykrywalność klasy dodatniej.</a:t>
            </a:r>
          </a:p>
        </p:txBody>
      </p:sp>
      <p:sp>
        <p:nvSpPr>
          <p:cNvPr id="11" name="text-10">
            <a:extLst>
              <a:ext uri="{FF2B5EF4-FFF2-40B4-BE49-F238E27FC236}">
                <a16:creationId xmlns:a16="http://schemas.microsoft.com/office/drawing/2014/main" id="{B5498FF5-6648-47B2-9F93-505303BAAF85}"/>
              </a:ext>
            </a:extLst>
          </p:cNvPr>
          <p:cNvSpPr>
            <a:spLocks noGrp="1"/>
          </p:cNvSpPr>
          <p:nvPr/>
        </p:nvSpPr>
        <p:spPr>
          <a:xfrm>
            <a:off x="6515100" y="3607689"/>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Szczególnie przydatna dla rzadkiej klasy.</a:t>
            </a:r>
          </a:p>
        </p:txBody>
      </p:sp>
      <p:sp>
        <p:nvSpPr>
          <p:cNvPr id="12" name="text-11">
            <a:extLst>
              <a:ext uri="{FF2B5EF4-FFF2-40B4-BE49-F238E27FC236}">
                <a16:creationId xmlns:a16="http://schemas.microsoft.com/office/drawing/2014/main" id="{906237EA-905F-43C9-8377-711685E87F9F}"/>
              </a:ext>
            </a:extLst>
          </p:cNvPr>
          <p:cNvSpPr>
            <a:spLocks noGrp="1"/>
          </p:cNvSpPr>
          <p:nvPr/>
        </p:nvSpPr>
        <p:spPr>
          <a:xfrm>
            <a:off x="6515100" y="4538853"/>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AP zależy również od częstości klasy dodatniej.</a:t>
            </a:r>
          </a:p>
        </p:txBody>
      </p:sp>
    </p:spTree>
    <p:extLst>
      <p:ext uri="{BB962C8B-B14F-4D97-AF65-F5344CB8AC3E}">
        <p14:creationId xmlns:p14="http://schemas.microsoft.com/office/powerpoint/2010/main" val="8211464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B75281C2-09B1-4B09-AE0E-FB2B999943F3}"/>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04  /  MODELOWANIE I OCENA MODELI</a:t>
            </a:r>
          </a:p>
        </p:txBody>
      </p:sp>
      <p:sp>
        <p:nvSpPr>
          <p:cNvPr id="2" name="text-1">
            <a:extLst>
              <a:ext uri="{FF2B5EF4-FFF2-40B4-BE49-F238E27FC236}">
                <a16:creationId xmlns:a16="http://schemas.microsoft.com/office/drawing/2014/main" id="{42C162BD-B495-47A6-BA7B-C87F470AFF6F}"/>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Walidacja krzyżowa 5-fold</a:t>
            </a:r>
          </a:p>
        </p:txBody>
      </p:sp>
      <p:sp>
        <p:nvSpPr>
          <p:cNvPr id="3" name="text-2">
            <a:extLst>
              <a:ext uri="{FF2B5EF4-FFF2-40B4-BE49-F238E27FC236}">
                <a16:creationId xmlns:a16="http://schemas.microsoft.com/office/drawing/2014/main" id="{25CB9163-8AEC-46FC-9408-327C3B168C6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EA93B8A7-C678-40B7-978A-B0D1966D9F7C}"/>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59</a:t>
            </a:r>
          </a:p>
        </p:txBody>
      </p:sp>
      <p:graphicFrame>
        <p:nvGraphicFramePr>
          <p:cNvPr id="11" name="Tabela 10"/>
          <p:cNvGraphicFramePr/>
          <p:nvPr/>
        </p:nvGraphicFramePr>
        <p:xfrm>
          <a:off x="609600" y="1971675"/>
          <a:ext cx="10972800" cy="3886200"/>
        </p:xfrm>
        <a:graphic>
          <a:graphicData uri="http://schemas.openxmlformats.org/drawingml/2006/table">
            <a:tbl>
              <a:tblPr/>
              <a:tblGrid>
                <a:gridCol w="2194560">
                  <a:extLst>
                    <a:ext uri="{9D8B030D-6E8A-4147-A177-3AD203B41FA5}">
                      <a16:colId xmlns:a16="http://schemas.microsoft.com/office/drawing/2014/main" val="20000"/>
                    </a:ext>
                  </a:extLst>
                </a:gridCol>
                <a:gridCol w="1755648">
                  <a:extLst>
                    <a:ext uri="{9D8B030D-6E8A-4147-A177-3AD203B41FA5}">
                      <a16:colId xmlns:a16="http://schemas.microsoft.com/office/drawing/2014/main" val="20001"/>
                    </a:ext>
                  </a:extLst>
                </a:gridCol>
                <a:gridCol w="1755648">
                  <a:extLst>
                    <a:ext uri="{9D8B030D-6E8A-4147-A177-3AD203B41FA5}">
                      <a16:colId xmlns:a16="http://schemas.microsoft.com/office/drawing/2014/main" val="20002"/>
                    </a:ext>
                  </a:extLst>
                </a:gridCol>
                <a:gridCol w="1755648">
                  <a:extLst>
                    <a:ext uri="{9D8B030D-6E8A-4147-A177-3AD203B41FA5}">
                      <a16:colId xmlns:a16="http://schemas.microsoft.com/office/drawing/2014/main" val="20003"/>
                    </a:ext>
                  </a:extLst>
                </a:gridCol>
                <a:gridCol w="1755648">
                  <a:extLst>
                    <a:ext uri="{9D8B030D-6E8A-4147-A177-3AD203B41FA5}">
                      <a16:colId xmlns:a16="http://schemas.microsoft.com/office/drawing/2014/main" val="20004"/>
                    </a:ext>
                  </a:extLst>
                </a:gridCol>
                <a:gridCol w="1755648">
                  <a:extLst>
                    <a:ext uri="{9D8B030D-6E8A-4147-A177-3AD203B41FA5}">
                      <a16:colId xmlns:a16="http://schemas.microsoft.com/office/drawing/2014/main" val="20005"/>
                    </a:ext>
                  </a:extLst>
                </a:gridCol>
              </a:tblGrid>
              <a:tr h="647700">
                <a:tc>
                  <a:txBody>
                    <a:bodyPr/>
                    <a:lstStyle/>
                    <a:p>
                      <a:r>
                        <a:rPr sz="1725" b="1">
                          <a:solidFill>
                            <a:srgbClr val="FFFFFF"/>
                          </a:solidFill>
                          <a:latin typeface="Nimbus Sans"/>
                          <a:ea typeface="Nimbus Sans"/>
                          <a:cs typeface="Nimbus Sans"/>
                        </a:rPr>
                        <a:t>Iteracja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B</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C</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D</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E</a:t>
                      </a:r>
                    </a:p>
                  </a:txBody>
                  <a:tcPr marL="133350" marR="114300" marT="123825" marB="104775" anchor="ctr">
                    <a:solidFill>
                      <a:srgbClr val="0B1426"/>
                    </a:solidFill>
                  </a:tcPr>
                </a:tc>
                <a:extLst>
                  <a:ext uri="{0D108BD9-81ED-4DB2-BD59-A6C34878D82A}">
                    <a16:rowId xmlns:a16="http://schemas.microsoft.com/office/drawing/2014/main" val="10000"/>
                  </a:ext>
                </a:extLst>
              </a:tr>
              <a:tr h="647700">
                <a:tc>
                  <a:txBody>
                    <a:bodyPr/>
                    <a:lstStyle/>
                    <a:p>
                      <a:r>
                        <a:rPr sz="1875" b="1">
                          <a:solidFill>
                            <a:srgbClr val="17243A"/>
                          </a:solidFill>
                          <a:latin typeface="Nimbus Sans"/>
                          <a:ea typeface="Nimbus Sans"/>
                          <a:cs typeface="Nimbus Sans"/>
                        </a:rPr>
                        <a:t>1</a:t>
                      </a:r>
                    </a:p>
                  </a:txBody>
                  <a:tcPr marL="133350" marR="114300" marT="123825" marB="104775" anchor="ctr">
                    <a:solidFill>
                      <a:srgbClr val="FFFFFF"/>
                    </a:solidFill>
                  </a:tcPr>
                </a:tc>
                <a:tc>
                  <a:txBody>
                    <a:bodyPr/>
                    <a:lstStyle/>
                    <a:p>
                      <a:r>
                        <a:rPr sz="1875" b="1">
                          <a:solidFill>
                            <a:srgbClr val="FFFFFF"/>
                          </a:solidFill>
                          <a:latin typeface="Nimbus Sans"/>
                          <a:ea typeface="Nimbus Sans"/>
                          <a:cs typeface="Nimbus Sans"/>
                        </a:rPr>
                        <a:t>WAL</a:t>
                      </a:r>
                    </a:p>
                  </a:txBody>
                  <a:tcPr marL="133350" marR="114300" marT="123825" marB="104775" anchor="ctr">
                    <a:solidFill>
                      <a:srgbClr val="007F7A"/>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extLst>
                  <a:ext uri="{0D108BD9-81ED-4DB2-BD59-A6C34878D82A}">
                    <a16:rowId xmlns:a16="http://schemas.microsoft.com/office/drawing/2014/main" val="10001"/>
                  </a:ext>
                </a:extLst>
              </a:tr>
              <a:tr h="647700">
                <a:tc>
                  <a:txBody>
                    <a:bodyPr/>
                    <a:lstStyle/>
                    <a:p>
                      <a:r>
                        <a:rPr sz="1875" b="1">
                          <a:solidFill>
                            <a:srgbClr val="17243A"/>
                          </a:solidFill>
                          <a:latin typeface="Nimbus Sans"/>
                          <a:ea typeface="Nimbus Sans"/>
                          <a:cs typeface="Nimbus Sans"/>
                        </a:rPr>
                        <a:t>2</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E9EFED"/>
                    </a:solidFill>
                  </a:tcPr>
                </a:tc>
                <a:tc>
                  <a:txBody>
                    <a:bodyPr/>
                    <a:lstStyle/>
                    <a:p>
                      <a:r>
                        <a:rPr sz="1875" b="1">
                          <a:solidFill>
                            <a:srgbClr val="FFFFFF"/>
                          </a:solidFill>
                          <a:latin typeface="Nimbus Sans"/>
                          <a:ea typeface="Nimbus Sans"/>
                          <a:cs typeface="Nimbus Sans"/>
                        </a:rPr>
                        <a:t>WAL</a:t>
                      </a:r>
                    </a:p>
                  </a:txBody>
                  <a:tcPr marL="133350" marR="114300" marT="123825" marB="104775" anchor="ctr">
                    <a:solidFill>
                      <a:srgbClr val="007F7A"/>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E9EFED"/>
                    </a:solidFill>
                  </a:tcPr>
                </a:tc>
                <a:extLst>
                  <a:ext uri="{0D108BD9-81ED-4DB2-BD59-A6C34878D82A}">
                    <a16:rowId xmlns:a16="http://schemas.microsoft.com/office/drawing/2014/main" val="10002"/>
                  </a:ext>
                </a:extLst>
              </a:tr>
              <a:tr h="647700">
                <a:tc>
                  <a:txBody>
                    <a:bodyPr/>
                    <a:lstStyle/>
                    <a:p>
                      <a:r>
                        <a:rPr sz="1875" b="1">
                          <a:solidFill>
                            <a:srgbClr val="17243A"/>
                          </a:solidFill>
                          <a:latin typeface="Nimbus Sans"/>
                          <a:ea typeface="Nimbus Sans"/>
                          <a:cs typeface="Nimbus Sans"/>
                        </a:rPr>
                        <a:t>3</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tc>
                  <a:txBody>
                    <a:bodyPr/>
                    <a:lstStyle/>
                    <a:p>
                      <a:r>
                        <a:rPr sz="1875" b="1">
                          <a:solidFill>
                            <a:srgbClr val="FFFFFF"/>
                          </a:solidFill>
                          <a:latin typeface="Nimbus Sans"/>
                          <a:ea typeface="Nimbus Sans"/>
                          <a:cs typeface="Nimbus Sans"/>
                        </a:rPr>
                        <a:t>WAL</a:t>
                      </a:r>
                    </a:p>
                  </a:txBody>
                  <a:tcPr marL="133350" marR="114300" marT="123825" marB="104775" anchor="ctr">
                    <a:solidFill>
                      <a:srgbClr val="007F7A"/>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extLst>
                  <a:ext uri="{0D108BD9-81ED-4DB2-BD59-A6C34878D82A}">
                    <a16:rowId xmlns:a16="http://schemas.microsoft.com/office/drawing/2014/main" val="10003"/>
                  </a:ext>
                </a:extLst>
              </a:tr>
              <a:tr h="647700">
                <a:tc>
                  <a:txBody>
                    <a:bodyPr/>
                    <a:lstStyle/>
                    <a:p>
                      <a:r>
                        <a:rPr sz="1875" b="1">
                          <a:solidFill>
                            <a:srgbClr val="17243A"/>
                          </a:solidFill>
                          <a:latin typeface="Nimbus Sans"/>
                          <a:ea typeface="Nimbus Sans"/>
                          <a:cs typeface="Nimbus Sans"/>
                        </a:rPr>
                        <a:t>4</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E9EFED"/>
                    </a:solidFill>
                  </a:tcPr>
                </a:tc>
                <a:tc>
                  <a:txBody>
                    <a:bodyPr/>
                    <a:lstStyle/>
                    <a:p>
                      <a:r>
                        <a:rPr sz="1875" b="1">
                          <a:solidFill>
                            <a:srgbClr val="FFFFFF"/>
                          </a:solidFill>
                          <a:latin typeface="Nimbus Sans"/>
                          <a:ea typeface="Nimbus Sans"/>
                          <a:cs typeface="Nimbus Sans"/>
                        </a:rPr>
                        <a:t>WAL</a:t>
                      </a:r>
                    </a:p>
                  </a:txBody>
                  <a:tcPr marL="133350" marR="114300" marT="123825" marB="104775" anchor="ctr">
                    <a:solidFill>
                      <a:srgbClr val="007F7A"/>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E9EFED"/>
                    </a:solidFill>
                  </a:tcPr>
                </a:tc>
                <a:extLst>
                  <a:ext uri="{0D108BD9-81ED-4DB2-BD59-A6C34878D82A}">
                    <a16:rowId xmlns:a16="http://schemas.microsoft.com/office/drawing/2014/main" val="10004"/>
                  </a:ext>
                </a:extLst>
              </a:tr>
              <a:tr h="647700">
                <a:tc>
                  <a:txBody>
                    <a:bodyPr/>
                    <a:lstStyle/>
                    <a:p>
                      <a:r>
                        <a:rPr sz="1875" b="1">
                          <a:solidFill>
                            <a:srgbClr val="17243A"/>
                          </a:solidFill>
                          <a:latin typeface="Nimbus Sans"/>
                          <a:ea typeface="Nimbus Sans"/>
                          <a:cs typeface="Nimbus Sans"/>
                        </a:rPr>
                        <a:t>5</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TRE</a:t>
                      </a:r>
                    </a:p>
                  </a:txBody>
                  <a:tcPr marL="133350" marR="114300" marT="123825" marB="104775" anchor="ctr">
                    <a:solidFill>
                      <a:srgbClr val="FFFFFF"/>
                    </a:solidFill>
                  </a:tcPr>
                </a:tc>
                <a:tc>
                  <a:txBody>
                    <a:bodyPr/>
                    <a:lstStyle/>
                    <a:p>
                      <a:r>
                        <a:rPr sz="1875" b="1">
                          <a:solidFill>
                            <a:srgbClr val="FFFFFF"/>
                          </a:solidFill>
                          <a:latin typeface="Nimbus Sans"/>
                          <a:ea typeface="Nimbus Sans"/>
                          <a:cs typeface="Nimbus Sans"/>
                        </a:rPr>
                        <a:t>WAL</a:t>
                      </a:r>
                    </a:p>
                  </a:txBody>
                  <a:tcPr marL="133350" marR="114300" marT="123825" marB="104775" anchor="ctr">
                    <a:solidFill>
                      <a:srgbClr val="007F7A"/>
                    </a:solidFill>
                  </a:tcPr>
                </a:tc>
                <a:extLst>
                  <a:ext uri="{0D108BD9-81ED-4DB2-BD59-A6C34878D82A}">
                    <a16:rowId xmlns:a16="http://schemas.microsoft.com/office/drawing/2014/main" val="10005"/>
                  </a:ext>
                </a:extLst>
              </a:tr>
            </a:tbl>
          </a:graphicData>
        </a:graphic>
      </p:graphicFrame>
      <p:sp>
        <p:nvSpPr>
          <p:cNvPr id="6" name="text-4">
            <a:extLst>
              <a:ext uri="{FF2B5EF4-FFF2-40B4-BE49-F238E27FC236}">
                <a16:creationId xmlns:a16="http://schemas.microsoft.com/office/drawing/2014/main" id="{764BA3F5-36DC-4E3F-8E35-6388C0C142A5}"/>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TRE: trening. WAL: walidacja. Każdy fold ma własne dopasowanie modelu i transformacji.</a:t>
            </a:r>
          </a:p>
        </p:txBody>
      </p:sp>
    </p:spTree>
    <p:extLst>
      <p:ext uri="{BB962C8B-B14F-4D97-AF65-F5344CB8AC3E}">
        <p14:creationId xmlns:p14="http://schemas.microsoft.com/office/powerpoint/2010/main" val="14520329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94F2116D-4220-4340-89AA-7E7825610E14}"/>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04  /  MODELOWANIE I OCENA MODELI</a:t>
            </a:r>
          </a:p>
        </p:txBody>
      </p:sp>
      <p:sp>
        <p:nvSpPr>
          <p:cNvPr id="2" name="text-1">
            <a:extLst>
              <a:ext uri="{FF2B5EF4-FFF2-40B4-BE49-F238E27FC236}">
                <a16:creationId xmlns:a16="http://schemas.microsoft.com/office/drawing/2014/main" id="{D8E837EF-5707-49AF-9C35-3E950AA89111}"/>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Podział zgodny z użyciem modelu</a:t>
            </a:r>
          </a:p>
        </p:txBody>
      </p:sp>
      <p:sp>
        <p:nvSpPr>
          <p:cNvPr id="3" name="text-2">
            <a:extLst>
              <a:ext uri="{FF2B5EF4-FFF2-40B4-BE49-F238E27FC236}">
                <a16:creationId xmlns:a16="http://schemas.microsoft.com/office/drawing/2014/main" id="{CB72101D-E4CF-483B-8AD3-56BDB63C01C4}"/>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3455D37D-30C5-4680-BCDC-774B463B08A8}"/>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60</a:t>
            </a:r>
          </a:p>
        </p:txBody>
      </p:sp>
      <p:graphicFrame>
        <p:nvGraphicFramePr>
          <p:cNvPr id="10" name="Tabela 9"/>
          <p:cNvGraphicFramePr/>
          <p:nvPr/>
        </p:nvGraphicFramePr>
        <p:xfrm>
          <a:off x="609600" y="1971675"/>
          <a:ext cx="10972800"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85800">
                <a:tc>
                  <a:txBody>
                    <a:bodyPr/>
                    <a:lstStyle/>
                    <a:p>
                      <a:r>
                        <a:rPr sz="1725" b="1">
                          <a:solidFill>
                            <a:srgbClr val="FFFFFF"/>
                          </a:solidFill>
                          <a:latin typeface="Nimbus Sans"/>
                          <a:ea typeface="Nimbus Sans"/>
                          <a:cs typeface="Nimbus Sans"/>
                        </a:rPr>
                        <a:t>Sytuacja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Sposób walidacji</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Co chronimy</a:t>
                      </a:r>
                    </a:p>
                  </a:txBody>
                  <a:tcPr marL="133350" marR="114300" marT="123825" marB="104775" anchor="ctr">
                    <a:solidFill>
                      <a:srgbClr val="0B1426"/>
                    </a:solidFill>
                  </a:tcPr>
                </a:tc>
                <a:extLst>
                  <a:ext uri="{0D108BD9-81ED-4DB2-BD59-A6C34878D82A}">
                    <a16:rowId xmlns:a16="http://schemas.microsoft.com/office/drawing/2014/main" val="10000"/>
                  </a:ext>
                </a:extLst>
              </a:tr>
              <a:tr h="685800">
                <a:tc>
                  <a:txBody>
                    <a:bodyPr/>
                    <a:lstStyle/>
                    <a:p>
                      <a:r>
                        <a:rPr sz="1875" b="1">
                          <a:solidFill>
                            <a:srgbClr val="17243A"/>
                          </a:solidFill>
                          <a:latin typeface="Nimbus Sans"/>
                          <a:ea typeface="Nimbus Sans"/>
                          <a:cs typeface="Nimbus Sans"/>
                        </a:rPr>
                        <a:t>Niezależne obserwacje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StratifiedKFold w klasyfikacji</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Proporcje klas</a:t>
                      </a:r>
                    </a:p>
                  </a:txBody>
                  <a:tcPr marL="133350" marR="114300" marT="123825" marB="104775" anchor="ctr">
                    <a:solidFill>
                      <a:srgbClr val="FFFFFF"/>
                    </a:solidFill>
                  </a:tcPr>
                </a:tc>
                <a:extLst>
                  <a:ext uri="{0D108BD9-81ED-4DB2-BD59-A6C34878D82A}">
                    <a16:rowId xmlns:a16="http://schemas.microsoft.com/office/drawing/2014/main" val="10001"/>
                  </a:ext>
                </a:extLst>
              </a:tr>
              <a:tr h="685800">
                <a:tc>
                  <a:txBody>
                    <a:bodyPr/>
                    <a:lstStyle/>
                    <a:p>
                      <a:r>
                        <a:rPr sz="1875" b="1">
                          <a:solidFill>
                            <a:srgbClr val="17243A"/>
                          </a:solidFill>
                          <a:latin typeface="Nimbus Sans"/>
                          <a:ea typeface="Nimbus Sans"/>
                          <a:cs typeface="Nimbus Sans"/>
                        </a:rPr>
                        <a:t>Wiele rekordów jednej osoby</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GroupKFold lub podział grupowy</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Rozdzielenie tożsamości</a:t>
                      </a:r>
                    </a:p>
                  </a:txBody>
                  <a:tcPr marL="133350" marR="114300" marT="123825" marB="104775" anchor="ctr">
                    <a:solidFill>
                      <a:srgbClr val="E9EFED"/>
                    </a:solidFill>
                  </a:tcPr>
                </a:tc>
                <a:extLst>
                  <a:ext uri="{0D108BD9-81ED-4DB2-BD59-A6C34878D82A}">
                    <a16:rowId xmlns:a16="http://schemas.microsoft.com/office/drawing/2014/main" val="10002"/>
                  </a:ext>
                </a:extLst>
              </a:tr>
              <a:tr h="685800">
                <a:tc>
                  <a:txBody>
                    <a:bodyPr/>
                    <a:lstStyle/>
                    <a:p>
                      <a:r>
                        <a:rPr sz="1875" b="1">
                          <a:solidFill>
                            <a:srgbClr val="17243A"/>
                          </a:solidFill>
                          <a:latin typeface="Nimbus Sans"/>
                          <a:ea typeface="Nimbus Sans"/>
                          <a:cs typeface="Nimbus Sans"/>
                        </a:rPr>
                        <a:t>Przewidywanie przyszłości</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Podział czasowy, TimeSeriesSplit</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Kierunek czasu</a:t>
                      </a:r>
                    </a:p>
                  </a:txBody>
                  <a:tcPr marL="133350" marR="114300" marT="123825" marB="104775" anchor="ctr">
                    <a:solidFill>
                      <a:srgbClr val="FFFFFF"/>
                    </a:solidFill>
                  </a:tcPr>
                </a:tc>
                <a:extLst>
                  <a:ext uri="{0D108BD9-81ED-4DB2-BD59-A6C34878D82A}">
                    <a16:rowId xmlns:a16="http://schemas.microsoft.com/office/drawing/2014/main" val="10003"/>
                  </a:ext>
                </a:extLst>
              </a:tr>
              <a:tr h="685800">
                <a:tc>
                  <a:txBody>
                    <a:bodyPr/>
                    <a:lstStyle/>
                    <a:p>
                      <a:r>
                        <a:rPr sz="1875" b="1">
                          <a:solidFill>
                            <a:srgbClr val="17243A"/>
                          </a:solidFill>
                          <a:latin typeface="Nimbus Sans"/>
                          <a:ea typeface="Nimbus Sans"/>
                          <a:cs typeface="Nimbus Sans"/>
                        </a:rPr>
                        <a:t>Dane przestrzenne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Podział według obszarów</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Niezależność regionów</a:t>
                      </a:r>
                    </a:p>
                  </a:txBody>
                  <a:tcPr marL="133350" marR="114300" marT="123825" marB="104775" anchor="ctr">
                    <a:solidFill>
                      <a:srgbClr val="E9EFE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411237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7" name="text-0">
            <a:extLst>
              <a:ext uri="{FF2B5EF4-FFF2-40B4-BE49-F238E27FC236}">
                <a16:creationId xmlns:a16="http://schemas.microsoft.com/office/drawing/2014/main" id="{EF319C78-77B7-4376-95AD-1FD50CEF7CA3}"/>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04  /  MODELOWANIE I OCENA MODELI</a:t>
            </a:r>
          </a:p>
        </p:txBody>
      </p:sp>
      <p:sp>
        <p:nvSpPr>
          <p:cNvPr id="2" name="text-1">
            <a:extLst>
              <a:ext uri="{FF2B5EF4-FFF2-40B4-BE49-F238E27FC236}">
                <a16:creationId xmlns:a16="http://schemas.microsoft.com/office/drawing/2014/main" id="{407A17B6-155D-49D0-9ED9-6D586D35363F}"/>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Cztery źródła wycieku danych</a:t>
            </a:r>
          </a:p>
        </p:txBody>
      </p:sp>
      <p:sp>
        <p:nvSpPr>
          <p:cNvPr id="3" name="text-2">
            <a:extLst>
              <a:ext uri="{FF2B5EF4-FFF2-40B4-BE49-F238E27FC236}">
                <a16:creationId xmlns:a16="http://schemas.microsoft.com/office/drawing/2014/main" id="{3D9C5F91-FA39-4D9F-921E-328D885EE4C5}"/>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85921262-9BEB-4E5D-BF68-8F5AF3E641C9}"/>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61</a:t>
            </a:r>
          </a:p>
        </p:txBody>
      </p:sp>
      <p:sp>
        <p:nvSpPr>
          <p:cNvPr id="5" name="text-4">
            <a:extLst>
              <a:ext uri="{FF2B5EF4-FFF2-40B4-BE49-F238E27FC236}">
                <a16:creationId xmlns:a16="http://schemas.microsoft.com/office/drawing/2014/main" id="{006605CE-7640-4596-97B7-87FDE40ADC75}"/>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4CC67D45-8DC0-42B8-811D-9005DC8E411B}"/>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Transformacja przed podziałem</a:t>
            </a:r>
          </a:p>
        </p:txBody>
      </p:sp>
      <p:sp>
        <p:nvSpPr>
          <p:cNvPr id="7" name="text-6">
            <a:extLst>
              <a:ext uri="{FF2B5EF4-FFF2-40B4-BE49-F238E27FC236}">
                <a16:creationId xmlns:a16="http://schemas.microsoft.com/office/drawing/2014/main" id="{D6D4AFF5-709D-486A-93AC-600CDFDF70B6}"/>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Skaler lub imputacja korzysta z przyszłej walidacji.</a:t>
            </a:r>
          </a:p>
        </p:txBody>
      </p:sp>
      <p:sp>
        <p:nvSpPr>
          <p:cNvPr id="8" name="text-7">
            <a:extLst>
              <a:ext uri="{FF2B5EF4-FFF2-40B4-BE49-F238E27FC236}">
                <a16:creationId xmlns:a16="http://schemas.microsoft.com/office/drawing/2014/main" id="{2F2DE626-B7E3-4D9C-A439-A7597603C67F}"/>
              </a:ext>
            </a:extLst>
          </p:cNvPr>
          <p:cNvSpPr>
            <a:spLocks noGrp="1"/>
          </p:cNvSpPr>
          <p:nvPr/>
        </p:nvSpPr>
        <p:spPr>
          <a:xfrm>
            <a:off x="609600" y="29432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B92028F0-7249-46E7-AF03-11A729DE00E6}"/>
              </a:ext>
            </a:extLst>
          </p:cNvPr>
          <p:cNvSpPr>
            <a:spLocks noGrp="1"/>
          </p:cNvSpPr>
          <p:nvPr/>
        </p:nvSpPr>
        <p:spPr>
          <a:xfrm>
            <a:off x="1562100" y="29432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Cecha z przyszłości</a:t>
            </a:r>
          </a:p>
        </p:txBody>
      </p:sp>
      <p:sp>
        <p:nvSpPr>
          <p:cNvPr id="10" name="text-9">
            <a:extLst>
              <a:ext uri="{FF2B5EF4-FFF2-40B4-BE49-F238E27FC236}">
                <a16:creationId xmlns:a16="http://schemas.microsoft.com/office/drawing/2014/main" id="{4D3E9CFC-CE64-4536-8143-92DDBBAB647D}"/>
              </a:ext>
            </a:extLst>
          </p:cNvPr>
          <p:cNvSpPr>
            <a:spLocks noGrp="1"/>
          </p:cNvSpPr>
          <p:nvPr/>
        </p:nvSpPr>
        <p:spPr>
          <a:xfrm>
            <a:off x="1562100" y="33147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Informacja pojawia się dopiero po przewidywanym zdarzeniu.</a:t>
            </a:r>
          </a:p>
        </p:txBody>
      </p:sp>
      <p:sp>
        <p:nvSpPr>
          <p:cNvPr id="11" name="text-10">
            <a:extLst>
              <a:ext uri="{FF2B5EF4-FFF2-40B4-BE49-F238E27FC236}">
                <a16:creationId xmlns:a16="http://schemas.microsoft.com/office/drawing/2014/main" id="{7AB2C4DD-820A-4F63-BAD1-302CD6F4EDCE}"/>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9FD0DA5C-AF85-4A3D-BACB-8EA3CEE901B4}"/>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Duplikaty i grupy</a:t>
            </a:r>
          </a:p>
        </p:txBody>
      </p:sp>
      <p:sp>
        <p:nvSpPr>
          <p:cNvPr id="13" name="text-12">
            <a:extLst>
              <a:ext uri="{FF2B5EF4-FFF2-40B4-BE49-F238E27FC236}">
                <a16:creationId xmlns:a16="http://schemas.microsoft.com/office/drawing/2014/main" id="{A89ED831-F916-4391-BB9F-1B1F386B17BF}"/>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Ten sam obiekt trafia do treningu i testu.</a:t>
            </a:r>
          </a:p>
        </p:txBody>
      </p:sp>
      <p:sp>
        <p:nvSpPr>
          <p:cNvPr id="14" name="text-13">
            <a:extLst>
              <a:ext uri="{FF2B5EF4-FFF2-40B4-BE49-F238E27FC236}">
                <a16:creationId xmlns:a16="http://schemas.microsoft.com/office/drawing/2014/main" id="{031CCBE9-DB41-41ED-ABB9-1B0E9F400FA3}"/>
              </a:ext>
            </a:extLst>
          </p:cNvPr>
          <p:cNvSpPr>
            <a:spLocks noGrp="1"/>
          </p:cNvSpPr>
          <p:nvPr/>
        </p:nvSpPr>
        <p:spPr>
          <a:xfrm>
            <a:off x="609600" y="50006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BD2F80A6-2118-46EE-817F-4F3356B4A00E}"/>
              </a:ext>
            </a:extLst>
          </p:cNvPr>
          <p:cNvSpPr>
            <a:spLocks noGrp="1"/>
          </p:cNvSpPr>
          <p:nvPr/>
        </p:nvSpPr>
        <p:spPr>
          <a:xfrm>
            <a:off x="1562100" y="50006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Wielokrotne oglądanie testu</a:t>
            </a:r>
          </a:p>
        </p:txBody>
      </p:sp>
      <p:sp>
        <p:nvSpPr>
          <p:cNvPr id="16" name="text-15">
            <a:extLst>
              <a:ext uri="{FF2B5EF4-FFF2-40B4-BE49-F238E27FC236}">
                <a16:creationId xmlns:a16="http://schemas.microsoft.com/office/drawing/2014/main" id="{6428070C-7BA9-4A4B-B8F8-C139AC4ECBC3}"/>
              </a:ext>
            </a:extLst>
          </p:cNvPr>
          <p:cNvSpPr>
            <a:spLocks noGrp="1"/>
          </p:cNvSpPr>
          <p:nvPr/>
        </p:nvSpPr>
        <p:spPr>
          <a:xfrm>
            <a:off x="1562100" y="53721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Decyzje projektowe zaczynają dopasowywać się do testu.</a:t>
            </a:r>
          </a:p>
        </p:txBody>
      </p:sp>
    </p:spTree>
    <p:extLst>
      <p:ext uri="{BB962C8B-B14F-4D97-AF65-F5344CB8AC3E}">
        <p14:creationId xmlns:p14="http://schemas.microsoft.com/office/powerpoint/2010/main" val="6463615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4" name="text-0">
            <a:extLst>
              <a:ext uri="{FF2B5EF4-FFF2-40B4-BE49-F238E27FC236}">
                <a16:creationId xmlns:a16="http://schemas.microsoft.com/office/drawing/2014/main" id="{A11A78D5-9CD3-4350-881D-B7113E5627CD}"/>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04  /  MODELOWANIE I OCENA MODELI</a:t>
            </a:r>
          </a:p>
        </p:txBody>
      </p:sp>
      <p:sp>
        <p:nvSpPr>
          <p:cNvPr id="2" name="text-1">
            <a:extLst>
              <a:ext uri="{FF2B5EF4-FFF2-40B4-BE49-F238E27FC236}">
                <a16:creationId xmlns:a16="http://schemas.microsoft.com/office/drawing/2014/main" id="{95D3758B-44E7-479E-8166-827A74B1458C}"/>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Strojenie hiperparametrów</a:t>
            </a:r>
          </a:p>
        </p:txBody>
      </p:sp>
      <p:sp>
        <p:nvSpPr>
          <p:cNvPr id="3" name="text-2">
            <a:extLst>
              <a:ext uri="{FF2B5EF4-FFF2-40B4-BE49-F238E27FC236}">
                <a16:creationId xmlns:a16="http://schemas.microsoft.com/office/drawing/2014/main" id="{FB3F5938-8337-4FC1-B992-544BD6A472F2}"/>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7AF89678-E527-4E3A-8FFA-07F367184C0E}"/>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62</a:t>
            </a:r>
          </a:p>
        </p:txBody>
      </p:sp>
      <p:sp>
        <p:nvSpPr>
          <p:cNvPr id="5" name="text-4">
            <a:extLst>
              <a:ext uri="{FF2B5EF4-FFF2-40B4-BE49-F238E27FC236}">
                <a16:creationId xmlns:a16="http://schemas.microsoft.com/office/drawing/2014/main" id="{2EA511C3-CB8B-4228-BB70-9654441E9C51}"/>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GRID SEARCH</a:t>
            </a:r>
          </a:p>
        </p:txBody>
      </p:sp>
      <p:sp>
        <p:nvSpPr>
          <p:cNvPr id="6" name="text-5">
            <a:extLst>
              <a:ext uri="{FF2B5EF4-FFF2-40B4-BE49-F238E27FC236}">
                <a16:creationId xmlns:a16="http://schemas.microsoft.com/office/drawing/2014/main" id="{005FB5A5-CD8A-41B5-B274-54914C9D9A2E}"/>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Przegląda określoną siatkę.</a:t>
            </a:r>
          </a:p>
        </p:txBody>
      </p:sp>
      <p:sp>
        <p:nvSpPr>
          <p:cNvPr id="7" name="text-6">
            <a:extLst>
              <a:ext uri="{FF2B5EF4-FFF2-40B4-BE49-F238E27FC236}">
                <a16:creationId xmlns:a16="http://schemas.microsoft.com/office/drawing/2014/main" id="{99FE8B71-6F33-4054-872D-803C6C20D947}"/>
              </a:ext>
            </a:extLst>
          </p:cNvPr>
          <p:cNvSpPr>
            <a:spLocks noGrp="1"/>
          </p:cNvSpPr>
          <p:nvPr/>
        </p:nvSpPr>
        <p:spPr>
          <a:xfrm>
            <a:off x="609600" y="327069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Dobry dla małej liczby sensownych konfiguracji.</a:t>
            </a:r>
          </a:p>
        </p:txBody>
      </p:sp>
      <p:sp>
        <p:nvSpPr>
          <p:cNvPr id="8" name="text-7">
            <a:extLst>
              <a:ext uri="{FF2B5EF4-FFF2-40B4-BE49-F238E27FC236}">
                <a16:creationId xmlns:a16="http://schemas.microsoft.com/office/drawing/2014/main" id="{3C1ED862-8B90-4D01-A895-027528D55D15}"/>
              </a:ext>
            </a:extLst>
          </p:cNvPr>
          <p:cNvSpPr>
            <a:spLocks noGrp="1"/>
          </p:cNvSpPr>
          <p:nvPr/>
        </p:nvSpPr>
        <p:spPr>
          <a:xfrm>
            <a:off x="609600" y="4201859"/>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Koszt rośnie z iloczynem liczby wartości.</a:t>
            </a:r>
          </a:p>
        </p:txBody>
      </p:sp>
      <p:sp>
        <p:nvSpPr>
          <p:cNvPr id="9" name="text-8">
            <a:extLst>
              <a:ext uri="{FF2B5EF4-FFF2-40B4-BE49-F238E27FC236}">
                <a16:creationId xmlns:a16="http://schemas.microsoft.com/office/drawing/2014/main" id="{00F440ED-D240-42D6-96D1-7BEE5C01AC18}"/>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RANDOM SEARCH</a:t>
            </a:r>
          </a:p>
        </p:txBody>
      </p:sp>
      <p:sp>
        <p:nvSpPr>
          <p:cNvPr id="10" name="text-9">
            <a:extLst>
              <a:ext uri="{FF2B5EF4-FFF2-40B4-BE49-F238E27FC236}">
                <a16:creationId xmlns:a16="http://schemas.microsoft.com/office/drawing/2014/main" id="{C3D9D0A0-359F-482E-8966-900DC4A72C5B}"/>
              </a:ext>
            </a:extLst>
          </p:cNvPr>
          <p:cNvSpPr>
            <a:spLocks noGrp="1"/>
          </p:cNvSpPr>
          <p:nvPr/>
        </p:nvSpPr>
        <p:spPr>
          <a:xfrm>
            <a:off x="6515100" y="267652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Losuje konfiguracje z zadanych rozkładów.</a:t>
            </a:r>
          </a:p>
        </p:txBody>
      </p:sp>
      <p:sp>
        <p:nvSpPr>
          <p:cNvPr id="11" name="text-10">
            <a:extLst>
              <a:ext uri="{FF2B5EF4-FFF2-40B4-BE49-F238E27FC236}">
                <a16:creationId xmlns:a16="http://schemas.microsoft.com/office/drawing/2014/main" id="{DE8D90C4-989F-4065-AF37-D325FC00744E}"/>
              </a:ext>
            </a:extLst>
          </p:cNvPr>
          <p:cNvSpPr>
            <a:spLocks noGrp="1"/>
          </p:cNvSpPr>
          <p:nvPr/>
        </p:nvSpPr>
        <p:spPr>
          <a:xfrm>
            <a:off x="6515100" y="3607689"/>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Pozwala ustalić budżet prób.</a:t>
            </a:r>
          </a:p>
        </p:txBody>
      </p:sp>
      <p:sp>
        <p:nvSpPr>
          <p:cNvPr id="12" name="text-11">
            <a:extLst>
              <a:ext uri="{FF2B5EF4-FFF2-40B4-BE49-F238E27FC236}">
                <a16:creationId xmlns:a16="http://schemas.microsoft.com/office/drawing/2014/main" id="{32BA1FD1-B989-402F-A2EF-7293DC73B32D}"/>
              </a:ext>
            </a:extLst>
          </p:cNvPr>
          <p:cNvSpPr>
            <a:spLocks noGrp="1"/>
          </p:cNvSpPr>
          <p:nvPr/>
        </p:nvSpPr>
        <p:spPr>
          <a:xfrm>
            <a:off x="6515100" y="4201859"/>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Dobrze obejmuje parametry o różnych skalach.</a:t>
            </a:r>
          </a:p>
        </p:txBody>
      </p:sp>
      <p:sp>
        <p:nvSpPr>
          <p:cNvPr id="13" name="text-12">
            <a:extLst>
              <a:ext uri="{FF2B5EF4-FFF2-40B4-BE49-F238E27FC236}">
                <a16:creationId xmlns:a16="http://schemas.microsoft.com/office/drawing/2014/main" id="{439C61F9-6F15-4184-B875-01B15B26617A}"/>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Wybór konfiguracji odbywa się w CV. Końcowy test ocenia wybraną procedurę.</a:t>
            </a:r>
          </a:p>
        </p:txBody>
      </p:sp>
    </p:spTree>
    <p:extLst>
      <p:ext uri="{BB962C8B-B14F-4D97-AF65-F5344CB8AC3E}">
        <p14:creationId xmlns:p14="http://schemas.microsoft.com/office/powerpoint/2010/main" val="6053957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C90AEB93-7C49-4D6E-9219-395CA378892C}"/>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DD5A4AAB-70C5-4E21-8152-AB9E247EC0CE}"/>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63</a:t>
            </a:r>
          </a:p>
        </p:txBody>
      </p:sp>
      <p:sp>
        <p:nvSpPr>
          <p:cNvPr id="3" name="text-2">
            <a:extLst>
              <a:ext uri="{FF2B5EF4-FFF2-40B4-BE49-F238E27FC236}">
                <a16:creationId xmlns:a16="http://schemas.microsoft.com/office/drawing/2014/main" id="{87BD0E2B-63D4-4578-89BA-6D565CC68263}"/>
              </a:ext>
            </a:extLst>
          </p:cNvPr>
          <p:cNvSpPr>
            <a:spLocks noGrp="1"/>
          </p:cNvSpPr>
          <p:nvPr/>
        </p:nvSpPr>
        <p:spPr>
          <a:xfrm>
            <a:off x="609600" y="352425"/>
            <a:ext cx="10972800" cy="238125"/>
          </a:xfrm>
          <a:prstGeom prst="rect">
            <a:avLst/>
          </a:prstGeom>
          <a:noFill/>
          <a:ln w="0">
            <a:noFill/>
          </a:ln>
        </p:spPr>
        <p:txBody>
          <a:bodyPr wrap="square" lIns="0" tIns="0" rIns="0" bIns="0" anchor="t">
            <a:noAutofit/>
          </a:bodyPr>
          <a:lstStyle/>
          <a:p>
            <a:pPr>
              <a:defRPr sz="1125" b="1">
                <a:solidFill>
                  <a:srgbClr val="62DCCB"/>
                </a:solidFill>
                <a:latin typeface="Nimbus Sans"/>
                <a:ea typeface="Nimbus Sans"/>
                <a:cs typeface="Nimbus Sans"/>
              </a:defRPr>
            </a:pPr>
            <a:r>
              <a:rPr sz="1125" b="1">
                <a:solidFill>
                  <a:srgbClr val="62DCCB"/>
                </a:solidFill>
                <a:latin typeface="Nimbus Sans"/>
                <a:ea typeface="Nimbus Sans"/>
                <a:cs typeface="Nimbus Sans"/>
              </a:rPr>
              <a:t>PYTHON  /  04  /  MODELOWANIE I OCENA MODELI</a:t>
            </a:r>
          </a:p>
        </p:txBody>
      </p:sp>
      <p:sp>
        <p:nvSpPr>
          <p:cNvPr id="4" name="text-3">
            <a:extLst>
              <a:ext uri="{FF2B5EF4-FFF2-40B4-BE49-F238E27FC236}">
                <a16:creationId xmlns:a16="http://schemas.microsoft.com/office/drawing/2014/main" id="{76E3EC1C-74DC-4D9A-8987-B146D18E62F8}"/>
              </a:ext>
            </a:extLst>
          </p:cNvPr>
          <p:cNvSpPr>
            <a:spLocks noGrp="1"/>
          </p:cNvSpPr>
          <p:nvPr/>
        </p:nvSpPr>
        <p:spPr>
          <a:xfrm>
            <a:off x="609600" y="828675"/>
            <a:ext cx="10972800" cy="1047750"/>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Strojenie pipeline z SVC</a:t>
            </a:r>
          </a:p>
        </p:txBody>
      </p:sp>
      <p:sp>
        <p:nvSpPr>
          <p:cNvPr id="5" name="text-4">
            <a:extLst>
              <a:ext uri="{FF2B5EF4-FFF2-40B4-BE49-F238E27FC236}">
                <a16:creationId xmlns:a16="http://schemas.microsoft.com/office/drawing/2014/main" id="{9059C3CD-F6E6-44BB-911D-7A027D8C945B}"/>
              </a:ext>
            </a:extLst>
          </p:cNvPr>
          <p:cNvSpPr>
            <a:spLocks noGrp="1"/>
          </p:cNvSpPr>
          <p:nvPr/>
        </p:nvSpPr>
        <p:spPr>
          <a:xfrm>
            <a:off x="609600" y="2095500"/>
            <a:ext cx="7839075" cy="3838575"/>
          </a:xfrm>
          <a:prstGeom prst="rect">
            <a:avLst/>
          </a:prstGeom>
          <a:noFill/>
          <a:ln w="0">
            <a:noFill/>
          </a:ln>
        </p:spPr>
        <p:txBody>
          <a:bodyPr wrap="square" lIns="0" tIns="0" rIns="0" bIns="0" anchor="t">
            <a:noAutofit/>
          </a:bodyPr>
          <a:lstStyle/>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sklearn.model_selection import GridSearchCV</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sklearn.svm import SVC</a:t>
            </a:r>
          </a:p>
          <a:p>
            <a:endParaRPr sz="1575" b="0">
              <a:solidFill>
                <a:srgbClr val="FFFFFF"/>
              </a:solidFill>
              <a:latin typeface="DejaVu Sans Mono"/>
              <a:ea typeface="DejaVu Sans Mono"/>
              <a:cs typeface="DejaVu Sans Mono"/>
            </a:endParaRP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pipe = make_pipeline(StandardScaler(), SVC())</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grid = {"svc__C": [0.1, 1, 10],</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"svc__gamma": [0.01, 0.1, 1]}</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search = GridSearchCV(pipe, grid, cv=5,</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scoring="f1", n_jobs=-1)</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search.fit(Xtr, ytr)</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print(search.best_params_)</a:t>
            </a:r>
          </a:p>
        </p:txBody>
      </p:sp>
      <p:sp>
        <p:nvSpPr>
          <p:cNvPr id="6" name="text-5">
            <a:extLst>
              <a:ext uri="{FF2B5EF4-FFF2-40B4-BE49-F238E27FC236}">
                <a16:creationId xmlns:a16="http://schemas.microsoft.com/office/drawing/2014/main" id="{E3BB0AD4-F3E1-4DEC-89C1-5B1F5FD9C197}"/>
              </a:ext>
            </a:extLst>
          </p:cNvPr>
          <p:cNvSpPr>
            <a:spLocks noGrp="1"/>
          </p:cNvSpPr>
          <p:nvPr/>
        </p:nvSpPr>
        <p:spPr>
          <a:xfrm>
            <a:off x="8924925" y="2057400"/>
            <a:ext cx="2657475" cy="495300"/>
          </a:xfrm>
          <a:prstGeom prst="rect">
            <a:avLst/>
          </a:prstGeom>
          <a:noFill/>
          <a:ln w="0">
            <a:noFill/>
          </a:ln>
        </p:spPr>
        <p:txBody>
          <a:bodyPr wrap="square" lIns="0" tIns="0" rIns="0" bIns="0" anchor="t">
            <a:noAutofit/>
          </a:bodyPr>
          <a:lstStyle/>
          <a:p>
            <a:pPr>
              <a:defRPr sz="1575" b="1">
                <a:solidFill>
                  <a:srgbClr val="62DCCB"/>
                </a:solidFill>
                <a:latin typeface="Nimbus Sans"/>
                <a:ea typeface="Nimbus Sans"/>
                <a:cs typeface="Nimbus Sans"/>
              </a:defRPr>
            </a:pPr>
            <a:r>
              <a:rPr sz="1575" b="1">
                <a:solidFill>
                  <a:srgbClr val="62DCCB"/>
                </a:solidFill>
                <a:latin typeface="Nimbus Sans"/>
                <a:ea typeface="Nimbus Sans"/>
                <a:cs typeface="Nimbus Sans"/>
              </a:rPr>
              <a:t>9 konfiguracji</a:t>
            </a:r>
          </a:p>
        </p:txBody>
      </p:sp>
      <p:sp>
        <p:nvSpPr>
          <p:cNvPr id="7" name="text-6">
            <a:extLst>
              <a:ext uri="{FF2B5EF4-FFF2-40B4-BE49-F238E27FC236}">
                <a16:creationId xmlns:a16="http://schemas.microsoft.com/office/drawing/2014/main" id="{D8BC2BBC-C5B5-4D4C-8AE5-543E083DB987}"/>
              </a:ext>
            </a:extLst>
          </p:cNvPr>
          <p:cNvSpPr>
            <a:spLocks noGrp="1"/>
          </p:cNvSpPr>
          <p:nvPr/>
        </p:nvSpPr>
        <p:spPr>
          <a:xfrm>
            <a:off x="8924925" y="2657475"/>
            <a:ext cx="2657475" cy="689991"/>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5 foldów daje 45 dopasowań w CV.</a:t>
            </a:r>
          </a:p>
        </p:txBody>
      </p:sp>
      <p:sp>
        <p:nvSpPr>
          <p:cNvPr id="8" name="text-7">
            <a:extLst>
              <a:ext uri="{FF2B5EF4-FFF2-40B4-BE49-F238E27FC236}">
                <a16:creationId xmlns:a16="http://schemas.microsoft.com/office/drawing/2014/main" id="{D8147027-1103-4B47-867A-1DBEFD006321}"/>
              </a:ext>
            </a:extLst>
          </p:cNvPr>
          <p:cNvSpPr>
            <a:spLocks noGrp="1"/>
          </p:cNvSpPr>
          <p:nvPr/>
        </p:nvSpPr>
        <p:spPr>
          <a:xfrm>
            <a:off x="8924925" y="3518916"/>
            <a:ext cx="2657475" cy="1294257"/>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Domyślny refit dodaje dopasowanie zwycięzcy do całego treningu.</a:t>
            </a:r>
          </a:p>
        </p:txBody>
      </p:sp>
    </p:spTree>
    <p:extLst>
      <p:ext uri="{BB962C8B-B14F-4D97-AF65-F5344CB8AC3E}">
        <p14:creationId xmlns:p14="http://schemas.microsoft.com/office/powerpoint/2010/main" val="2789501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D93193C8-57BE-4D55-8598-18AA234F289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3A66E996-00BD-40BC-8721-B3DAC30F529B}"/>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64</a:t>
            </a:r>
          </a:p>
        </p:txBody>
      </p:sp>
      <p:sp>
        <p:nvSpPr>
          <p:cNvPr id="3" name="text-2">
            <a:extLst>
              <a:ext uri="{FF2B5EF4-FFF2-40B4-BE49-F238E27FC236}">
                <a16:creationId xmlns:a16="http://schemas.microsoft.com/office/drawing/2014/main" id="{35742177-5357-412B-8891-1B4E44750221}"/>
              </a:ext>
            </a:extLst>
          </p:cNvPr>
          <p:cNvSpPr>
            <a:spLocks noGrp="1"/>
          </p:cNvSpPr>
          <p:nvPr/>
        </p:nvSpPr>
        <p:spPr>
          <a:xfrm>
            <a:off x="609600" y="400050"/>
            <a:ext cx="10477500" cy="28575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LABORATORIUM 06  /  40 MIN</a:t>
            </a:r>
          </a:p>
        </p:txBody>
      </p:sp>
      <p:sp>
        <p:nvSpPr>
          <p:cNvPr id="4" name="text-3">
            <a:extLst>
              <a:ext uri="{FF2B5EF4-FFF2-40B4-BE49-F238E27FC236}">
                <a16:creationId xmlns:a16="http://schemas.microsoft.com/office/drawing/2014/main" id="{2DE8EB17-C5EE-4D13-A761-948BA494F7E1}"/>
              </a:ext>
            </a:extLst>
          </p:cNvPr>
          <p:cNvSpPr>
            <a:spLocks noGrp="1"/>
          </p:cNvSpPr>
          <p:nvPr/>
        </p:nvSpPr>
        <p:spPr>
          <a:xfrm>
            <a:off x="609600" y="971550"/>
            <a:ext cx="10972800" cy="1000125"/>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Audyt eksperymentu</a:t>
            </a:r>
          </a:p>
        </p:txBody>
      </p:sp>
      <p:sp>
        <p:nvSpPr>
          <p:cNvPr id="5" name="text-4">
            <a:extLst>
              <a:ext uri="{FF2B5EF4-FFF2-40B4-BE49-F238E27FC236}">
                <a16:creationId xmlns:a16="http://schemas.microsoft.com/office/drawing/2014/main" id="{9CE6E509-E782-48BE-A58D-AB32795BA8CA}"/>
              </a:ext>
            </a:extLst>
          </p:cNvPr>
          <p:cNvSpPr>
            <a:spLocks noGrp="1"/>
          </p:cNvSpPr>
          <p:nvPr/>
        </p:nvSpPr>
        <p:spPr>
          <a:xfrm>
            <a:off x="609600" y="23145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01</a:t>
            </a:r>
          </a:p>
        </p:txBody>
      </p:sp>
      <p:sp>
        <p:nvSpPr>
          <p:cNvPr id="6" name="text-5">
            <a:extLst>
              <a:ext uri="{FF2B5EF4-FFF2-40B4-BE49-F238E27FC236}">
                <a16:creationId xmlns:a16="http://schemas.microsoft.com/office/drawing/2014/main" id="{F6C653BA-0763-47C0-AB8F-51C7F105FD21}"/>
              </a:ext>
            </a:extLst>
          </p:cNvPr>
          <p:cNvSpPr>
            <a:spLocks noGrp="1"/>
          </p:cNvSpPr>
          <p:nvPr/>
        </p:nvSpPr>
        <p:spPr>
          <a:xfrm>
            <a:off x="1485900" y="22764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Zdefiniuj klasę dodatnią i koszt FP oraz FN.</a:t>
            </a:r>
          </a:p>
        </p:txBody>
      </p:sp>
      <p:sp>
        <p:nvSpPr>
          <p:cNvPr id="7" name="text-6">
            <a:extLst>
              <a:ext uri="{FF2B5EF4-FFF2-40B4-BE49-F238E27FC236}">
                <a16:creationId xmlns:a16="http://schemas.microsoft.com/office/drawing/2014/main" id="{6C2CEDD6-6190-4E1D-96EC-32D5809A240C}"/>
              </a:ext>
            </a:extLst>
          </p:cNvPr>
          <p:cNvSpPr>
            <a:spLocks noGrp="1"/>
          </p:cNvSpPr>
          <p:nvPr/>
        </p:nvSpPr>
        <p:spPr>
          <a:xfrm>
            <a:off x="609600" y="31527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02</a:t>
            </a:r>
          </a:p>
        </p:txBody>
      </p:sp>
      <p:sp>
        <p:nvSpPr>
          <p:cNvPr id="8" name="text-7">
            <a:extLst>
              <a:ext uri="{FF2B5EF4-FFF2-40B4-BE49-F238E27FC236}">
                <a16:creationId xmlns:a16="http://schemas.microsoft.com/office/drawing/2014/main" id="{BF3FB87A-3BF3-4B6F-95A5-B6BF89334740}"/>
              </a:ext>
            </a:extLst>
          </p:cNvPr>
          <p:cNvSpPr>
            <a:spLocks noGrp="1"/>
          </p:cNvSpPr>
          <p:nvPr/>
        </p:nvSpPr>
        <p:spPr>
          <a:xfrm>
            <a:off x="1485900" y="31146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Sprawdź podział i kolejność transformacji.</a:t>
            </a:r>
          </a:p>
        </p:txBody>
      </p:sp>
      <p:sp>
        <p:nvSpPr>
          <p:cNvPr id="9" name="text-8">
            <a:extLst>
              <a:ext uri="{FF2B5EF4-FFF2-40B4-BE49-F238E27FC236}">
                <a16:creationId xmlns:a16="http://schemas.microsoft.com/office/drawing/2014/main" id="{90823349-BE51-41A5-B9D3-AAFB20140EBB}"/>
              </a:ext>
            </a:extLst>
          </p:cNvPr>
          <p:cNvSpPr>
            <a:spLocks noGrp="1"/>
          </p:cNvSpPr>
          <p:nvPr/>
        </p:nvSpPr>
        <p:spPr>
          <a:xfrm>
            <a:off x="609600" y="39909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03</a:t>
            </a:r>
          </a:p>
        </p:txBody>
      </p:sp>
      <p:sp>
        <p:nvSpPr>
          <p:cNvPr id="10" name="text-9">
            <a:extLst>
              <a:ext uri="{FF2B5EF4-FFF2-40B4-BE49-F238E27FC236}">
                <a16:creationId xmlns:a16="http://schemas.microsoft.com/office/drawing/2014/main" id="{FABDC343-4AEF-4DAF-BEA5-9F54D047CF85}"/>
              </a:ext>
            </a:extLst>
          </p:cNvPr>
          <p:cNvSpPr>
            <a:spLocks noGrp="1"/>
          </p:cNvSpPr>
          <p:nvPr/>
        </p:nvSpPr>
        <p:spPr>
          <a:xfrm>
            <a:off x="1485900" y="39528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Wybierz metrykę oraz ograniczony budżet strojenia.</a:t>
            </a:r>
          </a:p>
        </p:txBody>
      </p:sp>
      <p:sp>
        <p:nvSpPr>
          <p:cNvPr id="11" name="text-10">
            <a:extLst>
              <a:ext uri="{FF2B5EF4-FFF2-40B4-BE49-F238E27FC236}">
                <a16:creationId xmlns:a16="http://schemas.microsoft.com/office/drawing/2014/main" id="{1E9BE9DB-BF83-4DD4-B72F-91B2F40357E4}"/>
              </a:ext>
            </a:extLst>
          </p:cNvPr>
          <p:cNvSpPr>
            <a:spLocks noGrp="1"/>
          </p:cNvSpPr>
          <p:nvPr/>
        </p:nvSpPr>
        <p:spPr>
          <a:xfrm>
            <a:off x="609600" y="48291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04</a:t>
            </a:r>
          </a:p>
        </p:txBody>
      </p:sp>
      <p:sp>
        <p:nvSpPr>
          <p:cNvPr id="12" name="text-11">
            <a:extLst>
              <a:ext uri="{FF2B5EF4-FFF2-40B4-BE49-F238E27FC236}">
                <a16:creationId xmlns:a16="http://schemas.microsoft.com/office/drawing/2014/main" id="{B3BDFEFA-E33F-457A-A055-E218E1D328E9}"/>
              </a:ext>
            </a:extLst>
          </p:cNvPr>
          <p:cNvSpPr>
            <a:spLocks noGrp="1"/>
          </p:cNvSpPr>
          <p:nvPr/>
        </p:nvSpPr>
        <p:spPr>
          <a:xfrm>
            <a:off x="1485900" y="47910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Zamroź konfigurację i oceń ją raz na teście.</a:t>
            </a:r>
          </a:p>
        </p:txBody>
      </p:sp>
      <p:sp>
        <p:nvSpPr>
          <p:cNvPr id="13" name="text-12">
            <a:extLst>
              <a:ext uri="{FF2B5EF4-FFF2-40B4-BE49-F238E27FC236}">
                <a16:creationId xmlns:a16="http://schemas.microsoft.com/office/drawing/2014/main" id="{CF553F48-CA61-4909-8E3A-3C4857E6D2DC}"/>
              </a:ext>
            </a:extLst>
          </p:cNvPr>
          <p:cNvSpPr>
            <a:spLocks noGrp="1"/>
          </p:cNvSpPr>
          <p:nvPr/>
        </p:nvSpPr>
        <p:spPr>
          <a:xfrm>
            <a:off x="609600" y="5848350"/>
            <a:ext cx="1371600" cy="257175"/>
          </a:xfrm>
          <a:prstGeom prst="rect">
            <a:avLst/>
          </a:prstGeom>
          <a:noFill/>
          <a:ln w="0">
            <a:noFill/>
          </a:ln>
        </p:spPr>
        <p:txBody>
          <a:bodyPr wrap="square" lIns="0" tIns="0" rIns="0" bIns="0" anchor="t">
            <a:noAutofit/>
          </a:bodyPr>
          <a:lstStyle/>
          <a:p>
            <a:pPr>
              <a:defRPr sz="1200" b="1">
                <a:solidFill>
                  <a:srgbClr val="62DCCB"/>
                </a:solidFill>
                <a:latin typeface="Nimbus Sans"/>
                <a:ea typeface="Nimbus Sans"/>
                <a:cs typeface="Nimbus Sans"/>
              </a:defRPr>
            </a:pPr>
            <a:r>
              <a:rPr sz="1200" b="1">
                <a:solidFill>
                  <a:srgbClr val="62DCCB"/>
                </a:solidFill>
                <a:latin typeface="Nimbus Sans"/>
                <a:ea typeface="Nimbus Sans"/>
                <a:cs typeface="Nimbus Sans"/>
              </a:rPr>
              <a:t>REZULTAT</a:t>
            </a:r>
          </a:p>
        </p:txBody>
      </p:sp>
      <p:sp>
        <p:nvSpPr>
          <p:cNvPr id="14" name="text-13">
            <a:extLst>
              <a:ext uri="{FF2B5EF4-FFF2-40B4-BE49-F238E27FC236}">
                <a16:creationId xmlns:a16="http://schemas.microsoft.com/office/drawing/2014/main" id="{C2337DD7-4BC8-4814-B572-17653FA62154}"/>
              </a:ext>
            </a:extLst>
          </p:cNvPr>
          <p:cNvSpPr>
            <a:spLocks noGrp="1"/>
          </p:cNvSpPr>
          <p:nvPr/>
        </p:nvSpPr>
        <p:spPr>
          <a:xfrm>
            <a:off x="2057400" y="5791200"/>
            <a:ext cx="9525000" cy="457200"/>
          </a:xfrm>
          <a:prstGeom prst="rect">
            <a:avLst/>
          </a:prstGeom>
          <a:noFill/>
          <a:ln w="0">
            <a:noFill/>
          </a:ln>
        </p:spPr>
        <p:txBody>
          <a:bodyPr wrap="square" lIns="0" tIns="0" rIns="0" bIns="0" anchor="t">
            <a:noAutofit/>
          </a:bodyPr>
          <a:lstStyle/>
          <a:p>
            <a:pPr>
              <a:defRPr sz="1800" b="0">
                <a:solidFill>
                  <a:srgbClr val="D7E3E8"/>
                </a:solidFill>
                <a:latin typeface="Nimbus Sans"/>
                <a:ea typeface="Nimbus Sans"/>
                <a:cs typeface="Nimbus Sans"/>
              </a:defRPr>
            </a:pPr>
            <a:r>
              <a:rPr sz="1800" b="0">
                <a:solidFill>
                  <a:srgbClr val="D7E3E8"/>
                </a:solidFill>
                <a:latin typeface="Nimbus Sans"/>
                <a:ea typeface="Nimbus Sans"/>
                <a:cs typeface="Nimbus Sans"/>
              </a:rPr>
              <a:t>Krótki raport: protokół, wynik, ograniczenia i decyzja.</a:t>
            </a:r>
          </a:p>
        </p:txBody>
      </p:sp>
    </p:spTree>
    <p:extLst>
      <p:ext uri="{BB962C8B-B14F-4D97-AF65-F5344CB8AC3E}">
        <p14:creationId xmlns:p14="http://schemas.microsoft.com/office/powerpoint/2010/main" val="4423614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96F2EF35-E7A7-4474-80EE-BE0B5CA7AB6E}"/>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04  /  MODELOWANIE I OCENA MODELI</a:t>
            </a:r>
          </a:p>
        </p:txBody>
      </p:sp>
      <p:sp>
        <p:nvSpPr>
          <p:cNvPr id="2" name="text-1">
            <a:extLst>
              <a:ext uri="{FF2B5EF4-FFF2-40B4-BE49-F238E27FC236}">
                <a16:creationId xmlns:a16="http://schemas.microsoft.com/office/drawing/2014/main" id="{CEC368D3-2697-42E7-9D9D-E977C333E3FA}"/>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Wyjaśnialność i ważność cech</a:t>
            </a:r>
          </a:p>
        </p:txBody>
      </p:sp>
      <p:sp>
        <p:nvSpPr>
          <p:cNvPr id="3" name="text-2">
            <a:extLst>
              <a:ext uri="{FF2B5EF4-FFF2-40B4-BE49-F238E27FC236}">
                <a16:creationId xmlns:a16="http://schemas.microsoft.com/office/drawing/2014/main" id="{CD3A4E62-399D-49F5-93F1-0D41DDE1AC2E}"/>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03F56DC0-F045-4682-8004-4576F5F3985D}"/>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65</a:t>
            </a:r>
          </a:p>
        </p:txBody>
      </p:sp>
      <p:sp>
        <p:nvSpPr>
          <p:cNvPr id="5" name="text-4">
            <a:extLst>
              <a:ext uri="{FF2B5EF4-FFF2-40B4-BE49-F238E27FC236}">
                <a16:creationId xmlns:a16="http://schemas.microsoft.com/office/drawing/2014/main" id="{C5275C87-95D6-4125-90A2-E9092495B043}"/>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PERMUTATION IMPORTANCE</a:t>
            </a:r>
          </a:p>
        </p:txBody>
      </p:sp>
      <p:sp>
        <p:nvSpPr>
          <p:cNvPr id="6" name="text-5">
            <a:extLst>
              <a:ext uri="{FF2B5EF4-FFF2-40B4-BE49-F238E27FC236}">
                <a16:creationId xmlns:a16="http://schemas.microsoft.com/office/drawing/2014/main" id="{736E1EDB-F53C-4E8F-A9F9-3957CDFA3B47}"/>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Mieszamy wartości jednej cechy.</a:t>
            </a:r>
          </a:p>
        </p:txBody>
      </p:sp>
      <p:sp>
        <p:nvSpPr>
          <p:cNvPr id="7" name="text-6">
            <a:extLst>
              <a:ext uri="{FF2B5EF4-FFF2-40B4-BE49-F238E27FC236}">
                <a16:creationId xmlns:a16="http://schemas.microsoft.com/office/drawing/2014/main" id="{E3FC4135-C98F-45E1-9CBA-EA616ACB3B63}"/>
              </a:ext>
            </a:extLst>
          </p:cNvPr>
          <p:cNvSpPr>
            <a:spLocks noGrp="1"/>
          </p:cNvSpPr>
          <p:nvPr/>
        </p:nvSpPr>
        <p:spPr>
          <a:xfrm>
            <a:off x="609600" y="327069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Mierzymy pogorszenie wyniku na odłożonych danych.</a:t>
            </a:r>
          </a:p>
        </p:txBody>
      </p:sp>
      <p:sp>
        <p:nvSpPr>
          <p:cNvPr id="8" name="text-7">
            <a:extLst>
              <a:ext uri="{FF2B5EF4-FFF2-40B4-BE49-F238E27FC236}">
                <a16:creationId xmlns:a16="http://schemas.microsoft.com/office/drawing/2014/main" id="{4F495DE5-847F-44D9-A4C9-6AC52D75083C}"/>
              </a:ext>
            </a:extLst>
          </p:cNvPr>
          <p:cNvSpPr>
            <a:spLocks noGrp="1"/>
          </p:cNvSpPr>
          <p:nvPr/>
        </p:nvSpPr>
        <p:spPr>
          <a:xfrm>
            <a:off x="609600" y="4201859"/>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Powtarzamy permutację, aby ocenić zmienność.</a:t>
            </a:r>
          </a:p>
        </p:txBody>
      </p:sp>
      <p:sp>
        <p:nvSpPr>
          <p:cNvPr id="9" name="text-8">
            <a:extLst>
              <a:ext uri="{FF2B5EF4-FFF2-40B4-BE49-F238E27FC236}">
                <a16:creationId xmlns:a16="http://schemas.microsoft.com/office/drawing/2014/main" id="{C5DC54A2-1930-4350-9AFF-40FD28F902AC}"/>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INTERPRETACJA</a:t>
            </a:r>
          </a:p>
        </p:txBody>
      </p:sp>
      <p:sp>
        <p:nvSpPr>
          <p:cNvPr id="10" name="text-9">
            <a:extLst>
              <a:ext uri="{FF2B5EF4-FFF2-40B4-BE49-F238E27FC236}">
                <a16:creationId xmlns:a16="http://schemas.microsoft.com/office/drawing/2014/main" id="{400E307C-75A5-4CFA-AB7D-307951D58D6A}"/>
              </a:ext>
            </a:extLst>
          </p:cNvPr>
          <p:cNvSpPr>
            <a:spLocks noGrp="1"/>
          </p:cNvSpPr>
          <p:nvPr/>
        </p:nvSpPr>
        <p:spPr>
          <a:xfrm>
            <a:off x="6515100" y="267652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Ważność zależy od modelu i metryki.</a:t>
            </a:r>
          </a:p>
        </p:txBody>
      </p:sp>
      <p:sp>
        <p:nvSpPr>
          <p:cNvPr id="11" name="text-10">
            <a:extLst>
              <a:ext uri="{FF2B5EF4-FFF2-40B4-BE49-F238E27FC236}">
                <a16:creationId xmlns:a16="http://schemas.microsoft.com/office/drawing/2014/main" id="{2C703740-EBF6-4A70-9FD7-D9137D089E6E}"/>
              </a:ext>
            </a:extLst>
          </p:cNvPr>
          <p:cNvSpPr>
            <a:spLocks noGrp="1"/>
          </p:cNvSpPr>
          <p:nvPr/>
        </p:nvSpPr>
        <p:spPr>
          <a:xfrm>
            <a:off x="6515100" y="327069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Korelacje mogą rozdzielać lub maskować wpływ.</a:t>
            </a:r>
          </a:p>
        </p:txBody>
      </p:sp>
      <p:sp>
        <p:nvSpPr>
          <p:cNvPr id="12" name="text-11">
            <a:extLst>
              <a:ext uri="{FF2B5EF4-FFF2-40B4-BE49-F238E27FC236}">
                <a16:creationId xmlns:a16="http://schemas.microsoft.com/office/drawing/2014/main" id="{D2C2A236-89D8-4497-9EF1-17A9C5406FC4}"/>
              </a:ext>
            </a:extLst>
          </p:cNvPr>
          <p:cNvSpPr>
            <a:spLocks noGrp="1"/>
          </p:cNvSpPr>
          <p:nvPr/>
        </p:nvSpPr>
        <p:spPr>
          <a:xfrm>
            <a:off x="6515100" y="4201859"/>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Ważna cecha nie dowodzi związku przyczynowego.</a:t>
            </a:r>
          </a:p>
        </p:txBody>
      </p:sp>
    </p:spTree>
    <p:extLst>
      <p:ext uri="{BB962C8B-B14F-4D97-AF65-F5344CB8AC3E}">
        <p14:creationId xmlns:p14="http://schemas.microsoft.com/office/powerpoint/2010/main" val="5920855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7" name="text-0">
            <a:extLst>
              <a:ext uri="{FF2B5EF4-FFF2-40B4-BE49-F238E27FC236}">
                <a16:creationId xmlns:a16="http://schemas.microsoft.com/office/drawing/2014/main" id="{03A1D354-9E84-42A8-8CDC-A17D32EC90DC}"/>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04  /  MODELOWANIE I OCENA MODELI</a:t>
            </a:r>
          </a:p>
        </p:txBody>
      </p:sp>
      <p:sp>
        <p:nvSpPr>
          <p:cNvPr id="2" name="text-1">
            <a:extLst>
              <a:ext uri="{FF2B5EF4-FFF2-40B4-BE49-F238E27FC236}">
                <a16:creationId xmlns:a16="http://schemas.microsoft.com/office/drawing/2014/main" id="{07851A52-2C60-46D1-A90D-1F7C58543F79}"/>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Dziennik eksperymentu</a:t>
            </a:r>
          </a:p>
        </p:txBody>
      </p:sp>
      <p:sp>
        <p:nvSpPr>
          <p:cNvPr id="3" name="text-2">
            <a:extLst>
              <a:ext uri="{FF2B5EF4-FFF2-40B4-BE49-F238E27FC236}">
                <a16:creationId xmlns:a16="http://schemas.microsoft.com/office/drawing/2014/main" id="{4DD82F88-8590-4778-B1ED-C9976B88CE3D}"/>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100F62B2-9058-4A65-9C97-98B2A9B1AB20}"/>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66</a:t>
            </a:r>
          </a:p>
        </p:txBody>
      </p:sp>
      <p:sp>
        <p:nvSpPr>
          <p:cNvPr id="5" name="text-4">
            <a:extLst>
              <a:ext uri="{FF2B5EF4-FFF2-40B4-BE49-F238E27FC236}">
                <a16:creationId xmlns:a16="http://schemas.microsoft.com/office/drawing/2014/main" id="{60692E72-D2B6-452C-8F42-033BF65B6015}"/>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DE7ED683-163F-451D-B4EC-392E1A8F6734}"/>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Dane</a:t>
            </a:r>
          </a:p>
        </p:txBody>
      </p:sp>
      <p:sp>
        <p:nvSpPr>
          <p:cNvPr id="7" name="text-6">
            <a:extLst>
              <a:ext uri="{FF2B5EF4-FFF2-40B4-BE49-F238E27FC236}">
                <a16:creationId xmlns:a16="http://schemas.microsoft.com/office/drawing/2014/main" id="{626782E3-3B61-4825-9E2D-A11A10880335}"/>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Wersja zbioru, zakres czasu, cechy i reguła podziału.</a:t>
            </a:r>
          </a:p>
        </p:txBody>
      </p:sp>
      <p:sp>
        <p:nvSpPr>
          <p:cNvPr id="8" name="text-7">
            <a:extLst>
              <a:ext uri="{FF2B5EF4-FFF2-40B4-BE49-F238E27FC236}">
                <a16:creationId xmlns:a16="http://schemas.microsoft.com/office/drawing/2014/main" id="{F33C1009-22AA-44FA-97F5-F801FEC5C860}"/>
              </a:ext>
            </a:extLst>
          </p:cNvPr>
          <p:cNvSpPr>
            <a:spLocks noGrp="1"/>
          </p:cNvSpPr>
          <p:nvPr/>
        </p:nvSpPr>
        <p:spPr>
          <a:xfrm>
            <a:off x="609600" y="29432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E51B872E-7DFF-45B7-B88D-256EF16C8670}"/>
              </a:ext>
            </a:extLst>
          </p:cNvPr>
          <p:cNvSpPr>
            <a:spLocks noGrp="1"/>
          </p:cNvSpPr>
          <p:nvPr/>
        </p:nvSpPr>
        <p:spPr>
          <a:xfrm>
            <a:off x="1562100" y="29432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Konfiguracja</a:t>
            </a:r>
          </a:p>
        </p:txBody>
      </p:sp>
      <p:sp>
        <p:nvSpPr>
          <p:cNvPr id="10" name="text-9">
            <a:extLst>
              <a:ext uri="{FF2B5EF4-FFF2-40B4-BE49-F238E27FC236}">
                <a16:creationId xmlns:a16="http://schemas.microsoft.com/office/drawing/2014/main" id="{67590F2B-57C8-4DE5-903E-D7CE92303611}"/>
              </a:ext>
            </a:extLst>
          </p:cNvPr>
          <p:cNvSpPr>
            <a:spLocks noGrp="1"/>
          </p:cNvSpPr>
          <p:nvPr/>
        </p:nvSpPr>
        <p:spPr>
          <a:xfrm>
            <a:off x="1562100" y="33147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Model, hiperparametry, biblioteki i ziarna losowe.</a:t>
            </a:r>
          </a:p>
        </p:txBody>
      </p:sp>
      <p:sp>
        <p:nvSpPr>
          <p:cNvPr id="11" name="text-10">
            <a:extLst>
              <a:ext uri="{FF2B5EF4-FFF2-40B4-BE49-F238E27FC236}">
                <a16:creationId xmlns:a16="http://schemas.microsoft.com/office/drawing/2014/main" id="{A9FF41B4-A416-48FA-A02B-B50BC8287B7B}"/>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CD75A171-D59E-483D-8B8F-54B3D18B6585}"/>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Wynik</a:t>
            </a:r>
          </a:p>
        </p:txBody>
      </p:sp>
      <p:sp>
        <p:nvSpPr>
          <p:cNvPr id="13" name="text-12">
            <a:extLst>
              <a:ext uri="{FF2B5EF4-FFF2-40B4-BE49-F238E27FC236}">
                <a16:creationId xmlns:a16="http://schemas.microsoft.com/office/drawing/2014/main" id="{37312712-9885-4C75-AA94-16CFF379C0D8}"/>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Metryki, macierz pomyłek, czas i zużycie zasobów.</a:t>
            </a:r>
          </a:p>
        </p:txBody>
      </p:sp>
      <p:sp>
        <p:nvSpPr>
          <p:cNvPr id="14" name="text-13">
            <a:extLst>
              <a:ext uri="{FF2B5EF4-FFF2-40B4-BE49-F238E27FC236}">
                <a16:creationId xmlns:a16="http://schemas.microsoft.com/office/drawing/2014/main" id="{2030A404-B958-49D4-ABCF-18F0C9989149}"/>
              </a:ext>
            </a:extLst>
          </p:cNvPr>
          <p:cNvSpPr>
            <a:spLocks noGrp="1"/>
          </p:cNvSpPr>
          <p:nvPr/>
        </p:nvSpPr>
        <p:spPr>
          <a:xfrm>
            <a:off x="609600" y="50006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26B4A5ED-E99F-4397-84CC-A446CA5CD72F}"/>
              </a:ext>
            </a:extLst>
          </p:cNvPr>
          <p:cNvSpPr>
            <a:spLocks noGrp="1"/>
          </p:cNvSpPr>
          <p:nvPr/>
        </p:nvSpPr>
        <p:spPr>
          <a:xfrm>
            <a:off x="1562100" y="50006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Decyzja</a:t>
            </a:r>
          </a:p>
        </p:txBody>
      </p:sp>
      <p:sp>
        <p:nvSpPr>
          <p:cNvPr id="16" name="text-15">
            <a:extLst>
              <a:ext uri="{FF2B5EF4-FFF2-40B4-BE49-F238E27FC236}">
                <a16:creationId xmlns:a16="http://schemas.microsoft.com/office/drawing/2014/main" id="{DBD6A0DC-CA07-45C5-AB05-3B086B219ECA}"/>
              </a:ext>
            </a:extLst>
          </p:cNvPr>
          <p:cNvSpPr>
            <a:spLocks noGrp="1"/>
          </p:cNvSpPr>
          <p:nvPr/>
        </p:nvSpPr>
        <p:spPr>
          <a:xfrm>
            <a:off x="1562100" y="53721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Dlaczego wybieramy tę wersję i gdzie może zawieść.</a:t>
            </a:r>
          </a:p>
        </p:txBody>
      </p:sp>
    </p:spTree>
    <p:extLst>
      <p:ext uri="{BB962C8B-B14F-4D97-AF65-F5344CB8AC3E}">
        <p14:creationId xmlns:p14="http://schemas.microsoft.com/office/powerpoint/2010/main" val="20294731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pic>
        <p:nvPicPr>
          <p:cNvPr id="7" name="Obraz 6"/>
          <p:cNvPicPr>
            <a:picLocks noChangeAspect="1"/>
          </p:cNvPicPr>
          <p:nvPr/>
        </p:nvPicPr>
        <p:blipFill>
          <a:blip r:embed="rId3"/>
          <a:srcRect t="27" b="27"/>
          <a:stretch>
            <a:fillRect/>
          </a:stretch>
        </p:blipFill>
        <p:spPr>
          <a:xfrm>
            <a:off x="0" y="0"/>
            <a:ext cx="12192000" cy="6858000"/>
          </a:xfrm>
          <a:prstGeom prst="rect">
            <a:avLst/>
          </a:prstGeom>
        </p:spPr>
      </p:pic>
      <p:sp>
        <p:nvSpPr>
          <p:cNvPr id="2" name="text-0">
            <a:extLst>
              <a:ext uri="{FF2B5EF4-FFF2-40B4-BE49-F238E27FC236}">
                <a16:creationId xmlns:a16="http://schemas.microsoft.com/office/drawing/2014/main" id="{C498299D-C2F5-4B98-B28D-524087B465F8}"/>
              </a:ext>
            </a:extLst>
          </p:cNvPr>
          <p:cNvSpPr>
            <a:spLocks noGrp="1"/>
          </p:cNvSpPr>
          <p:nvPr/>
        </p:nvSpPr>
        <p:spPr>
          <a:xfrm>
            <a:off x="581025" y="504825"/>
            <a:ext cx="2857500" cy="1428750"/>
          </a:xfrm>
          <a:prstGeom prst="rect">
            <a:avLst/>
          </a:prstGeom>
          <a:noFill/>
          <a:ln w="0">
            <a:noFill/>
          </a:ln>
        </p:spPr>
        <p:txBody>
          <a:bodyPr wrap="square" lIns="0" tIns="0" rIns="0" bIns="0" anchor="t">
            <a:noAutofit/>
          </a:bodyPr>
          <a:lstStyle/>
          <a:p>
            <a:pPr>
              <a:defRPr sz="9300" b="1">
                <a:solidFill>
                  <a:srgbClr val="62DCCB"/>
                </a:solidFill>
                <a:latin typeface="Nimbus Sans"/>
                <a:ea typeface="Nimbus Sans"/>
                <a:cs typeface="Nimbus Sans"/>
              </a:defRPr>
            </a:pPr>
            <a:r>
              <a:rPr sz="9300" b="1">
                <a:solidFill>
                  <a:srgbClr val="62DCCB"/>
                </a:solidFill>
                <a:latin typeface="Nimbus Sans"/>
                <a:ea typeface="Nimbus Sans"/>
                <a:cs typeface="Nimbus Sans"/>
              </a:rPr>
              <a:t>05</a:t>
            </a:r>
          </a:p>
        </p:txBody>
      </p:sp>
      <p:sp>
        <p:nvSpPr>
          <p:cNvPr id="3" name="text-1">
            <a:extLst>
              <a:ext uri="{FF2B5EF4-FFF2-40B4-BE49-F238E27FC236}">
                <a16:creationId xmlns:a16="http://schemas.microsoft.com/office/drawing/2014/main" id="{F3D345FD-BA08-44E1-BC5C-2D19628D284B}"/>
              </a:ext>
            </a:extLst>
          </p:cNvPr>
          <p:cNvSpPr>
            <a:spLocks noGrp="1"/>
          </p:cNvSpPr>
          <p:nvPr/>
        </p:nvSpPr>
        <p:spPr>
          <a:xfrm>
            <a:off x="609600" y="2219325"/>
            <a:ext cx="8858250" cy="1885950"/>
          </a:xfrm>
          <a:prstGeom prst="rect">
            <a:avLst/>
          </a:prstGeom>
          <a:noFill/>
          <a:ln w="0">
            <a:noFill/>
          </a:ln>
        </p:spPr>
        <p:txBody>
          <a:bodyPr wrap="square" lIns="0" tIns="0" rIns="0" bIns="0" anchor="t">
            <a:noAutofit/>
          </a:bodyPr>
          <a:lstStyle/>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Sieci</a:t>
            </a:r>
          </a:p>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neuronowe</a:t>
            </a:r>
          </a:p>
        </p:txBody>
      </p:sp>
      <p:sp>
        <p:nvSpPr>
          <p:cNvPr id="4" name="text-2">
            <a:extLst>
              <a:ext uri="{FF2B5EF4-FFF2-40B4-BE49-F238E27FC236}">
                <a16:creationId xmlns:a16="http://schemas.microsoft.com/office/drawing/2014/main" id="{B15FE60B-67CA-41D3-A50C-2AA6300CA3D8}"/>
              </a:ext>
            </a:extLst>
          </p:cNvPr>
          <p:cNvSpPr>
            <a:spLocks noGrp="1"/>
          </p:cNvSpPr>
          <p:nvPr/>
        </p:nvSpPr>
        <p:spPr>
          <a:xfrm>
            <a:off x="638175" y="4314825"/>
            <a:ext cx="5048250" cy="1047750"/>
          </a:xfrm>
          <a:prstGeom prst="rect">
            <a:avLst/>
          </a:prstGeom>
          <a:noFill/>
          <a:ln w="0">
            <a:noFill/>
          </a:ln>
        </p:spPr>
        <p:txBody>
          <a:bodyPr wrap="square" lIns="0" tIns="0" rIns="0" bIns="0" anchor="t">
            <a:noAutofit/>
          </a:bodyPr>
          <a:lstStyle/>
          <a:p>
            <a:pPr>
              <a:defRPr sz="2100" b="0">
                <a:solidFill>
                  <a:srgbClr val="D7E3E8"/>
                </a:solidFill>
                <a:latin typeface="Nimbus Sans"/>
                <a:ea typeface="Nimbus Sans"/>
                <a:cs typeface="Nimbus Sans"/>
              </a:defRPr>
            </a:pPr>
            <a:r>
              <a:rPr sz="2100" b="0">
                <a:solidFill>
                  <a:srgbClr val="D7E3E8"/>
                </a:solidFill>
                <a:latin typeface="Nimbus Sans"/>
                <a:ea typeface="Nimbus Sans"/>
                <a:cs typeface="Nimbus Sans"/>
              </a:rPr>
              <a:t>Perceptron, uczenie sieci i reprezentacje danych</a:t>
            </a:r>
          </a:p>
        </p:txBody>
      </p:sp>
      <p:sp>
        <p:nvSpPr>
          <p:cNvPr id="5" name="text-3">
            <a:extLst>
              <a:ext uri="{FF2B5EF4-FFF2-40B4-BE49-F238E27FC236}">
                <a16:creationId xmlns:a16="http://schemas.microsoft.com/office/drawing/2014/main" id="{84F67553-2E26-44F4-B8F6-19AA316D4DE4}"/>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6" name="text-4">
            <a:extLst>
              <a:ext uri="{FF2B5EF4-FFF2-40B4-BE49-F238E27FC236}">
                <a16:creationId xmlns:a16="http://schemas.microsoft.com/office/drawing/2014/main" id="{FCAA99A7-165D-408F-8B6E-9DAD697189F8}"/>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67</a:t>
            </a:r>
          </a:p>
        </p:txBody>
      </p:sp>
    </p:spTree>
    <p:extLst>
      <p:ext uri="{BB962C8B-B14F-4D97-AF65-F5344CB8AC3E}">
        <p14:creationId xmlns:p14="http://schemas.microsoft.com/office/powerpoint/2010/main" val="6989851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5836605B-3CD9-440D-B2EE-39CEAFC7219D}"/>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05  /  SIECI NEURONOWE</a:t>
            </a:r>
          </a:p>
        </p:txBody>
      </p:sp>
      <p:sp>
        <p:nvSpPr>
          <p:cNvPr id="2" name="text-1">
            <a:extLst>
              <a:ext uri="{FF2B5EF4-FFF2-40B4-BE49-F238E27FC236}">
                <a16:creationId xmlns:a16="http://schemas.microsoft.com/office/drawing/2014/main" id="{438A6FD1-5257-4C80-8D05-EEB9F3CF2ABD}"/>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Pojedynczy neuron</a:t>
            </a:r>
          </a:p>
        </p:txBody>
      </p:sp>
      <p:sp>
        <p:nvSpPr>
          <p:cNvPr id="3" name="text-2">
            <a:extLst>
              <a:ext uri="{FF2B5EF4-FFF2-40B4-BE49-F238E27FC236}">
                <a16:creationId xmlns:a16="http://schemas.microsoft.com/office/drawing/2014/main" id="{A04C9C61-44D5-4266-941F-7077DADB401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AF92CAB4-B2C1-4F44-A201-0CE207ADD92B}"/>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68</a:t>
            </a:r>
          </a:p>
        </p:txBody>
      </p:sp>
      <p:sp>
        <p:nvSpPr>
          <p:cNvPr id="5" name="text-4">
            <a:extLst>
              <a:ext uri="{FF2B5EF4-FFF2-40B4-BE49-F238E27FC236}">
                <a16:creationId xmlns:a16="http://schemas.microsoft.com/office/drawing/2014/main" id="{65785CC8-4827-4D7D-8A1B-302D3EAFB7DF}"/>
              </a:ext>
            </a:extLst>
          </p:cNvPr>
          <p:cNvSpPr>
            <a:spLocks noGrp="1"/>
          </p:cNvSpPr>
          <p:nvPr/>
        </p:nvSpPr>
        <p:spPr>
          <a:xfrm>
            <a:off x="609600" y="1952625"/>
            <a:ext cx="10972800" cy="685800"/>
          </a:xfrm>
          <a:prstGeom prst="rect">
            <a:avLst/>
          </a:prstGeom>
          <a:noFill/>
          <a:ln w="0">
            <a:noFill/>
          </a:ln>
        </p:spPr>
        <p:txBody>
          <a:bodyPr wrap="square" lIns="0" tIns="0" rIns="0" bIns="0" anchor="t">
            <a:noAutofit/>
          </a:bodyPr>
          <a:lstStyle/>
          <a:p>
            <a:pPr>
              <a:defRPr sz="3225" b="1">
                <a:solidFill>
                  <a:srgbClr val="007F7A"/>
                </a:solidFill>
                <a:latin typeface="Nimbus Sans"/>
                <a:ea typeface="Nimbus Sans"/>
                <a:cs typeface="Nimbus Sans"/>
              </a:defRPr>
            </a:pPr>
            <a:r>
              <a:rPr sz="3225" b="1">
                <a:solidFill>
                  <a:srgbClr val="007F7A"/>
                </a:solidFill>
                <a:latin typeface="Nimbus Sans"/>
                <a:ea typeface="Nimbus Sans"/>
                <a:cs typeface="Nimbus Sans"/>
              </a:rPr>
              <a:t>a = φ(wᵀx + b)</a:t>
            </a:r>
          </a:p>
        </p:txBody>
      </p:sp>
      <p:sp>
        <p:nvSpPr>
          <p:cNvPr id="6" name="text-5">
            <a:extLst>
              <a:ext uri="{FF2B5EF4-FFF2-40B4-BE49-F238E27FC236}">
                <a16:creationId xmlns:a16="http://schemas.microsoft.com/office/drawing/2014/main" id="{E90B16E0-143A-450D-928C-3B2C43C6A62E}"/>
              </a:ext>
            </a:extLst>
          </p:cNvPr>
          <p:cNvSpPr>
            <a:spLocks noGrp="1"/>
          </p:cNvSpPr>
          <p:nvPr/>
        </p:nvSpPr>
        <p:spPr>
          <a:xfrm>
            <a:off x="628650" y="2924175"/>
            <a:ext cx="10953750" cy="723900"/>
          </a:xfrm>
          <a:prstGeom prst="rect">
            <a:avLst/>
          </a:prstGeom>
          <a:noFill/>
          <a:ln w="0">
            <a:noFill/>
          </a:ln>
        </p:spPr>
        <p:txBody>
          <a:bodyPr wrap="square" lIns="0" tIns="0" rIns="0" bIns="0" anchor="t">
            <a:noAutofit/>
          </a:bodyPr>
          <a:lstStyle/>
          <a:p>
            <a:pPr>
              <a:defRPr sz="2100" b="0">
                <a:solidFill>
                  <a:srgbClr val="586779"/>
                </a:solidFill>
                <a:latin typeface="Nimbus Sans"/>
                <a:ea typeface="Nimbus Sans"/>
                <a:cs typeface="Nimbus Sans"/>
              </a:defRPr>
            </a:pPr>
            <a:r>
              <a:rPr sz="2100" b="0">
                <a:solidFill>
                  <a:srgbClr val="586779"/>
                </a:solidFill>
                <a:latin typeface="Nimbus Sans"/>
                <a:ea typeface="Nimbus Sans"/>
                <a:cs typeface="Nimbus Sans"/>
              </a:rPr>
              <a:t>Ważona suma wejść i funkcja aktywacji</a:t>
            </a:r>
          </a:p>
        </p:txBody>
      </p:sp>
      <p:sp>
        <p:nvSpPr>
          <p:cNvPr id="7" name="text-6">
            <a:extLst>
              <a:ext uri="{FF2B5EF4-FFF2-40B4-BE49-F238E27FC236}">
                <a16:creationId xmlns:a16="http://schemas.microsoft.com/office/drawing/2014/main" id="{AB17CC55-6A42-41E8-995E-0A6DEB14EEE6}"/>
              </a:ext>
            </a:extLst>
          </p:cNvPr>
          <p:cNvSpPr>
            <a:spLocks noGrp="1"/>
          </p:cNvSpPr>
          <p:nvPr/>
        </p:nvSpPr>
        <p:spPr>
          <a:xfrm>
            <a:off x="628650"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Parametry</a:t>
            </a:r>
          </a:p>
        </p:txBody>
      </p:sp>
      <p:sp>
        <p:nvSpPr>
          <p:cNvPr id="8" name="text-7">
            <a:extLst>
              <a:ext uri="{FF2B5EF4-FFF2-40B4-BE49-F238E27FC236}">
                <a16:creationId xmlns:a16="http://schemas.microsoft.com/office/drawing/2014/main" id="{747CC297-8B9D-4E49-A9C2-B380A26FA961}"/>
              </a:ext>
            </a:extLst>
          </p:cNvPr>
          <p:cNvSpPr>
            <a:spLocks noGrp="1"/>
          </p:cNvSpPr>
          <p:nvPr/>
        </p:nvSpPr>
        <p:spPr>
          <a:xfrm>
            <a:off x="628650"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Wagi w i bias b są uczone na danych.</a:t>
            </a:r>
          </a:p>
        </p:txBody>
      </p:sp>
      <p:sp>
        <p:nvSpPr>
          <p:cNvPr id="9" name="text-8">
            <a:extLst>
              <a:ext uri="{FF2B5EF4-FFF2-40B4-BE49-F238E27FC236}">
                <a16:creationId xmlns:a16="http://schemas.microsoft.com/office/drawing/2014/main" id="{93410D36-B2F2-495F-AA11-57CB6BA36CA0}"/>
              </a:ext>
            </a:extLst>
          </p:cNvPr>
          <p:cNvSpPr>
            <a:spLocks noGrp="1"/>
          </p:cNvSpPr>
          <p:nvPr/>
        </p:nvSpPr>
        <p:spPr>
          <a:xfrm>
            <a:off x="6505575" y="4191000"/>
            <a:ext cx="5076825"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Nieliniowość</a:t>
            </a:r>
          </a:p>
        </p:txBody>
      </p:sp>
      <p:sp>
        <p:nvSpPr>
          <p:cNvPr id="10" name="text-9">
            <a:extLst>
              <a:ext uri="{FF2B5EF4-FFF2-40B4-BE49-F238E27FC236}">
                <a16:creationId xmlns:a16="http://schemas.microsoft.com/office/drawing/2014/main" id="{C8381252-FCC8-4EF9-A8AF-3FEDEB154324}"/>
              </a:ext>
            </a:extLst>
          </p:cNvPr>
          <p:cNvSpPr>
            <a:spLocks noGrp="1"/>
          </p:cNvSpPr>
          <p:nvPr/>
        </p:nvSpPr>
        <p:spPr>
          <a:xfrm>
            <a:off x="6505575" y="4791075"/>
            <a:ext cx="5076825"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Aktywacja pozwala budować nieliniowe zależności.</a:t>
            </a:r>
          </a:p>
        </p:txBody>
      </p:sp>
    </p:spTree>
    <p:extLst>
      <p:ext uri="{BB962C8B-B14F-4D97-AF65-F5344CB8AC3E}">
        <p14:creationId xmlns:p14="http://schemas.microsoft.com/office/powerpoint/2010/main" val="10725437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D466D413-75D9-482B-8307-F7FF1402D285}"/>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05  /  SIECI NEURONOWE</a:t>
            </a:r>
          </a:p>
        </p:txBody>
      </p:sp>
      <p:sp>
        <p:nvSpPr>
          <p:cNvPr id="2" name="text-1">
            <a:extLst>
              <a:ext uri="{FF2B5EF4-FFF2-40B4-BE49-F238E27FC236}">
                <a16:creationId xmlns:a16="http://schemas.microsoft.com/office/drawing/2014/main" id="{B5145828-75C9-446F-AE9E-B7220CA8CA04}"/>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ReLU i sigmoida</a:t>
            </a:r>
          </a:p>
        </p:txBody>
      </p:sp>
      <p:sp>
        <p:nvSpPr>
          <p:cNvPr id="3" name="text-2">
            <a:extLst>
              <a:ext uri="{FF2B5EF4-FFF2-40B4-BE49-F238E27FC236}">
                <a16:creationId xmlns:a16="http://schemas.microsoft.com/office/drawing/2014/main" id="{B487E06A-CBE9-43A4-BAA8-C9AE61AEE371}"/>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61A81394-DD18-431A-852D-E9CFC761B239}"/>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69</a:t>
            </a:r>
          </a:p>
        </p:txBody>
      </p:sp>
      <p:graphicFrame>
        <p:nvGraphicFramePr>
          <p:cNvPr id="14" name="Chart"/>
          <p:cNvGraphicFramePr/>
          <p:nvPr/>
        </p:nvGraphicFramePr>
        <p:xfrm>
          <a:off x="542925" y="1924050"/>
          <a:ext cx="7648575" cy="39719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
            <a:extLst>
              <a:ext uri="{FF2B5EF4-FFF2-40B4-BE49-F238E27FC236}">
                <a16:creationId xmlns:a16="http://schemas.microsoft.com/office/drawing/2014/main" id="{9B99695A-6AC8-4515-9468-67E5731397F3}"/>
              </a:ext>
            </a:extLst>
          </p:cNvPr>
          <p:cNvSpPr>
            <a:spLocks noGrp="1"/>
          </p:cNvSpPr>
          <p:nvPr/>
        </p:nvSpPr>
        <p:spPr>
          <a:xfrm>
            <a:off x="8591550" y="2133600"/>
            <a:ext cx="29908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Wybór aktywacji</a:t>
            </a:r>
          </a:p>
        </p:txBody>
      </p:sp>
      <p:sp>
        <p:nvSpPr>
          <p:cNvPr id="7" name="text-5">
            <a:extLst>
              <a:ext uri="{FF2B5EF4-FFF2-40B4-BE49-F238E27FC236}">
                <a16:creationId xmlns:a16="http://schemas.microsoft.com/office/drawing/2014/main" id="{5D2BBBE7-7D04-49FE-A24D-2FF5E50649B7}"/>
              </a:ext>
            </a:extLst>
          </p:cNvPr>
          <p:cNvSpPr>
            <a:spLocks noGrp="1"/>
          </p:cNvSpPr>
          <p:nvPr/>
        </p:nvSpPr>
        <p:spPr>
          <a:xfrm>
            <a:off x="8591550" y="2733675"/>
            <a:ext cx="2990850" cy="992124"/>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ReLU jest częstym wyborem w warstwach ukrytych.</a:t>
            </a:r>
          </a:p>
        </p:txBody>
      </p:sp>
      <p:sp>
        <p:nvSpPr>
          <p:cNvPr id="8" name="text-6">
            <a:extLst>
              <a:ext uri="{FF2B5EF4-FFF2-40B4-BE49-F238E27FC236}">
                <a16:creationId xmlns:a16="http://schemas.microsoft.com/office/drawing/2014/main" id="{B7E0D55C-6E36-462A-93CC-F149B0682B16}"/>
              </a:ext>
            </a:extLst>
          </p:cNvPr>
          <p:cNvSpPr>
            <a:spLocks noGrp="1"/>
          </p:cNvSpPr>
          <p:nvPr/>
        </p:nvSpPr>
        <p:spPr>
          <a:xfrm>
            <a:off x="8591550" y="3897249"/>
            <a:ext cx="2990850" cy="992124"/>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Warstwa wyjściowa zależy od zadania i funkcji straty.</a:t>
            </a:r>
          </a:p>
        </p:txBody>
      </p:sp>
      <p:sp>
        <p:nvSpPr>
          <p:cNvPr id="9" name="text-7">
            <a:extLst>
              <a:ext uri="{FF2B5EF4-FFF2-40B4-BE49-F238E27FC236}">
                <a16:creationId xmlns:a16="http://schemas.microsoft.com/office/drawing/2014/main" id="{691ED54A-0AEC-4698-9717-2E9B20CBC3D8}"/>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Wykres funkcji matematycznych.</a:t>
            </a:r>
          </a:p>
        </p:txBody>
      </p:sp>
    </p:spTree>
    <p:extLst>
      <p:ext uri="{BB962C8B-B14F-4D97-AF65-F5344CB8AC3E}">
        <p14:creationId xmlns:p14="http://schemas.microsoft.com/office/powerpoint/2010/main" val="656315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EF3BAF5B-ADA2-4981-BDC5-849F5850091F}"/>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05  /  SIECI NEURONOWE</a:t>
            </a:r>
          </a:p>
        </p:txBody>
      </p:sp>
      <p:sp>
        <p:nvSpPr>
          <p:cNvPr id="2" name="text-1">
            <a:extLst>
              <a:ext uri="{FF2B5EF4-FFF2-40B4-BE49-F238E27FC236}">
                <a16:creationId xmlns:a16="http://schemas.microsoft.com/office/drawing/2014/main" id="{A4BB5918-CFFD-4CE2-97CD-FE459EFC7FB6}"/>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Sieć feedforward dla obrazów 8 × 8</a:t>
            </a:r>
          </a:p>
        </p:txBody>
      </p:sp>
      <p:sp>
        <p:nvSpPr>
          <p:cNvPr id="3" name="text-2">
            <a:extLst>
              <a:ext uri="{FF2B5EF4-FFF2-40B4-BE49-F238E27FC236}">
                <a16:creationId xmlns:a16="http://schemas.microsoft.com/office/drawing/2014/main" id="{24F97881-8ACB-406A-B7BD-AF192CB4035B}"/>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9CF88731-B84E-4DF5-8083-3D8FADD58C26}"/>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70</a:t>
            </a:r>
          </a:p>
        </p:txBody>
      </p:sp>
      <p:graphicFrame>
        <p:nvGraphicFramePr>
          <p:cNvPr id="11" name="Tabela 10"/>
          <p:cNvGraphicFramePr/>
          <p:nvPr/>
        </p:nvGraphicFramePr>
        <p:xfrm>
          <a:off x="609600" y="1971675"/>
          <a:ext cx="10972800"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685800">
                <a:tc>
                  <a:txBody>
                    <a:bodyPr/>
                    <a:lstStyle/>
                    <a:p>
                      <a:r>
                        <a:rPr sz="1725" b="1">
                          <a:solidFill>
                            <a:srgbClr val="FFFFFF"/>
                          </a:solidFill>
                          <a:latin typeface="Nimbus Sans"/>
                          <a:ea typeface="Nimbus Sans"/>
                          <a:cs typeface="Nimbus Sans"/>
                        </a:rPr>
                        <a:t>Warstwa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Wymiar</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Liczba parametrów</a:t>
                      </a:r>
                    </a:p>
                  </a:txBody>
                  <a:tcPr marL="133350" marR="114300" marT="123825" marB="104775" anchor="ctr">
                    <a:solidFill>
                      <a:srgbClr val="0B1426"/>
                    </a:solidFill>
                  </a:tcPr>
                </a:tc>
                <a:extLst>
                  <a:ext uri="{0D108BD9-81ED-4DB2-BD59-A6C34878D82A}">
                    <a16:rowId xmlns:a16="http://schemas.microsoft.com/office/drawing/2014/main" val="10000"/>
                  </a:ext>
                </a:extLst>
              </a:tr>
              <a:tr h="685800">
                <a:tc>
                  <a:txBody>
                    <a:bodyPr/>
                    <a:lstStyle/>
                    <a:p>
                      <a:r>
                        <a:rPr sz="1875" b="1">
                          <a:solidFill>
                            <a:srgbClr val="17243A"/>
                          </a:solidFill>
                          <a:latin typeface="Nimbus Sans"/>
                          <a:ea typeface="Nimbus Sans"/>
                          <a:cs typeface="Nimbus Sans"/>
                        </a:rPr>
                        <a:t>Wejście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64 cechy</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0</a:t>
                      </a:r>
                    </a:p>
                  </a:txBody>
                  <a:tcPr marL="133350" marR="114300" marT="123825" marB="104775" anchor="ctr">
                    <a:solidFill>
                      <a:srgbClr val="FFFFFF"/>
                    </a:solidFill>
                  </a:tcPr>
                </a:tc>
                <a:extLst>
                  <a:ext uri="{0D108BD9-81ED-4DB2-BD59-A6C34878D82A}">
                    <a16:rowId xmlns:a16="http://schemas.microsoft.com/office/drawing/2014/main" val="10001"/>
                  </a:ext>
                </a:extLst>
              </a:tr>
              <a:tr h="685800">
                <a:tc>
                  <a:txBody>
                    <a:bodyPr/>
                    <a:lstStyle/>
                    <a:p>
                      <a:r>
                        <a:rPr sz="1875" b="1">
                          <a:solidFill>
                            <a:srgbClr val="17243A"/>
                          </a:solidFill>
                          <a:latin typeface="Nimbus Sans"/>
                          <a:ea typeface="Nimbus Sans"/>
                          <a:cs typeface="Nimbus Sans"/>
                        </a:rPr>
                        <a:t>Ukryta 1 + ReLU</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64 neurony</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64 × 64 + 64 = 4160</a:t>
                      </a:r>
                    </a:p>
                  </a:txBody>
                  <a:tcPr marL="133350" marR="114300" marT="123825" marB="104775" anchor="ctr">
                    <a:solidFill>
                      <a:srgbClr val="E9EFED"/>
                    </a:solidFill>
                  </a:tcPr>
                </a:tc>
                <a:extLst>
                  <a:ext uri="{0D108BD9-81ED-4DB2-BD59-A6C34878D82A}">
                    <a16:rowId xmlns:a16="http://schemas.microsoft.com/office/drawing/2014/main" val="10002"/>
                  </a:ext>
                </a:extLst>
              </a:tr>
              <a:tr h="685800">
                <a:tc>
                  <a:txBody>
                    <a:bodyPr/>
                    <a:lstStyle/>
                    <a:p>
                      <a:r>
                        <a:rPr sz="1875" b="1">
                          <a:solidFill>
                            <a:srgbClr val="17243A"/>
                          </a:solidFill>
                          <a:latin typeface="Nimbus Sans"/>
                          <a:ea typeface="Nimbus Sans"/>
                          <a:cs typeface="Nimbus Sans"/>
                        </a:rPr>
                        <a:t>Ukryta 2 + ReLU</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32 neurony</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64 × 32 + 32 = 2080</a:t>
                      </a:r>
                    </a:p>
                  </a:txBody>
                  <a:tcPr marL="133350" marR="114300" marT="123825" marB="104775" anchor="ctr">
                    <a:solidFill>
                      <a:srgbClr val="FFFFFF"/>
                    </a:solidFill>
                  </a:tcPr>
                </a:tc>
                <a:extLst>
                  <a:ext uri="{0D108BD9-81ED-4DB2-BD59-A6C34878D82A}">
                    <a16:rowId xmlns:a16="http://schemas.microsoft.com/office/drawing/2014/main" val="10003"/>
                  </a:ext>
                </a:extLst>
              </a:tr>
              <a:tr h="685800">
                <a:tc>
                  <a:txBody>
                    <a:bodyPr/>
                    <a:lstStyle/>
                    <a:p>
                      <a:r>
                        <a:rPr sz="1875" b="1">
                          <a:solidFill>
                            <a:srgbClr val="17243A"/>
                          </a:solidFill>
                          <a:latin typeface="Nimbus Sans"/>
                          <a:ea typeface="Nimbus Sans"/>
                          <a:cs typeface="Nimbus Sans"/>
                        </a:rPr>
                        <a:t>Wyjście: 10 klas</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10 neuronów</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32 × 10 + 10 = 330</a:t>
                      </a:r>
                    </a:p>
                  </a:txBody>
                  <a:tcPr marL="133350" marR="114300" marT="123825" marB="104775" anchor="ctr">
                    <a:solidFill>
                      <a:srgbClr val="E9EFED"/>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9F092365-8CA5-48CF-944F-8347591E8867}"/>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Łącznie 6570 uczonych parametrów, razem z biasami.</a:t>
            </a:r>
          </a:p>
        </p:txBody>
      </p:sp>
    </p:spTree>
    <p:extLst>
      <p:ext uri="{BB962C8B-B14F-4D97-AF65-F5344CB8AC3E}">
        <p14:creationId xmlns:p14="http://schemas.microsoft.com/office/powerpoint/2010/main" val="2991688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8" name="text-0">
            <a:extLst>
              <a:ext uri="{FF2B5EF4-FFF2-40B4-BE49-F238E27FC236}">
                <a16:creationId xmlns:a16="http://schemas.microsoft.com/office/drawing/2014/main" id="{2FED4AEC-83B0-4F33-9ACF-56DDD826168B}"/>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05  /  SIECI NEURONOWE</a:t>
            </a:r>
          </a:p>
        </p:txBody>
      </p:sp>
      <p:sp>
        <p:nvSpPr>
          <p:cNvPr id="2" name="text-1">
            <a:extLst>
              <a:ext uri="{FF2B5EF4-FFF2-40B4-BE49-F238E27FC236}">
                <a16:creationId xmlns:a16="http://schemas.microsoft.com/office/drawing/2014/main" id="{CA2AC518-74E7-4A2E-AF81-510A987A41D3}"/>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Jedna iteracja uczenia</a:t>
            </a:r>
          </a:p>
        </p:txBody>
      </p:sp>
      <p:sp>
        <p:nvSpPr>
          <p:cNvPr id="3" name="text-2">
            <a:extLst>
              <a:ext uri="{FF2B5EF4-FFF2-40B4-BE49-F238E27FC236}">
                <a16:creationId xmlns:a16="http://schemas.microsoft.com/office/drawing/2014/main" id="{5E53E992-409C-425A-9D66-F6C8309F1827}"/>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59F507DD-4684-42BB-9BAF-9B3B4DEA7614}"/>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71</a:t>
            </a:r>
          </a:p>
        </p:txBody>
      </p:sp>
      <p:sp>
        <p:nvSpPr>
          <p:cNvPr id="5" name="text-4">
            <a:extLst>
              <a:ext uri="{FF2B5EF4-FFF2-40B4-BE49-F238E27FC236}">
                <a16:creationId xmlns:a16="http://schemas.microsoft.com/office/drawing/2014/main" id="{3D1F45FA-01C7-4988-8BB2-E0F634158DB4}"/>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6B848148-D28F-472A-B42A-2181EEE95B1C}"/>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Forward pass</a:t>
            </a:r>
          </a:p>
        </p:txBody>
      </p:sp>
      <p:sp>
        <p:nvSpPr>
          <p:cNvPr id="7" name="text-6">
            <a:extLst>
              <a:ext uri="{FF2B5EF4-FFF2-40B4-BE49-F238E27FC236}">
                <a16:creationId xmlns:a16="http://schemas.microsoft.com/office/drawing/2014/main" id="{444D5277-B20C-4749-8DCB-8F46EE34BD06}"/>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Sieć oblicza predykcje dla mini-batcha.</a:t>
            </a:r>
          </a:p>
        </p:txBody>
      </p:sp>
      <p:sp>
        <p:nvSpPr>
          <p:cNvPr id="8" name="text-7">
            <a:extLst>
              <a:ext uri="{FF2B5EF4-FFF2-40B4-BE49-F238E27FC236}">
                <a16:creationId xmlns:a16="http://schemas.microsoft.com/office/drawing/2014/main" id="{7BC631F0-1A5A-4F62-8F83-1B6DBD5614C3}"/>
              </a:ext>
            </a:extLst>
          </p:cNvPr>
          <p:cNvSpPr>
            <a:spLocks noGrp="1"/>
          </p:cNvSpPr>
          <p:nvPr/>
        </p:nvSpPr>
        <p:spPr>
          <a:xfrm>
            <a:off x="609600" y="29432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06C64B3A-7D28-4326-840F-B6B7BC8407FF}"/>
              </a:ext>
            </a:extLst>
          </p:cNvPr>
          <p:cNvSpPr>
            <a:spLocks noGrp="1"/>
          </p:cNvSpPr>
          <p:nvPr/>
        </p:nvSpPr>
        <p:spPr>
          <a:xfrm>
            <a:off x="1562100" y="29432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Funkcja straty</a:t>
            </a:r>
          </a:p>
        </p:txBody>
      </p:sp>
      <p:sp>
        <p:nvSpPr>
          <p:cNvPr id="10" name="text-9">
            <a:extLst>
              <a:ext uri="{FF2B5EF4-FFF2-40B4-BE49-F238E27FC236}">
                <a16:creationId xmlns:a16="http://schemas.microsoft.com/office/drawing/2014/main" id="{7902977A-9E94-4622-963E-A2D0D036F6F0}"/>
              </a:ext>
            </a:extLst>
          </p:cNvPr>
          <p:cNvSpPr>
            <a:spLocks noGrp="1"/>
          </p:cNvSpPr>
          <p:nvPr/>
        </p:nvSpPr>
        <p:spPr>
          <a:xfrm>
            <a:off x="1562100" y="33147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Porównuje predykcje z etykietami.</a:t>
            </a:r>
          </a:p>
        </p:txBody>
      </p:sp>
      <p:sp>
        <p:nvSpPr>
          <p:cNvPr id="11" name="text-10">
            <a:extLst>
              <a:ext uri="{FF2B5EF4-FFF2-40B4-BE49-F238E27FC236}">
                <a16:creationId xmlns:a16="http://schemas.microsoft.com/office/drawing/2014/main" id="{ABADF7B6-1ADE-42F7-9B66-C009D9359CCA}"/>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FE96898F-2023-4D99-821E-174A05BA0E7B}"/>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Backpropagation</a:t>
            </a:r>
          </a:p>
        </p:txBody>
      </p:sp>
      <p:sp>
        <p:nvSpPr>
          <p:cNvPr id="13" name="text-12">
            <a:extLst>
              <a:ext uri="{FF2B5EF4-FFF2-40B4-BE49-F238E27FC236}">
                <a16:creationId xmlns:a16="http://schemas.microsoft.com/office/drawing/2014/main" id="{B831C37A-770B-416C-B15C-030E71F84930}"/>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Reguła łańcuchowa wyznacza gradienty parametrów.</a:t>
            </a:r>
          </a:p>
        </p:txBody>
      </p:sp>
      <p:sp>
        <p:nvSpPr>
          <p:cNvPr id="14" name="text-13">
            <a:extLst>
              <a:ext uri="{FF2B5EF4-FFF2-40B4-BE49-F238E27FC236}">
                <a16:creationId xmlns:a16="http://schemas.microsoft.com/office/drawing/2014/main" id="{55825C3E-5639-48B1-9B28-43F93F638266}"/>
              </a:ext>
            </a:extLst>
          </p:cNvPr>
          <p:cNvSpPr>
            <a:spLocks noGrp="1"/>
          </p:cNvSpPr>
          <p:nvPr/>
        </p:nvSpPr>
        <p:spPr>
          <a:xfrm>
            <a:off x="609600" y="50006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8027A55B-CD36-4D27-9E92-B8FE8878B20B}"/>
              </a:ext>
            </a:extLst>
          </p:cNvPr>
          <p:cNvSpPr>
            <a:spLocks noGrp="1"/>
          </p:cNvSpPr>
          <p:nvPr/>
        </p:nvSpPr>
        <p:spPr>
          <a:xfrm>
            <a:off x="1562100" y="50006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Aktualizacja</a:t>
            </a:r>
          </a:p>
        </p:txBody>
      </p:sp>
      <p:sp>
        <p:nvSpPr>
          <p:cNvPr id="16" name="text-15">
            <a:extLst>
              <a:ext uri="{FF2B5EF4-FFF2-40B4-BE49-F238E27FC236}">
                <a16:creationId xmlns:a16="http://schemas.microsoft.com/office/drawing/2014/main" id="{C4AA2C18-CB15-497C-9B7B-192C9C73CA20}"/>
              </a:ext>
            </a:extLst>
          </p:cNvPr>
          <p:cNvSpPr>
            <a:spLocks noGrp="1"/>
          </p:cNvSpPr>
          <p:nvPr/>
        </p:nvSpPr>
        <p:spPr>
          <a:xfrm>
            <a:off x="1562100" y="53721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Optymalizator zmienia wagi na podstawie gradientów.</a:t>
            </a:r>
          </a:p>
        </p:txBody>
      </p:sp>
      <p:sp>
        <p:nvSpPr>
          <p:cNvPr id="17" name="text-16">
            <a:extLst>
              <a:ext uri="{FF2B5EF4-FFF2-40B4-BE49-F238E27FC236}">
                <a16:creationId xmlns:a16="http://schemas.microsoft.com/office/drawing/2014/main" id="{3221BCFB-3FDA-4BE8-A457-424F61D0BA8C}"/>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Epoka oznacza jedno przejście przez zbiór treningowy.</a:t>
            </a:r>
          </a:p>
        </p:txBody>
      </p:sp>
    </p:spTree>
    <p:extLst>
      <p:ext uri="{BB962C8B-B14F-4D97-AF65-F5344CB8AC3E}">
        <p14:creationId xmlns:p14="http://schemas.microsoft.com/office/powerpoint/2010/main" val="16719482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19979146-407A-4B08-B11D-B3FC1A83FD4A}"/>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05  /  SIECI NEURONOWE</a:t>
            </a:r>
          </a:p>
        </p:txBody>
      </p:sp>
      <p:sp>
        <p:nvSpPr>
          <p:cNvPr id="2" name="text-1">
            <a:extLst>
              <a:ext uri="{FF2B5EF4-FFF2-40B4-BE49-F238E27FC236}">
                <a16:creationId xmlns:a16="http://schemas.microsoft.com/office/drawing/2014/main" id="{1526D415-D2EA-4F1D-8EA3-ACC15B4AD8B3}"/>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Krzywe uczenia sieci</a:t>
            </a:r>
          </a:p>
        </p:txBody>
      </p:sp>
      <p:sp>
        <p:nvSpPr>
          <p:cNvPr id="3" name="text-2">
            <a:extLst>
              <a:ext uri="{FF2B5EF4-FFF2-40B4-BE49-F238E27FC236}">
                <a16:creationId xmlns:a16="http://schemas.microsoft.com/office/drawing/2014/main" id="{C39D9879-DAF0-42CA-BB3D-245F8774DDA2}"/>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8BBA293F-6A56-4D09-8FC4-5625E925F6B7}"/>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72</a:t>
            </a:r>
          </a:p>
        </p:txBody>
      </p:sp>
      <p:graphicFrame>
        <p:nvGraphicFramePr>
          <p:cNvPr id="14" name="Chart"/>
          <p:cNvGraphicFramePr/>
          <p:nvPr/>
        </p:nvGraphicFramePr>
        <p:xfrm>
          <a:off x="542925" y="1924050"/>
          <a:ext cx="7648575" cy="39719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
            <a:extLst>
              <a:ext uri="{FF2B5EF4-FFF2-40B4-BE49-F238E27FC236}">
                <a16:creationId xmlns:a16="http://schemas.microsoft.com/office/drawing/2014/main" id="{E045DAEA-043C-4028-A39E-6D0CBD25A83C}"/>
              </a:ext>
            </a:extLst>
          </p:cNvPr>
          <p:cNvSpPr>
            <a:spLocks noGrp="1"/>
          </p:cNvSpPr>
          <p:nvPr/>
        </p:nvSpPr>
        <p:spPr>
          <a:xfrm>
            <a:off x="8591550" y="2133600"/>
            <a:ext cx="29908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Moment zatrzymania</a:t>
            </a:r>
          </a:p>
        </p:txBody>
      </p:sp>
      <p:sp>
        <p:nvSpPr>
          <p:cNvPr id="7" name="text-5">
            <a:extLst>
              <a:ext uri="{FF2B5EF4-FFF2-40B4-BE49-F238E27FC236}">
                <a16:creationId xmlns:a16="http://schemas.microsoft.com/office/drawing/2014/main" id="{498060E5-03D6-46CC-9BAB-52F49D850764}"/>
              </a:ext>
            </a:extLst>
          </p:cNvPr>
          <p:cNvSpPr>
            <a:spLocks noGrp="1"/>
          </p:cNvSpPr>
          <p:nvPr/>
        </p:nvSpPr>
        <p:spPr>
          <a:xfrm>
            <a:off x="8591550" y="2733675"/>
            <a:ext cx="2990850" cy="1294257"/>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Trening nadal poprawia dopasowanie, ale walidacja zaczyna się pogarszać.</a:t>
            </a:r>
          </a:p>
        </p:txBody>
      </p:sp>
      <p:sp>
        <p:nvSpPr>
          <p:cNvPr id="8" name="text-6">
            <a:extLst>
              <a:ext uri="{FF2B5EF4-FFF2-40B4-BE49-F238E27FC236}">
                <a16:creationId xmlns:a16="http://schemas.microsoft.com/office/drawing/2014/main" id="{403EF07A-078A-48F5-9C43-66EF2B919DEE}"/>
              </a:ext>
            </a:extLst>
          </p:cNvPr>
          <p:cNvSpPr>
            <a:spLocks noGrp="1"/>
          </p:cNvSpPr>
          <p:nvPr/>
        </p:nvSpPr>
        <p:spPr>
          <a:xfrm>
            <a:off x="8591550" y="4199382"/>
            <a:ext cx="2990850" cy="992124"/>
          </a:xfrm>
          <a:prstGeom prst="rect">
            <a:avLst/>
          </a:prstGeom>
          <a:noFill/>
          <a:ln w="0">
            <a:noFill/>
          </a:ln>
        </p:spPr>
        <p:txBody>
          <a:bodyPr wrap="square" lIns="0" tIns="0" rIns="0" bIns="0" anchor="t">
            <a:noAutofit/>
          </a:bodyPr>
          <a:lstStyle/>
          <a:p>
            <a:pPr>
              <a:defRPr sz="1950" b="0">
                <a:solidFill>
                  <a:srgbClr val="17243A"/>
                </a:solidFill>
                <a:latin typeface="Nimbus Sans"/>
                <a:ea typeface="Nimbus Sans"/>
                <a:cs typeface="Nimbus Sans"/>
              </a:defRPr>
            </a:pPr>
            <a:r>
              <a:rPr sz="1950" b="0">
                <a:solidFill>
                  <a:srgbClr val="17243A"/>
                </a:solidFill>
                <a:latin typeface="Nimbus Sans"/>
                <a:ea typeface="Nimbus Sans"/>
                <a:cs typeface="Nimbus Sans"/>
              </a:rPr>
              <a:t>Zachowujemy najlepszą wersję według ustalonej metryki.</a:t>
            </a:r>
          </a:p>
        </p:txBody>
      </p:sp>
      <p:sp>
        <p:nvSpPr>
          <p:cNvPr id="9" name="text-7">
            <a:extLst>
              <a:ext uri="{FF2B5EF4-FFF2-40B4-BE49-F238E27FC236}">
                <a16:creationId xmlns:a16="http://schemas.microsoft.com/office/drawing/2014/main" id="{883EA570-78D6-4288-A8B4-DFB3D8387D03}"/>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Dane ilustracyjne. To schemat, nie wynik konkretnego treningu.</a:t>
            </a:r>
          </a:p>
        </p:txBody>
      </p:sp>
    </p:spTree>
    <p:extLst>
      <p:ext uri="{BB962C8B-B14F-4D97-AF65-F5344CB8AC3E}">
        <p14:creationId xmlns:p14="http://schemas.microsoft.com/office/powerpoint/2010/main" val="18544453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7E6DF2B6-1A86-4DA3-82AA-BFF8466B4554}"/>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05  /  SIECI NEURONOWE</a:t>
            </a:r>
          </a:p>
        </p:txBody>
      </p:sp>
      <p:sp>
        <p:nvSpPr>
          <p:cNvPr id="2" name="text-1">
            <a:extLst>
              <a:ext uri="{FF2B5EF4-FFF2-40B4-BE49-F238E27FC236}">
                <a16:creationId xmlns:a16="http://schemas.microsoft.com/office/drawing/2014/main" id="{0DFD0FCE-99E6-4969-A8D9-9E4DD22C68DC}"/>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Ograniczanie przeuczenia sieci</a:t>
            </a:r>
          </a:p>
        </p:txBody>
      </p:sp>
      <p:sp>
        <p:nvSpPr>
          <p:cNvPr id="3" name="text-2">
            <a:extLst>
              <a:ext uri="{FF2B5EF4-FFF2-40B4-BE49-F238E27FC236}">
                <a16:creationId xmlns:a16="http://schemas.microsoft.com/office/drawing/2014/main" id="{E6DE1C09-335A-4E5A-9866-8FE7B4D93D2B}"/>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11B4F047-0213-47C9-BA64-545D3F12C357}"/>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73</a:t>
            </a:r>
          </a:p>
        </p:txBody>
      </p:sp>
      <p:sp>
        <p:nvSpPr>
          <p:cNvPr id="5" name="text-4">
            <a:extLst>
              <a:ext uri="{FF2B5EF4-FFF2-40B4-BE49-F238E27FC236}">
                <a16:creationId xmlns:a16="http://schemas.microsoft.com/office/drawing/2014/main" id="{AEFC43D1-EFAF-491F-B5E8-38EDB0DFB22A}"/>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ZŁOŻONOŚĆ MODELU</a:t>
            </a:r>
          </a:p>
        </p:txBody>
      </p:sp>
      <p:sp>
        <p:nvSpPr>
          <p:cNvPr id="6" name="text-5">
            <a:extLst>
              <a:ext uri="{FF2B5EF4-FFF2-40B4-BE49-F238E27FC236}">
                <a16:creationId xmlns:a16="http://schemas.microsoft.com/office/drawing/2014/main" id="{69CB65CF-54BD-4074-83C3-D522BB5B04D0}"/>
              </a:ext>
            </a:extLst>
          </p:cNvPr>
          <p:cNvSpPr>
            <a:spLocks noGrp="1"/>
          </p:cNvSpPr>
          <p:nvPr/>
        </p:nvSpPr>
        <p:spPr>
          <a:xfrm>
            <a:off x="609600" y="267652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Mniejsza liczba warstw lub neuronów</a:t>
            </a:r>
          </a:p>
        </p:txBody>
      </p:sp>
      <p:sp>
        <p:nvSpPr>
          <p:cNvPr id="7" name="text-6">
            <a:extLst>
              <a:ext uri="{FF2B5EF4-FFF2-40B4-BE49-F238E27FC236}">
                <a16:creationId xmlns:a16="http://schemas.microsoft.com/office/drawing/2014/main" id="{777EFB07-8144-46AC-BB2B-FF23AE705E6F}"/>
              </a:ext>
            </a:extLst>
          </p:cNvPr>
          <p:cNvSpPr>
            <a:spLocks noGrp="1"/>
          </p:cNvSpPr>
          <p:nvPr/>
        </p:nvSpPr>
        <p:spPr>
          <a:xfrm>
            <a:off x="609600" y="3270695"/>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Regularyzacja L2</a:t>
            </a:r>
          </a:p>
        </p:txBody>
      </p:sp>
      <p:sp>
        <p:nvSpPr>
          <p:cNvPr id="8" name="text-7">
            <a:extLst>
              <a:ext uri="{FF2B5EF4-FFF2-40B4-BE49-F238E27FC236}">
                <a16:creationId xmlns:a16="http://schemas.microsoft.com/office/drawing/2014/main" id="{775A72A7-744E-422A-B826-5F11FE0882DE}"/>
              </a:ext>
            </a:extLst>
          </p:cNvPr>
          <p:cNvSpPr>
            <a:spLocks noGrp="1"/>
          </p:cNvSpPr>
          <p:nvPr/>
        </p:nvSpPr>
        <p:spPr>
          <a:xfrm>
            <a:off x="609600" y="3864864"/>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Early stopping</a:t>
            </a:r>
          </a:p>
        </p:txBody>
      </p:sp>
      <p:sp>
        <p:nvSpPr>
          <p:cNvPr id="9" name="text-8">
            <a:extLst>
              <a:ext uri="{FF2B5EF4-FFF2-40B4-BE49-F238E27FC236}">
                <a16:creationId xmlns:a16="http://schemas.microsoft.com/office/drawing/2014/main" id="{6CEF06DB-3FE7-4FDE-92C0-089E64E49CB8}"/>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JAKOŚĆ EKSPERYMENTU</a:t>
            </a:r>
          </a:p>
        </p:txBody>
      </p:sp>
      <p:sp>
        <p:nvSpPr>
          <p:cNvPr id="10" name="text-9">
            <a:extLst>
              <a:ext uri="{FF2B5EF4-FFF2-40B4-BE49-F238E27FC236}">
                <a16:creationId xmlns:a16="http://schemas.microsoft.com/office/drawing/2014/main" id="{4118B6A1-3CEB-4866-87DB-DF2127CC356C}"/>
              </a:ext>
            </a:extLst>
          </p:cNvPr>
          <p:cNvSpPr>
            <a:spLocks noGrp="1"/>
          </p:cNvSpPr>
          <p:nvPr/>
        </p:nvSpPr>
        <p:spPr>
          <a:xfrm>
            <a:off x="6515100" y="267652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Skalowanie cech</a:t>
            </a:r>
          </a:p>
        </p:txBody>
      </p:sp>
      <p:sp>
        <p:nvSpPr>
          <p:cNvPr id="11" name="text-10">
            <a:extLst>
              <a:ext uri="{FF2B5EF4-FFF2-40B4-BE49-F238E27FC236}">
                <a16:creationId xmlns:a16="http://schemas.microsoft.com/office/drawing/2014/main" id="{87199F1F-DF41-49F4-8F83-077DD8C22CC2}"/>
              </a:ext>
            </a:extLst>
          </p:cNvPr>
          <p:cNvSpPr>
            <a:spLocks noGrp="1"/>
          </p:cNvSpPr>
          <p:nvPr/>
        </p:nvSpPr>
        <p:spPr>
          <a:xfrm>
            <a:off x="6515100" y="3270695"/>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Reprezentatywna walidacja</a:t>
            </a:r>
          </a:p>
        </p:txBody>
      </p:sp>
      <p:sp>
        <p:nvSpPr>
          <p:cNvPr id="12" name="text-11">
            <a:extLst>
              <a:ext uri="{FF2B5EF4-FFF2-40B4-BE49-F238E27FC236}">
                <a16:creationId xmlns:a16="http://schemas.microsoft.com/office/drawing/2014/main" id="{A7DFA3E8-3E33-4B52-A152-29F7BFAE3F19}"/>
              </a:ext>
            </a:extLst>
          </p:cNvPr>
          <p:cNvSpPr>
            <a:spLocks noGrp="1"/>
          </p:cNvSpPr>
          <p:nvPr/>
        </p:nvSpPr>
        <p:spPr>
          <a:xfrm>
            <a:off x="6515100" y="3864864"/>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Kontrola błędów i niezbalansowania klas</a:t>
            </a:r>
          </a:p>
        </p:txBody>
      </p:sp>
    </p:spTree>
    <p:extLst>
      <p:ext uri="{BB962C8B-B14F-4D97-AF65-F5344CB8AC3E}">
        <p14:creationId xmlns:p14="http://schemas.microsoft.com/office/powerpoint/2010/main" val="4398784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1A7788CF-1684-42A6-B766-2687ECBAD5CA}"/>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05  /  SIECI NEURONOWE</a:t>
            </a:r>
          </a:p>
        </p:txBody>
      </p:sp>
      <p:sp>
        <p:nvSpPr>
          <p:cNvPr id="2" name="text-1">
            <a:extLst>
              <a:ext uri="{FF2B5EF4-FFF2-40B4-BE49-F238E27FC236}">
                <a16:creationId xmlns:a16="http://schemas.microsoft.com/office/drawing/2014/main" id="{E6131CFD-ADB3-4097-B511-F21B1FF4CEEB}"/>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Obraz jako dane wejściowe</a:t>
            </a:r>
          </a:p>
        </p:txBody>
      </p:sp>
      <p:sp>
        <p:nvSpPr>
          <p:cNvPr id="3" name="text-2">
            <a:extLst>
              <a:ext uri="{FF2B5EF4-FFF2-40B4-BE49-F238E27FC236}">
                <a16:creationId xmlns:a16="http://schemas.microsoft.com/office/drawing/2014/main" id="{37B75897-4952-4DD9-A5A8-AA87B8EC0BC6}"/>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2FD27BEC-462F-4F1F-9FDE-E7018AAC0B66}"/>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74</a:t>
            </a:r>
          </a:p>
        </p:txBody>
      </p:sp>
      <p:sp>
        <p:nvSpPr>
          <p:cNvPr id="5" name="text-4">
            <a:extLst>
              <a:ext uri="{FF2B5EF4-FFF2-40B4-BE49-F238E27FC236}">
                <a16:creationId xmlns:a16="http://schemas.microsoft.com/office/drawing/2014/main" id="{4E1B67B5-5B69-4633-8B82-DC5F01CD258A}"/>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REPREZENTACJA</a:t>
            </a:r>
          </a:p>
        </p:txBody>
      </p:sp>
      <p:sp>
        <p:nvSpPr>
          <p:cNvPr id="6" name="text-5">
            <a:extLst>
              <a:ext uri="{FF2B5EF4-FFF2-40B4-BE49-F238E27FC236}">
                <a16:creationId xmlns:a16="http://schemas.microsoft.com/office/drawing/2014/main" id="{EA6E16B8-CEC0-40F9-9355-9E401BAB61A3}"/>
              </a:ext>
            </a:extLst>
          </p:cNvPr>
          <p:cNvSpPr>
            <a:spLocks noGrp="1"/>
          </p:cNvSpPr>
          <p:nvPr/>
        </p:nvSpPr>
        <p:spPr>
          <a:xfrm>
            <a:off x="609600" y="267652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Obraz 8 × 8 daje 64 wartości pikseli.</a:t>
            </a:r>
          </a:p>
        </p:txBody>
      </p:sp>
      <p:sp>
        <p:nvSpPr>
          <p:cNvPr id="7" name="text-6">
            <a:extLst>
              <a:ext uri="{FF2B5EF4-FFF2-40B4-BE49-F238E27FC236}">
                <a16:creationId xmlns:a16="http://schemas.microsoft.com/office/drawing/2014/main" id="{84692C65-9E15-4A52-8E0D-3CC9EB9E9D41}"/>
              </a:ext>
            </a:extLst>
          </p:cNvPr>
          <p:cNvSpPr>
            <a:spLocks noGrp="1"/>
          </p:cNvSpPr>
          <p:nvPr/>
        </p:nvSpPr>
        <p:spPr>
          <a:xfrm>
            <a:off x="609600" y="3607689"/>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Normalizacja ustala skalę wejścia.</a:t>
            </a:r>
          </a:p>
        </p:txBody>
      </p:sp>
      <p:sp>
        <p:nvSpPr>
          <p:cNvPr id="8" name="text-7">
            <a:extLst>
              <a:ext uri="{FF2B5EF4-FFF2-40B4-BE49-F238E27FC236}">
                <a16:creationId xmlns:a16="http://schemas.microsoft.com/office/drawing/2014/main" id="{3B07323B-1B22-4F99-8C17-2CFF63785A82}"/>
              </a:ext>
            </a:extLst>
          </p:cNvPr>
          <p:cNvSpPr>
            <a:spLocks noGrp="1"/>
          </p:cNvSpPr>
          <p:nvPr/>
        </p:nvSpPr>
        <p:spPr>
          <a:xfrm>
            <a:off x="609600" y="4201859"/>
            <a:ext cx="508635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Spłaszczenie pozwala użyć MLP.</a:t>
            </a:r>
          </a:p>
        </p:txBody>
      </p:sp>
      <p:sp>
        <p:nvSpPr>
          <p:cNvPr id="9" name="text-8">
            <a:extLst>
              <a:ext uri="{FF2B5EF4-FFF2-40B4-BE49-F238E27FC236}">
                <a16:creationId xmlns:a16="http://schemas.microsoft.com/office/drawing/2014/main" id="{1CB43F6C-8D12-40BE-B9BD-94D43C19B0CC}"/>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STRUKTURA OBRAZU</a:t>
            </a:r>
          </a:p>
        </p:txBody>
      </p:sp>
      <p:sp>
        <p:nvSpPr>
          <p:cNvPr id="10" name="text-9">
            <a:extLst>
              <a:ext uri="{FF2B5EF4-FFF2-40B4-BE49-F238E27FC236}">
                <a16:creationId xmlns:a16="http://schemas.microsoft.com/office/drawing/2014/main" id="{A8A73974-BE93-4AAA-855D-711C170F5009}"/>
              </a:ext>
            </a:extLst>
          </p:cNvPr>
          <p:cNvSpPr>
            <a:spLocks noGrp="1"/>
          </p:cNvSpPr>
          <p:nvPr/>
        </p:nvSpPr>
        <p:spPr>
          <a:xfrm>
            <a:off x="6515100" y="267652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Sąsiedztwo pikseli zawiera informację.</a:t>
            </a:r>
          </a:p>
        </p:txBody>
      </p:sp>
      <p:sp>
        <p:nvSpPr>
          <p:cNvPr id="11" name="text-10">
            <a:extLst>
              <a:ext uri="{FF2B5EF4-FFF2-40B4-BE49-F238E27FC236}">
                <a16:creationId xmlns:a16="http://schemas.microsoft.com/office/drawing/2014/main" id="{31086EEB-9BE6-4BE0-9359-5C45028E5B9D}"/>
              </a:ext>
            </a:extLst>
          </p:cNvPr>
          <p:cNvSpPr>
            <a:spLocks noGrp="1"/>
          </p:cNvSpPr>
          <p:nvPr/>
        </p:nvSpPr>
        <p:spPr>
          <a:xfrm>
            <a:off x="6515100" y="3607689"/>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CNN wykorzystują lokalne filtry.</a:t>
            </a:r>
          </a:p>
        </p:txBody>
      </p:sp>
      <p:sp>
        <p:nvSpPr>
          <p:cNvPr id="12" name="text-11">
            <a:extLst>
              <a:ext uri="{FF2B5EF4-FFF2-40B4-BE49-F238E27FC236}">
                <a16:creationId xmlns:a16="http://schemas.microsoft.com/office/drawing/2014/main" id="{C4889100-787B-419D-A96B-CC80FE1ED8F7}"/>
              </a:ext>
            </a:extLst>
          </p:cNvPr>
          <p:cNvSpPr>
            <a:spLocks noGrp="1"/>
          </p:cNvSpPr>
          <p:nvPr/>
        </p:nvSpPr>
        <p:spPr>
          <a:xfrm>
            <a:off x="6515100" y="4201859"/>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Podział danych powinien rozdzielać powiązane obrazy.</a:t>
            </a:r>
          </a:p>
        </p:txBody>
      </p:sp>
    </p:spTree>
    <p:extLst>
      <p:ext uri="{BB962C8B-B14F-4D97-AF65-F5344CB8AC3E}">
        <p14:creationId xmlns:p14="http://schemas.microsoft.com/office/powerpoint/2010/main" val="7833652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BB5E808D-B4A5-466C-8177-A66C8F0E0939}"/>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428CBA75-E90D-441C-8C57-0486E0AA6229}"/>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75</a:t>
            </a:r>
          </a:p>
        </p:txBody>
      </p:sp>
      <p:sp>
        <p:nvSpPr>
          <p:cNvPr id="3" name="text-2">
            <a:extLst>
              <a:ext uri="{FF2B5EF4-FFF2-40B4-BE49-F238E27FC236}">
                <a16:creationId xmlns:a16="http://schemas.microsoft.com/office/drawing/2014/main" id="{E3099BFF-AE7A-4BBB-B3E4-021CCF74FA41}"/>
              </a:ext>
            </a:extLst>
          </p:cNvPr>
          <p:cNvSpPr>
            <a:spLocks noGrp="1"/>
          </p:cNvSpPr>
          <p:nvPr/>
        </p:nvSpPr>
        <p:spPr>
          <a:xfrm>
            <a:off x="609600" y="352425"/>
            <a:ext cx="10972800" cy="238125"/>
          </a:xfrm>
          <a:prstGeom prst="rect">
            <a:avLst/>
          </a:prstGeom>
          <a:noFill/>
          <a:ln w="0">
            <a:noFill/>
          </a:ln>
        </p:spPr>
        <p:txBody>
          <a:bodyPr wrap="square" lIns="0" tIns="0" rIns="0" bIns="0" anchor="t">
            <a:noAutofit/>
          </a:bodyPr>
          <a:lstStyle/>
          <a:p>
            <a:pPr>
              <a:defRPr sz="1125" b="1">
                <a:solidFill>
                  <a:srgbClr val="62DCCB"/>
                </a:solidFill>
                <a:latin typeface="Nimbus Sans"/>
                <a:ea typeface="Nimbus Sans"/>
                <a:cs typeface="Nimbus Sans"/>
              </a:defRPr>
            </a:pPr>
            <a:r>
              <a:rPr sz="1125" b="1">
                <a:solidFill>
                  <a:srgbClr val="62DCCB"/>
                </a:solidFill>
                <a:latin typeface="Nimbus Sans"/>
                <a:ea typeface="Nimbus Sans"/>
                <a:cs typeface="Nimbus Sans"/>
              </a:rPr>
              <a:t>PYTHON  /  05  /  SIECI NEURONOWE</a:t>
            </a:r>
          </a:p>
        </p:txBody>
      </p:sp>
      <p:sp>
        <p:nvSpPr>
          <p:cNvPr id="4" name="text-3">
            <a:extLst>
              <a:ext uri="{FF2B5EF4-FFF2-40B4-BE49-F238E27FC236}">
                <a16:creationId xmlns:a16="http://schemas.microsoft.com/office/drawing/2014/main" id="{9EA3C52A-A39D-4692-A6B5-F8271B0CAD38}"/>
              </a:ext>
            </a:extLst>
          </p:cNvPr>
          <p:cNvSpPr>
            <a:spLocks noGrp="1"/>
          </p:cNvSpPr>
          <p:nvPr/>
        </p:nvSpPr>
        <p:spPr>
          <a:xfrm>
            <a:off x="609600" y="828675"/>
            <a:ext cx="10972800" cy="1047750"/>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Klasyfikacja cyfr z użyciem MLP</a:t>
            </a:r>
          </a:p>
        </p:txBody>
      </p:sp>
      <p:sp>
        <p:nvSpPr>
          <p:cNvPr id="5" name="text-4">
            <a:extLst>
              <a:ext uri="{FF2B5EF4-FFF2-40B4-BE49-F238E27FC236}">
                <a16:creationId xmlns:a16="http://schemas.microsoft.com/office/drawing/2014/main" id="{D3C9E16F-BEAF-46CE-8756-B674C0D2E440}"/>
              </a:ext>
            </a:extLst>
          </p:cNvPr>
          <p:cNvSpPr>
            <a:spLocks noGrp="1"/>
          </p:cNvSpPr>
          <p:nvPr/>
        </p:nvSpPr>
        <p:spPr>
          <a:xfrm>
            <a:off x="609600" y="2095500"/>
            <a:ext cx="7839075" cy="3838575"/>
          </a:xfrm>
          <a:prstGeom prst="rect">
            <a:avLst/>
          </a:prstGeom>
          <a:noFill/>
          <a:ln w="0">
            <a:noFill/>
          </a:ln>
        </p:spPr>
        <p:txBody>
          <a:bodyPr wrap="square" lIns="0" tIns="0" rIns="0" bIns="0" anchor="t">
            <a:noAutofit/>
          </a:bodyPr>
          <a:lstStyle/>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sklearn.datasets import load_digits</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sklearn.neural_network import MLPClassifier</a:t>
            </a:r>
          </a:p>
          <a:p>
            <a:endParaRPr sz="1575" b="0">
              <a:solidFill>
                <a:srgbClr val="FFFFFF"/>
              </a:solidFill>
              <a:latin typeface="DejaVu Sans Mono"/>
              <a:ea typeface="DejaVu Sans Mono"/>
              <a:cs typeface="DejaVu Sans Mono"/>
            </a:endParaRP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Xd, yd = load_digits(return_X_y=True)</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Ad, Bd, cd, dd = train_test_split(</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Xd / 16.0, yd, test_size=0.25,</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stratify=yd, random_state=42)</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mlp = MLPClassifier(hidden_layer_sizes=(64, 32),</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early_stopping=True, max_iter=300,</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random_state=42)</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mlp.fit(Ad, cd)</a:t>
            </a:r>
          </a:p>
        </p:txBody>
      </p:sp>
      <p:sp>
        <p:nvSpPr>
          <p:cNvPr id="6" name="text-5">
            <a:extLst>
              <a:ext uri="{FF2B5EF4-FFF2-40B4-BE49-F238E27FC236}">
                <a16:creationId xmlns:a16="http://schemas.microsoft.com/office/drawing/2014/main" id="{97899355-0268-4F58-A286-D76B7BBFC374}"/>
              </a:ext>
            </a:extLst>
          </p:cNvPr>
          <p:cNvSpPr>
            <a:spLocks noGrp="1"/>
          </p:cNvSpPr>
          <p:nvPr/>
        </p:nvSpPr>
        <p:spPr>
          <a:xfrm>
            <a:off x="8924925" y="2057400"/>
            <a:ext cx="2657475" cy="495300"/>
          </a:xfrm>
          <a:prstGeom prst="rect">
            <a:avLst/>
          </a:prstGeom>
          <a:noFill/>
          <a:ln w="0">
            <a:noFill/>
          </a:ln>
        </p:spPr>
        <p:txBody>
          <a:bodyPr wrap="square" lIns="0" tIns="0" rIns="0" bIns="0" anchor="t">
            <a:noAutofit/>
          </a:bodyPr>
          <a:lstStyle/>
          <a:p>
            <a:pPr>
              <a:defRPr sz="1575" b="1">
                <a:solidFill>
                  <a:srgbClr val="62DCCB"/>
                </a:solidFill>
                <a:latin typeface="Nimbus Sans"/>
                <a:ea typeface="Nimbus Sans"/>
                <a:cs typeface="Nimbus Sans"/>
              </a:defRPr>
            </a:pPr>
            <a:r>
              <a:rPr sz="1575" b="1">
                <a:solidFill>
                  <a:srgbClr val="62DCCB"/>
                </a:solidFill>
                <a:latin typeface="Nimbus Sans"/>
                <a:ea typeface="Nimbus Sans"/>
                <a:cs typeface="Nimbus Sans"/>
              </a:rPr>
              <a:t>10 klas cyfr</a:t>
            </a:r>
          </a:p>
        </p:txBody>
      </p:sp>
      <p:sp>
        <p:nvSpPr>
          <p:cNvPr id="7" name="text-6">
            <a:extLst>
              <a:ext uri="{FF2B5EF4-FFF2-40B4-BE49-F238E27FC236}">
                <a16:creationId xmlns:a16="http://schemas.microsoft.com/office/drawing/2014/main" id="{134D37F2-46F0-4E88-BAF2-ABA50DAC1134}"/>
              </a:ext>
            </a:extLst>
          </p:cNvPr>
          <p:cNvSpPr>
            <a:spLocks noGrp="1"/>
          </p:cNvSpPr>
          <p:nvPr/>
        </p:nvSpPr>
        <p:spPr>
          <a:xfrm>
            <a:off x="8924925" y="2657475"/>
            <a:ext cx="2657475" cy="992124"/>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Wbudowany zbiór działa bez pobierania zdjęć.</a:t>
            </a:r>
          </a:p>
        </p:txBody>
      </p:sp>
      <p:sp>
        <p:nvSpPr>
          <p:cNvPr id="8" name="text-7">
            <a:extLst>
              <a:ext uri="{FF2B5EF4-FFF2-40B4-BE49-F238E27FC236}">
                <a16:creationId xmlns:a16="http://schemas.microsoft.com/office/drawing/2014/main" id="{E7661878-265E-4A65-9678-76EB6FFF6FBD}"/>
              </a:ext>
            </a:extLst>
          </p:cNvPr>
          <p:cNvSpPr>
            <a:spLocks noGrp="1"/>
          </p:cNvSpPr>
          <p:nvPr/>
        </p:nvSpPr>
        <p:spPr>
          <a:xfrm>
            <a:off x="8924925" y="3821049"/>
            <a:ext cx="2657475" cy="1294257"/>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Early stopping wydziela walidację z przekazanego treningu.</a:t>
            </a:r>
          </a:p>
        </p:txBody>
      </p:sp>
    </p:spTree>
    <p:extLst>
      <p:ext uri="{BB962C8B-B14F-4D97-AF65-F5344CB8AC3E}">
        <p14:creationId xmlns:p14="http://schemas.microsoft.com/office/powerpoint/2010/main" val="19685912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0B3694B5-9673-4EC0-B156-73CF2D120CAB}"/>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EE417CF4-D40C-45C0-9E59-E1630AC43170}"/>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76</a:t>
            </a:r>
          </a:p>
        </p:txBody>
      </p:sp>
      <p:sp>
        <p:nvSpPr>
          <p:cNvPr id="3" name="text-2">
            <a:extLst>
              <a:ext uri="{FF2B5EF4-FFF2-40B4-BE49-F238E27FC236}">
                <a16:creationId xmlns:a16="http://schemas.microsoft.com/office/drawing/2014/main" id="{4B1F6526-E2A0-4D0A-8A00-A1AAEE661BBE}"/>
              </a:ext>
            </a:extLst>
          </p:cNvPr>
          <p:cNvSpPr>
            <a:spLocks noGrp="1"/>
          </p:cNvSpPr>
          <p:nvPr/>
        </p:nvSpPr>
        <p:spPr>
          <a:xfrm>
            <a:off x="609600" y="400050"/>
            <a:ext cx="10477500" cy="28575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LABORATORIUM 07  /  45 MIN</a:t>
            </a:r>
          </a:p>
        </p:txBody>
      </p:sp>
      <p:sp>
        <p:nvSpPr>
          <p:cNvPr id="4" name="text-3">
            <a:extLst>
              <a:ext uri="{FF2B5EF4-FFF2-40B4-BE49-F238E27FC236}">
                <a16:creationId xmlns:a16="http://schemas.microsoft.com/office/drawing/2014/main" id="{DFFB33B1-4E83-409D-AB35-987F5FCDDA0B}"/>
              </a:ext>
            </a:extLst>
          </p:cNvPr>
          <p:cNvSpPr>
            <a:spLocks noGrp="1"/>
          </p:cNvSpPr>
          <p:nvPr/>
        </p:nvSpPr>
        <p:spPr>
          <a:xfrm>
            <a:off x="609600" y="971550"/>
            <a:ext cx="10972800" cy="1000125"/>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Rozpoznawanie cyfr i analiza błędów</a:t>
            </a:r>
          </a:p>
        </p:txBody>
      </p:sp>
      <p:sp>
        <p:nvSpPr>
          <p:cNvPr id="5" name="text-4">
            <a:extLst>
              <a:ext uri="{FF2B5EF4-FFF2-40B4-BE49-F238E27FC236}">
                <a16:creationId xmlns:a16="http://schemas.microsoft.com/office/drawing/2014/main" id="{C445E47F-AEB6-4B57-9F45-58F9FA314EC1}"/>
              </a:ext>
            </a:extLst>
          </p:cNvPr>
          <p:cNvSpPr>
            <a:spLocks noGrp="1"/>
          </p:cNvSpPr>
          <p:nvPr/>
        </p:nvSpPr>
        <p:spPr>
          <a:xfrm>
            <a:off x="609600" y="23145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01</a:t>
            </a:r>
          </a:p>
        </p:txBody>
      </p:sp>
      <p:sp>
        <p:nvSpPr>
          <p:cNvPr id="6" name="text-5">
            <a:extLst>
              <a:ext uri="{FF2B5EF4-FFF2-40B4-BE49-F238E27FC236}">
                <a16:creationId xmlns:a16="http://schemas.microsoft.com/office/drawing/2014/main" id="{7EA705FE-6201-4179-87AF-129FF2029F8D}"/>
              </a:ext>
            </a:extLst>
          </p:cNvPr>
          <p:cNvSpPr>
            <a:spLocks noGrp="1"/>
          </p:cNvSpPr>
          <p:nvPr/>
        </p:nvSpPr>
        <p:spPr>
          <a:xfrm>
            <a:off x="1485900" y="22764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Wytrenuj MLP (64, 32) na zbiorze digits.</a:t>
            </a:r>
          </a:p>
        </p:txBody>
      </p:sp>
      <p:sp>
        <p:nvSpPr>
          <p:cNvPr id="7" name="text-6">
            <a:extLst>
              <a:ext uri="{FF2B5EF4-FFF2-40B4-BE49-F238E27FC236}">
                <a16:creationId xmlns:a16="http://schemas.microsoft.com/office/drawing/2014/main" id="{6454638E-AC85-4E27-B214-BDD9E1240157}"/>
              </a:ext>
            </a:extLst>
          </p:cNvPr>
          <p:cNvSpPr>
            <a:spLocks noGrp="1"/>
          </p:cNvSpPr>
          <p:nvPr/>
        </p:nvSpPr>
        <p:spPr>
          <a:xfrm>
            <a:off x="609600" y="31527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02</a:t>
            </a:r>
          </a:p>
        </p:txBody>
      </p:sp>
      <p:sp>
        <p:nvSpPr>
          <p:cNvPr id="8" name="text-7">
            <a:extLst>
              <a:ext uri="{FF2B5EF4-FFF2-40B4-BE49-F238E27FC236}">
                <a16:creationId xmlns:a16="http://schemas.microsoft.com/office/drawing/2014/main" id="{6AED6A95-9344-44AE-A5FC-0871B43B5F9E}"/>
              </a:ext>
            </a:extLst>
          </p:cNvPr>
          <p:cNvSpPr>
            <a:spLocks noGrp="1"/>
          </p:cNvSpPr>
          <p:nvPr/>
        </p:nvSpPr>
        <p:spPr>
          <a:xfrm>
            <a:off x="1485900" y="31146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Porównaj z regresją logistyczną na tych samych podziałach.</a:t>
            </a:r>
          </a:p>
        </p:txBody>
      </p:sp>
      <p:sp>
        <p:nvSpPr>
          <p:cNvPr id="9" name="text-8">
            <a:extLst>
              <a:ext uri="{FF2B5EF4-FFF2-40B4-BE49-F238E27FC236}">
                <a16:creationId xmlns:a16="http://schemas.microsoft.com/office/drawing/2014/main" id="{F5EF47A9-6C0A-4447-A36F-C6770ABA880C}"/>
              </a:ext>
            </a:extLst>
          </p:cNvPr>
          <p:cNvSpPr>
            <a:spLocks noGrp="1"/>
          </p:cNvSpPr>
          <p:nvPr/>
        </p:nvSpPr>
        <p:spPr>
          <a:xfrm>
            <a:off x="609600" y="39909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03</a:t>
            </a:r>
          </a:p>
        </p:txBody>
      </p:sp>
      <p:sp>
        <p:nvSpPr>
          <p:cNvPr id="10" name="text-9">
            <a:extLst>
              <a:ext uri="{FF2B5EF4-FFF2-40B4-BE49-F238E27FC236}">
                <a16:creationId xmlns:a16="http://schemas.microsoft.com/office/drawing/2014/main" id="{32B02728-AD7E-42A4-8D24-6393DBF479AE}"/>
              </a:ext>
            </a:extLst>
          </p:cNvPr>
          <p:cNvSpPr>
            <a:spLocks noGrp="1"/>
          </p:cNvSpPr>
          <p:nvPr/>
        </p:nvSpPr>
        <p:spPr>
          <a:xfrm>
            <a:off x="1485900" y="39528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Po wyborze konfiguracji obejrzyj macierz pomyłek.</a:t>
            </a:r>
          </a:p>
        </p:txBody>
      </p:sp>
      <p:sp>
        <p:nvSpPr>
          <p:cNvPr id="11" name="text-10">
            <a:extLst>
              <a:ext uri="{FF2B5EF4-FFF2-40B4-BE49-F238E27FC236}">
                <a16:creationId xmlns:a16="http://schemas.microsoft.com/office/drawing/2014/main" id="{417E99ED-8E7E-4B56-BD0E-CDF969240CF9}"/>
              </a:ext>
            </a:extLst>
          </p:cNvPr>
          <p:cNvSpPr>
            <a:spLocks noGrp="1"/>
          </p:cNvSpPr>
          <p:nvPr/>
        </p:nvSpPr>
        <p:spPr>
          <a:xfrm>
            <a:off x="609600" y="48291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04</a:t>
            </a:r>
          </a:p>
        </p:txBody>
      </p:sp>
      <p:sp>
        <p:nvSpPr>
          <p:cNvPr id="12" name="text-11">
            <a:extLst>
              <a:ext uri="{FF2B5EF4-FFF2-40B4-BE49-F238E27FC236}">
                <a16:creationId xmlns:a16="http://schemas.microsoft.com/office/drawing/2014/main" id="{768116FA-C504-4E63-AAB9-9492C988D5A0}"/>
              </a:ext>
            </a:extLst>
          </p:cNvPr>
          <p:cNvSpPr>
            <a:spLocks noGrp="1"/>
          </p:cNvSpPr>
          <p:nvPr/>
        </p:nvSpPr>
        <p:spPr>
          <a:xfrm>
            <a:off x="1485900" y="47910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Wyświetl kilka błędnie rozpoznanych obrazów.</a:t>
            </a:r>
          </a:p>
        </p:txBody>
      </p:sp>
      <p:sp>
        <p:nvSpPr>
          <p:cNvPr id="13" name="text-12">
            <a:extLst>
              <a:ext uri="{FF2B5EF4-FFF2-40B4-BE49-F238E27FC236}">
                <a16:creationId xmlns:a16="http://schemas.microsoft.com/office/drawing/2014/main" id="{603EAD9E-4463-4369-A793-852EA9E8B144}"/>
              </a:ext>
            </a:extLst>
          </p:cNvPr>
          <p:cNvSpPr>
            <a:spLocks noGrp="1"/>
          </p:cNvSpPr>
          <p:nvPr/>
        </p:nvSpPr>
        <p:spPr>
          <a:xfrm>
            <a:off x="609600" y="5848350"/>
            <a:ext cx="1371600" cy="257175"/>
          </a:xfrm>
          <a:prstGeom prst="rect">
            <a:avLst/>
          </a:prstGeom>
          <a:noFill/>
          <a:ln w="0">
            <a:noFill/>
          </a:ln>
        </p:spPr>
        <p:txBody>
          <a:bodyPr wrap="square" lIns="0" tIns="0" rIns="0" bIns="0" anchor="t">
            <a:noAutofit/>
          </a:bodyPr>
          <a:lstStyle/>
          <a:p>
            <a:pPr>
              <a:defRPr sz="1200" b="1">
                <a:solidFill>
                  <a:srgbClr val="62DCCB"/>
                </a:solidFill>
                <a:latin typeface="Nimbus Sans"/>
                <a:ea typeface="Nimbus Sans"/>
                <a:cs typeface="Nimbus Sans"/>
              </a:defRPr>
            </a:pPr>
            <a:r>
              <a:rPr sz="1200" b="1">
                <a:solidFill>
                  <a:srgbClr val="62DCCB"/>
                </a:solidFill>
                <a:latin typeface="Nimbus Sans"/>
                <a:ea typeface="Nimbus Sans"/>
                <a:cs typeface="Nimbus Sans"/>
              </a:rPr>
              <a:t>REZULTAT</a:t>
            </a:r>
          </a:p>
        </p:txBody>
      </p:sp>
      <p:sp>
        <p:nvSpPr>
          <p:cNvPr id="14" name="text-13">
            <a:extLst>
              <a:ext uri="{FF2B5EF4-FFF2-40B4-BE49-F238E27FC236}">
                <a16:creationId xmlns:a16="http://schemas.microsoft.com/office/drawing/2014/main" id="{E6FABB55-B37C-4A21-9DA0-25BE32E24D50}"/>
              </a:ext>
            </a:extLst>
          </p:cNvPr>
          <p:cNvSpPr>
            <a:spLocks noGrp="1"/>
          </p:cNvSpPr>
          <p:nvPr/>
        </p:nvSpPr>
        <p:spPr>
          <a:xfrm>
            <a:off x="2057400" y="5791200"/>
            <a:ext cx="9525000" cy="457200"/>
          </a:xfrm>
          <a:prstGeom prst="rect">
            <a:avLst/>
          </a:prstGeom>
          <a:noFill/>
          <a:ln w="0">
            <a:noFill/>
          </a:ln>
        </p:spPr>
        <p:txBody>
          <a:bodyPr wrap="square" lIns="0" tIns="0" rIns="0" bIns="0" anchor="t">
            <a:noAutofit/>
          </a:bodyPr>
          <a:lstStyle/>
          <a:p>
            <a:pPr>
              <a:defRPr sz="1800" b="0">
                <a:solidFill>
                  <a:srgbClr val="D7E3E8"/>
                </a:solidFill>
                <a:latin typeface="Nimbus Sans"/>
                <a:ea typeface="Nimbus Sans"/>
                <a:cs typeface="Nimbus Sans"/>
              </a:defRPr>
            </a:pPr>
            <a:r>
              <a:rPr sz="1800" b="0">
                <a:solidFill>
                  <a:srgbClr val="D7E3E8"/>
                </a:solidFill>
                <a:latin typeface="Nimbus Sans"/>
                <a:ea typeface="Nimbus Sans"/>
                <a:cs typeface="Nimbus Sans"/>
              </a:rPr>
              <a:t>Wynik testowy, przykłady pomyłek i hipoteza ich przyczyn.</a:t>
            </a:r>
          </a:p>
        </p:txBody>
      </p:sp>
    </p:spTree>
    <p:extLst>
      <p:ext uri="{BB962C8B-B14F-4D97-AF65-F5344CB8AC3E}">
        <p14:creationId xmlns:p14="http://schemas.microsoft.com/office/powerpoint/2010/main" val="13952005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8" name="text-0">
            <a:extLst>
              <a:ext uri="{FF2B5EF4-FFF2-40B4-BE49-F238E27FC236}">
                <a16:creationId xmlns:a16="http://schemas.microsoft.com/office/drawing/2014/main" id="{F5352489-4A4B-44C1-8882-2D2806CDBFBF}"/>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05  /  SIECI NEURONOWE</a:t>
            </a:r>
          </a:p>
        </p:txBody>
      </p:sp>
      <p:sp>
        <p:nvSpPr>
          <p:cNvPr id="2" name="text-1">
            <a:extLst>
              <a:ext uri="{FF2B5EF4-FFF2-40B4-BE49-F238E27FC236}">
                <a16:creationId xmlns:a16="http://schemas.microsoft.com/office/drawing/2014/main" id="{C8A3B1AC-2E7F-4FA9-8DE4-D1D08F1B15B7}"/>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Tekst jako dane wejściowe</a:t>
            </a:r>
          </a:p>
        </p:txBody>
      </p:sp>
      <p:sp>
        <p:nvSpPr>
          <p:cNvPr id="3" name="text-2">
            <a:extLst>
              <a:ext uri="{FF2B5EF4-FFF2-40B4-BE49-F238E27FC236}">
                <a16:creationId xmlns:a16="http://schemas.microsoft.com/office/drawing/2014/main" id="{71C7E380-924D-4613-A5E2-34B80C307A7E}"/>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872A76A5-D529-40E1-8C69-C4C1801E107D}"/>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77</a:t>
            </a:r>
          </a:p>
        </p:txBody>
      </p:sp>
      <p:sp>
        <p:nvSpPr>
          <p:cNvPr id="5" name="text-4">
            <a:extLst>
              <a:ext uri="{FF2B5EF4-FFF2-40B4-BE49-F238E27FC236}">
                <a16:creationId xmlns:a16="http://schemas.microsoft.com/office/drawing/2014/main" id="{3D7C2779-3366-4EF4-BB4B-DBC5E57FFAFE}"/>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5DFCE1A4-1E18-4BE7-B241-82AD386D15B6}"/>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Tokenizacja</a:t>
            </a:r>
          </a:p>
        </p:txBody>
      </p:sp>
      <p:sp>
        <p:nvSpPr>
          <p:cNvPr id="7" name="text-6">
            <a:extLst>
              <a:ext uri="{FF2B5EF4-FFF2-40B4-BE49-F238E27FC236}">
                <a16:creationId xmlns:a16="http://schemas.microsoft.com/office/drawing/2014/main" id="{4A39204C-036A-4F16-BC31-8E2E3922954D}"/>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Podział tekstu na jednostki reprezentacji.</a:t>
            </a:r>
          </a:p>
        </p:txBody>
      </p:sp>
      <p:sp>
        <p:nvSpPr>
          <p:cNvPr id="8" name="text-7">
            <a:extLst>
              <a:ext uri="{FF2B5EF4-FFF2-40B4-BE49-F238E27FC236}">
                <a16:creationId xmlns:a16="http://schemas.microsoft.com/office/drawing/2014/main" id="{1B38CFC9-D4F9-4017-9D2E-33B070DCD269}"/>
              </a:ext>
            </a:extLst>
          </p:cNvPr>
          <p:cNvSpPr>
            <a:spLocks noGrp="1"/>
          </p:cNvSpPr>
          <p:nvPr/>
        </p:nvSpPr>
        <p:spPr>
          <a:xfrm>
            <a:off x="609600" y="29432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A7E2A0D6-DD7A-4E9D-82A9-6CA6AE871502}"/>
              </a:ext>
            </a:extLst>
          </p:cNvPr>
          <p:cNvSpPr>
            <a:spLocks noGrp="1"/>
          </p:cNvSpPr>
          <p:nvPr/>
        </p:nvSpPr>
        <p:spPr>
          <a:xfrm>
            <a:off x="1562100" y="29432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Wektoryzacja</a:t>
            </a:r>
          </a:p>
        </p:txBody>
      </p:sp>
      <p:sp>
        <p:nvSpPr>
          <p:cNvPr id="10" name="text-9">
            <a:extLst>
              <a:ext uri="{FF2B5EF4-FFF2-40B4-BE49-F238E27FC236}">
                <a16:creationId xmlns:a16="http://schemas.microsoft.com/office/drawing/2014/main" id="{F7FE165E-7B31-427A-837D-75FD5ED787E9}"/>
              </a:ext>
            </a:extLst>
          </p:cNvPr>
          <p:cNvSpPr>
            <a:spLocks noGrp="1"/>
          </p:cNvSpPr>
          <p:nvPr/>
        </p:nvSpPr>
        <p:spPr>
          <a:xfrm>
            <a:off x="1562100" y="33147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TF-IDF koduje ważność słów lub n-gramów.</a:t>
            </a:r>
          </a:p>
        </p:txBody>
      </p:sp>
      <p:sp>
        <p:nvSpPr>
          <p:cNvPr id="11" name="text-10">
            <a:extLst>
              <a:ext uri="{FF2B5EF4-FFF2-40B4-BE49-F238E27FC236}">
                <a16:creationId xmlns:a16="http://schemas.microsoft.com/office/drawing/2014/main" id="{EF3EC79E-D4B6-428D-B244-49CE85F85530}"/>
              </a:ext>
            </a:extLst>
          </p:cNvPr>
          <p:cNvSpPr>
            <a:spLocks noGrp="1"/>
          </p:cNvSpPr>
          <p:nvPr/>
        </p:nvSpPr>
        <p:spPr>
          <a:xfrm>
            <a:off x="609600" y="3971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E8D866AE-0A49-458C-9013-7E57D86C9BFF}"/>
              </a:ext>
            </a:extLst>
          </p:cNvPr>
          <p:cNvSpPr>
            <a:spLocks noGrp="1"/>
          </p:cNvSpPr>
          <p:nvPr/>
        </p:nvSpPr>
        <p:spPr>
          <a:xfrm>
            <a:off x="1562100" y="39719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Uczenie</a:t>
            </a:r>
          </a:p>
        </p:txBody>
      </p:sp>
      <p:sp>
        <p:nvSpPr>
          <p:cNvPr id="13" name="text-12">
            <a:extLst>
              <a:ext uri="{FF2B5EF4-FFF2-40B4-BE49-F238E27FC236}">
                <a16:creationId xmlns:a16="http://schemas.microsoft.com/office/drawing/2014/main" id="{85DF0796-60B6-4098-8C24-E5E60D407CCE}"/>
              </a:ext>
            </a:extLst>
          </p:cNvPr>
          <p:cNvSpPr>
            <a:spLocks noGrp="1"/>
          </p:cNvSpPr>
          <p:nvPr/>
        </p:nvSpPr>
        <p:spPr>
          <a:xfrm>
            <a:off x="1562100" y="43434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Klasyfikator wykorzystuje wektory cech.</a:t>
            </a:r>
          </a:p>
        </p:txBody>
      </p:sp>
      <p:sp>
        <p:nvSpPr>
          <p:cNvPr id="14" name="text-13">
            <a:extLst>
              <a:ext uri="{FF2B5EF4-FFF2-40B4-BE49-F238E27FC236}">
                <a16:creationId xmlns:a16="http://schemas.microsoft.com/office/drawing/2014/main" id="{B3ADB957-2A9B-4FB8-98F3-7C9B255E52D1}"/>
              </a:ext>
            </a:extLst>
          </p:cNvPr>
          <p:cNvSpPr>
            <a:spLocks noGrp="1"/>
          </p:cNvSpPr>
          <p:nvPr/>
        </p:nvSpPr>
        <p:spPr>
          <a:xfrm>
            <a:off x="609600" y="50006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5A840742-98FA-46A9-94E5-B536EB3F9EE4}"/>
              </a:ext>
            </a:extLst>
          </p:cNvPr>
          <p:cNvSpPr>
            <a:spLocks noGrp="1"/>
          </p:cNvSpPr>
          <p:nvPr/>
        </p:nvSpPr>
        <p:spPr>
          <a:xfrm>
            <a:off x="1562100" y="5000625"/>
            <a:ext cx="10020300" cy="342900"/>
          </a:xfrm>
          <a:prstGeom prst="rect">
            <a:avLst/>
          </a:prstGeom>
          <a:noFill/>
          <a:ln w="0">
            <a:noFill/>
          </a:ln>
        </p:spPr>
        <p:txBody>
          <a:bodyPr wrap="square" lIns="0" tIns="0" rIns="0" bIns="0" anchor="t">
            <a:noAutofit/>
          </a:bodyPr>
          <a:lstStyle/>
          <a:p>
            <a:pPr>
              <a:defRPr sz="2250" b="1">
                <a:solidFill>
                  <a:srgbClr val="17243A"/>
                </a:solidFill>
                <a:latin typeface="Nimbus Sans"/>
                <a:ea typeface="Nimbus Sans"/>
                <a:cs typeface="Nimbus Sans"/>
              </a:defRPr>
            </a:pPr>
            <a:r>
              <a:rPr sz="2250" b="1">
                <a:solidFill>
                  <a:srgbClr val="17243A"/>
                </a:solidFill>
                <a:latin typeface="Nimbus Sans"/>
                <a:ea typeface="Nimbus Sans"/>
                <a:cs typeface="Nimbus Sans"/>
              </a:rPr>
              <a:t>Ocena</a:t>
            </a:r>
          </a:p>
        </p:txBody>
      </p:sp>
      <p:sp>
        <p:nvSpPr>
          <p:cNvPr id="16" name="text-15">
            <a:extLst>
              <a:ext uri="{FF2B5EF4-FFF2-40B4-BE49-F238E27FC236}">
                <a16:creationId xmlns:a16="http://schemas.microsoft.com/office/drawing/2014/main" id="{3ABE03F9-906E-49C8-BA1B-7BA2C29B3C49}"/>
              </a:ext>
            </a:extLst>
          </p:cNvPr>
          <p:cNvSpPr>
            <a:spLocks noGrp="1"/>
          </p:cNvSpPr>
          <p:nvPr/>
        </p:nvSpPr>
        <p:spPr>
          <a:xfrm>
            <a:off x="1562100" y="5372100"/>
            <a:ext cx="10020300" cy="523875"/>
          </a:xfrm>
          <a:prstGeom prst="rect">
            <a:avLst/>
          </a:prstGeom>
          <a:noFill/>
          <a:ln w="0">
            <a:noFill/>
          </a:ln>
        </p:spPr>
        <p:txBody>
          <a:bodyPr wrap="square" lIns="0" tIns="0" rIns="0" bIns="0" anchor="t">
            <a:noAutofit/>
          </a:bodyPr>
          <a:lstStyle/>
          <a:p>
            <a:pPr>
              <a:defRPr sz="1950" b="0">
                <a:solidFill>
                  <a:srgbClr val="586779"/>
                </a:solidFill>
                <a:latin typeface="Nimbus Sans"/>
                <a:ea typeface="Nimbus Sans"/>
                <a:cs typeface="Nimbus Sans"/>
              </a:defRPr>
            </a:pPr>
            <a:r>
              <a:rPr sz="1950" b="0">
                <a:solidFill>
                  <a:srgbClr val="586779"/>
                </a:solidFill>
                <a:latin typeface="Nimbus Sans"/>
                <a:ea typeface="Nimbus Sans"/>
                <a:cs typeface="Nimbus Sans"/>
              </a:rPr>
              <a:t>Nowe źródła, autorzy i czas mogą zmienić jakość.</a:t>
            </a:r>
          </a:p>
        </p:txBody>
      </p:sp>
      <p:sp>
        <p:nvSpPr>
          <p:cNvPr id="17" name="text-16">
            <a:extLst>
              <a:ext uri="{FF2B5EF4-FFF2-40B4-BE49-F238E27FC236}">
                <a16:creationId xmlns:a16="http://schemas.microsoft.com/office/drawing/2014/main" id="{BBCA0001-4C7F-42F9-B5C9-06EE1F47F3F2}"/>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Słownik i IDF uczymy wyłącznie na danych treningowych.</a:t>
            </a:r>
          </a:p>
        </p:txBody>
      </p:sp>
    </p:spTree>
    <p:extLst>
      <p:ext uri="{BB962C8B-B14F-4D97-AF65-F5344CB8AC3E}">
        <p14:creationId xmlns:p14="http://schemas.microsoft.com/office/powerpoint/2010/main" val="10224010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819E420E-1C45-44DF-8B84-45B148D2F57E}"/>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9D0418F3-8669-470D-B753-AF16C5F0FD27}"/>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78</a:t>
            </a:r>
          </a:p>
        </p:txBody>
      </p:sp>
      <p:sp>
        <p:nvSpPr>
          <p:cNvPr id="3" name="text-2">
            <a:extLst>
              <a:ext uri="{FF2B5EF4-FFF2-40B4-BE49-F238E27FC236}">
                <a16:creationId xmlns:a16="http://schemas.microsoft.com/office/drawing/2014/main" id="{921C5E76-009F-44C7-B748-10E0792C9A34}"/>
              </a:ext>
            </a:extLst>
          </p:cNvPr>
          <p:cNvSpPr>
            <a:spLocks noGrp="1"/>
          </p:cNvSpPr>
          <p:nvPr/>
        </p:nvSpPr>
        <p:spPr>
          <a:xfrm>
            <a:off x="609600" y="352425"/>
            <a:ext cx="10972800" cy="238125"/>
          </a:xfrm>
          <a:prstGeom prst="rect">
            <a:avLst/>
          </a:prstGeom>
          <a:noFill/>
          <a:ln w="0">
            <a:noFill/>
          </a:ln>
        </p:spPr>
        <p:txBody>
          <a:bodyPr wrap="square" lIns="0" tIns="0" rIns="0" bIns="0" anchor="t">
            <a:noAutofit/>
          </a:bodyPr>
          <a:lstStyle/>
          <a:p>
            <a:pPr>
              <a:defRPr sz="1125" b="1">
                <a:solidFill>
                  <a:srgbClr val="62DCCB"/>
                </a:solidFill>
                <a:latin typeface="Nimbus Sans"/>
                <a:ea typeface="Nimbus Sans"/>
                <a:cs typeface="Nimbus Sans"/>
              </a:defRPr>
            </a:pPr>
            <a:r>
              <a:rPr sz="1125" b="1">
                <a:solidFill>
                  <a:srgbClr val="62DCCB"/>
                </a:solidFill>
                <a:latin typeface="Nimbus Sans"/>
                <a:ea typeface="Nimbus Sans"/>
                <a:cs typeface="Nimbus Sans"/>
              </a:rPr>
              <a:t>PYTHON  /  05  /  SIECI NEURONOWE</a:t>
            </a:r>
          </a:p>
        </p:txBody>
      </p:sp>
      <p:sp>
        <p:nvSpPr>
          <p:cNvPr id="4" name="text-3">
            <a:extLst>
              <a:ext uri="{FF2B5EF4-FFF2-40B4-BE49-F238E27FC236}">
                <a16:creationId xmlns:a16="http://schemas.microsoft.com/office/drawing/2014/main" id="{C49F2CD8-55F6-47F8-B9EE-BCD94E69831E}"/>
              </a:ext>
            </a:extLst>
          </p:cNvPr>
          <p:cNvSpPr>
            <a:spLocks noGrp="1"/>
          </p:cNvSpPr>
          <p:nvPr/>
        </p:nvSpPr>
        <p:spPr>
          <a:xfrm>
            <a:off x="609600" y="828675"/>
            <a:ext cx="10972800" cy="1047750"/>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Pipeline klasyfikacji tekstu</a:t>
            </a:r>
          </a:p>
        </p:txBody>
      </p:sp>
      <p:sp>
        <p:nvSpPr>
          <p:cNvPr id="5" name="text-4">
            <a:extLst>
              <a:ext uri="{FF2B5EF4-FFF2-40B4-BE49-F238E27FC236}">
                <a16:creationId xmlns:a16="http://schemas.microsoft.com/office/drawing/2014/main" id="{35C78807-DD93-4EB1-8527-9CBF915E83C6}"/>
              </a:ext>
            </a:extLst>
          </p:cNvPr>
          <p:cNvSpPr>
            <a:spLocks noGrp="1"/>
          </p:cNvSpPr>
          <p:nvPr/>
        </p:nvSpPr>
        <p:spPr>
          <a:xfrm>
            <a:off x="609600" y="2095500"/>
            <a:ext cx="7839075" cy="3838575"/>
          </a:xfrm>
          <a:prstGeom prst="rect">
            <a:avLst/>
          </a:prstGeom>
          <a:noFill/>
          <a:ln w="0">
            <a:noFill/>
          </a:ln>
        </p:spPr>
        <p:txBody>
          <a:bodyPr wrap="square" lIns="0" tIns="0" rIns="0" bIns="0" anchor="t">
            <a:noAutofit/>
          </a:bodyPr>
          <a:lstStyle/>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from sklearn.feature_extraction.text import TfidfVectorizer</a:t>
            </a:r>
          </a:p>
          <a:p>
            <a:endParaRPr sz="1575" b="0">
              <a:solidFill>
                <a:srgbClr val="FFFFFF"/>
              </a:solidFill>
              <a:latin typeface="DejaVu Sans Mono"/>
              <a:ea typeface="DejaVu Sans Mono"/>
              <a:cs typeface="DejaVu Sans Mono"/>
            </a:endParaRP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text_model = make_pipeline(</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TfidfVectorizer(ngram_range=(1, 2), min_df=2),</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LogisticRegression(max_iter=2000))</a:t>
            </a:r>
          </a:p>
          <a:p>
            <a:endParaRPr sz="1575" b="0">
              <a:solidFill>
                <a:srgbClr val="FFFFFF"/>
              </a:solidFill>
              <a:latin typeface="DejaVu Sans Mono"/>
              <a:ea typeface="DejaVu Sans Mono"/>
              <a:cs typeface="DejaVu Sans Mono"/>
            </a:endParaRP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texts_train: lista tekstów</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 labels_train: odpowiadające im etykiety</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text_model.fit(texts_train, labels_train)</a:t>
            </a:r>
          </a:p>
          <a:p>
            <a:pPr>
              <a:defRPr sz="1575" b="0">
                <a:solidFill>
                  <a:srgbClr val="FFFFFF"/>
                </a:solidFill>
                <a:latin typeface="DejaVu Sans Mono"/>
                <a:ea typeface="DejaVu Sans Mono"/>
                <a:cs typeface="DejaVu Sans Mono"/>
              </a:defRPr>
            </a:pPr>
            <a:r>
              <a:rPr sz="1575" b="0">
                <a:solidFill>
                  <a:srgbClr val="FFFFFF"/>
                </a:solidFill>
                <a:latin typeface="DejaVu Sans Mono"/>
                <a:ea typeface="DejaVu Sans Mono"/>
                <a:cs typeface="DejaVu Sans Mono"/>
              </a:rPr>
              <a:t>pred = text_model.predict(texts_test)</a:t>
            </a:r>
          </a:p>
        </p:txBody>
      </p:sp>
      <p:sp>
        <p:nvSpPr>
          <p:cNvPr id="6" name="text-5">
            <a:extLst>
              <a:ext uri="{FF2B5EF4-FFF2-40B4-BE49-F238E27FC236}">
                <a16:creationId xmlns:a16="http://schemas.microsoft.com/office/drawing/2014/main" id="{E0710221-F810-41FB-ABF0-84EE58A4CDDD}"/>
              </a:ext>
            </a:extLst>
          </p:cNvPr>
          <p:cNvSpPr>
            <a:spLocks noGrp="1"/>
          </p:cNvSpPr>
          <p:nvPr/>
        </p:nvSpPr>
        <p:spPr>
          <a:xfrm>
            <a:off x="8924925" y="2057400"/>
            <a:ext cx="2657475" cy="495300"/>
          </a:xfrm>
          <a:prstGeom prst="rect">
            <a:avLst/>
          </a:prstGeom>
          <a:noFill/>
          <a:ln w="0">
            <a:noFill/>
          </a:ln>
        </p:spPr>
        <p:txBody>
          <a:bodyPr wrap="square" lIns="0" tIns="0" rIns="0" bIns="0" anchor="t">
            <a:noAutofit/>
          </a:bodyPr>
          <a:lstStyle/>
          <a:p>
            <a:pPr>
              <a:defRPr sz="1575" b="1">
                <a:solidFill>
                  <a:srgbClr val="62DCCB"/>
                </a:solidFill>
                <a:latin typeface="Nimbus Sans"/>
                <a:ea typeface="Nimbus Sans"/>
                <a:cs typeface="Nimbus Sans"/>
              </a:defRPr>
            </a:pPr>
            <a:r>
              <a:rPr sz="1575" b="1">
                <a:solidFill>
                  <a:srgbClr val="62DCCB"/>
                </a:solidFill>
                <a:latin typeface="Nimbus Sans"/>
                <a:ea typeface="Nimbus Sans"/>
                <a:cs typeface="Nimbus Sans"/>
              </a:rPr>
              <a:t>Punkt odniesienia</a:t>
            </a:r>
          </a:p>
        </p:txBody>
      </p:sp>
      <p:sp>
        <p:nvSpPr>
          <p:cNvPr id="7" name="text-6">
            <a:extLst>
              <a:ext uri="{FF2B5EF4-FFF2-40B4-BE49-F238E27FC236}">
                <a16:creationId xmlns:a16="http://schemas.microsoft.com/office/drawing/2014/main" id="{770548BC-66FD-4DB6-B0F2-44101562ED84}"/>
              </a:ext>
            </a:extLst>
          </p:cNvPr>
          <p:cNvSpPr>
            <a:spLocks noGrp="1"/>
          </p:cNvSpPr>
          <p:nvPr/>
        </p:nvSpPr>
        <p:spPr>
          <a:xfrm>
            <a:off x="8924925" y="2657475"/>
            <a:ext cx="2657475" cy="689991"/>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Najpierw model liniowy na TF-IDF.</a:t>
            </a:r>
          </a:p>
        </p:txBody>
      </p:sp>
      <p:sp>
        <p:nvSpPr>
          <p:cNvPr id="8" name="text-7">
            <a:extLst>
              <a:ext uri="{FF2B5EF4-FFF2-40B4-BE49-F238E27FC236}">
                <a16:creationId xmlns:a16="http://schemas.microsoft.com/office/drawing/2014/main" id="{7D9E28C6-E2CD-4290-BE92-8181C3752CB4}"/>
              </a:ext>
            </a:extLst>
          </p:cNvPr>
          <p:cNvSpPr>
            <a:spLocks noGrp="1"/>
          </p:cNvSpPr>
          <p:nvPr/>
        </p:nvSpPr>
        <p:spPr>
          <a:xfrm>
            <a:off x="8924925" y="3518916"/>
            <a:ext cx="2657475" cy="992124"/>
          </a:xfrm>
          <a:prstGeom prst="rect">
            <a:avLst/>
          </a:prstGeom>
          <a:noFill/>
          <a:ln w="0">
            <a:noFill/>
          </a:ln>
        </p:spPr>
        <p:txBody>
          <a:bodyPr wrap="square" lIns="0" tIns="0" rIns="0" bIns="0" anchor="t">
            <a:noAutofit/>
          </a:bodyPr>
          <a:lstStyle/>
          <a:p>
            <a:pPr>
              <a:defRPr sz="1950" b="0">
                <a:solidFill>
                  <a:srgbClr val="FFFFFF"/>
                </a:solidFill>
                <a:latin typeface="Nimbus Sans"/>
                <a:ea typeface="Nimbus Sans"/>
                <a:cs typeface="Nimbus Sans"/>
              </a:defRPr>
            </a:pPr>
            <a:r>
              <a:rPr sz="1950" b="0">
                <a:solidFill>
                  <a:srgbClr val="FFFFFF"/>
                </a:solidFill>
                <a:latin typeface="Nimbus Sans"/>
                <a:ea typeface="Nimbus Sans"/>
                <a:cs typeface="Nimbus Sans"/>
              </a:rPr>
              <a:t>MLP lub embeddingi porównujemy w tym samym protokole.</a:t>
            </a:r>
          </a:p>
        </p:txBody>
      </p:sp>
    </p:spTree>
    <p:extLst>
      <p:ext uri="{BB962C8B-B14F-4D97-AF65-F5344CB8AC3E}">
        <p14:creationId xmlns:p14="http://schemas.microsoft.com/office/powerpoint/2010/main" val="16338895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490E4726-B9EC-4E01-891B-844EF2640A07}"/>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EA658079-C952-4BB5-B77B-8CD6C8E817C2}"/>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79</a:t>
            </a:r>
          </a:p>
        </p:txBody>
      </p:sp>
      <p:sp>
        <p:nvSpPr>
          <p:cNvPr id="3" name="text-2">
            <a:extLst>
              <a:ext uri="{FF2B5EF4-FFF2-40B4-BE49-F238E27FC236}">
                <a16:creationId xmlns:a16="http://schemas.microsoft.com/office/drawing/2014/main" id="{D5C2402D-3C84-4D72-AF49-1941681C8AEB}"/>
              </a:ext>
            </a:extLst>
          </p:cNvPr>
          <p:cNvSpPr>
            <a:spLocks noGrp="1"/>
          </p:cNvSpPr>
          <p:nvPr/>
        </p:nvSpPr>
        <p:spPr>
          <a:xfrm>
            <a:off x="609600" y="400050"/>
            <a:ext cx="10477500" cy="28575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LABORATORIUM 08  /  35 MIN</a:t>
            </a:r>
          </a:p>
        </p:txBody>
      </p:sp>
      <p:sp>
        <p:nvSpPr>
          <p:cNvPr id="4" name="text-3">
            <a:extLst>
              <a:ext uri="{FF2B5EF4-FFF2-40B4-BE49-F238E27FC236}">
                <a16:creationId xmlns:a16="http://schemas.microsoft.com/office/drawing/2014/main" id="{9B1EB979-1EB7-4A9D-930C-78F88851B10F}"/>
              </a:ext>
            </a:extLst>
          </p:cNvPr>
          <p:cNvSpPr>
            <a:spLocks noGrp="1"/>
          </p:cNvSpPr>
          <p:nvPr/>
        </p:nvSpPr>
        <p:spPr>
          <a:xfrm>
            <a:off x="609600" y="971550"/>
            <a:ext cx="10972800" cy="1000125"/>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Projekt eksperymentu tekstowego</a:t>
            </a:r>
          </a:p>
        </p:txBody>
      </p:sp>
      <p:sp>
        <p:nvSpPr>
          <p:cNvPr id="5" name="text-4">
            <a:extLst>
              <a:ext uri="{FF2B5EF4-FFF2-40B4-BE49-F238E27FC236}">
                <a16:creationId xmlns:a16="http://schemas.microsoft.com/office/drawing/2014/main" id="{7B5D1A3F-6F05-4016-AA42-69B498665136}"/>
              </a:ext>
            </a:extLst>
          </p:cNvPr>
          <p:cNvSpPr>
            <a:spLocks noGrp="1"/>
          </p:cNvSpPr>
          <p:nvPr/>
        </p:nvSpPr>
        <p:spPr>
          <a:xfrm>
            <a:off x="609600" y="23145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01</a:t>
            </a:r>
          </a:p>
        </p:txBody>
      </p:sp>
      <p:sp>
        <p:nvSpPr>
          <p:cNvPr id="6" name="text-5">
            <a:extLst>
              <a:ext uri="{FF2B5EF4-FFF2-40B4-BE49-F238E27FC236}">
                <a16:creationId xmlns:a16="http://schemas.microsoft.com/office/drawing/2014/main" id="{A5C418FB-F86E-4BA0-9CEB-E577B16CA366}"/>
              </a:ext>
            </a:extLst>
          </p:cNvPr>
          <p:cNvSpPr>
            <a:spLocks noGrp="1"/>
          </p:cNvSpPr>
          <p:nvPr/>
        </p:nvSpPr>
        <p:spPr>
          <a:xfrm>
            <a:off x="1485900" y="22764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Wybierz etykiety, np. pytanie, reklamacja, zamówienie.</a:t>
            </a:r>
          </a:p>
        </p:txBody>
      </p:sp>
      <p:sp>
        <p:nvSpPr>
          <p:cNvPr id="7" name="text-6">
            <a:extLst>
              <a:ext uri="{FF2B5EF4-FFF2-40B4-BE49-F238E27FC236}">
                <a16:creationId xmlns:a16="http://schemas.microsoft.com/office/drawing/2014/main" id="{904AC08C-668D-473E-AA5E-16200CB2B850}"/>
              </a:ext>
            </a:extLst>
          </p:cNvPr>
          <p:cNvSpPr>
            <a:spLocks noGrp="1"/>
          </p:cNvSpPr>
          <p:nvPr/>
        </p:nvSpPr>
        <p:spPr>
          <a:xfrm>
            <a:off x="609600" y="31527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02</a:t>
            </a:r>
          </a:p>
        </p:txBody>
      </p:sp>
      <p:sp>
        <p:nvSpPr>
          <p:cNvPr id="8" name="text-7">
            <a:extLst>
              <a:ext uri="{FF2B5EF4-FFF2-40B4-BE49-F238E27FC236}">
                <a16:creationId xmlns:a16="http://schemas.microsoft.com/office/drawing/2014/main" id="{E514FE2B-CCAB-4144-BC97-94BBE9142974}"/>
              </a:ext>
            </a:extLst>
          </p:cNvPr>
          <p:cNvSpPr>
            <a:spLocks noGrp="1"/>
          </p:cNvSpPr>
          <p:nvPr/>
        </p:nvSpPr>
        <p:spPr>
          <a:xfrm>
            <a:off x="1485900" y="31146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Ustal źródło danych i sposób podziału.</a:t>
            </a:r>
          </a:p>
        </p:txBody>
      </p:sp>
      <p:sp>
        <p:nvSpPr>
          <p:cNvPr id="9" name="text-8">
            <a:extLst>
              <a:ext uri="{FF2B5EF4-FFF2-40B4-BE49-F238E27FC236}">
                <a16:creationId xmlns:a16="http://schemas.microsoft.com/office/drawing/2014/main" id="{BDA0DFCF-DCFF-4CD4-BF3E-5A6459C0CB3B}"/>
              </a:ext>
            </a:extLst>
          </p:cNvPr>
          <p:cNvSpPr>
            <a:spLocks noGrp="1"/>
          </p:cNvSpPr>
          <p:nvPr/>
        </p:nvSpPr>
        <p:spPr>
          <a:xfrm>
            <a:off x="609600" y="39909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03</a:t>
            </a:r>
          </a:p>
        </p:txBody>
      </p:sp>
      <p:sp>
        <p:nvSpPr>
          <p:cNvPr id="10" name="text-9">
            <a:extLst>
              <a:ext uri="{FF2B5EF4-FFF2-40B4-BE49-F238E27FC236}">
                <a16:creationId xmlns:a16="http://schemas.microsoft.com/office/drawing/2014/main" id="{61B1D464-AB79-4655-9252-C9D4EAB54321}"/>
              </a:ext>
            </a:extLst>
          </p:cNvPr>
          <p:cNvSpPr>
            <a:spLocks noGrp="1"/>
          </p:cNvSpPr>
          <p:nvPr/>
        </p:nvSpPr>
        <p:spPr>
          <a:xfrm>
            <a:off x="1485900" y="39528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Porównaj plan TF-IDF + model liniowy z wariantem MLP.</a:t>
            </a:r>
          </a:p>
        </p:txBody>
      </p:sp>
      <p:sp>
        <p:nvSpPr>
          <p:cNvPr id="11" name="text-10">
            <a:extLst>
              <a:ext uri="{FF2B5EF4-FFF2-40B4-BE49-F238E27FC236}">
                <a16:creationId xmlns:a16="http://schemas.microsoft.com/office/drawing/2014/main" id="{FB2B434B-1D3B-4DDD-A38F-6C9CCB216265}"/>
              </a:ext>
            </a:extLst>
          </p:cNvPr>
          <p:cNvSpPr>
            <a:spLocks noGrp="1"/>
          </p:cNvSpPr>
          <p:nvPr/>
        </p:nvSpPr>
        <p:spPr>
          <a:xfrm>
            <a:off x="609600" y="48291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04</a:t>
            </a:r>
          </a:p>
        </p:txBody>
      </p:sp>
      <p:sp>
        <p:nvSpPr>
          <p:cNvPr id="12" name="text-11">
            <a:extLst>
              <a:ext uri="{FF2B5EF4-FFF2-40B4-BE49-F238E27FC236}">
                <a16:creationId xmlns:a16="http://schemas.microsoft.com/office/drawing/2014/main" id="{ABA085DE-7658-4285-9562-49ABC359B62B}"/>
              </a:ext>
            </a:extLst>
          </p:cNvPr>
          <p:cNvSpPr>
            <a:spLocks noGrp="1"/>
          </p:cNvSpPr>
          <p:nvPr/>
        </p:nvSpPr>
        <p:spPr>
          <a:xfrm>
            <a:off x="1485900" y="47910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Wskaż ryzyko duplikatów i cech zdradzających etykietę.</a:t>
            </a:r>
          </a:p>
        </p:txBody>
      </p:sp>
      <p:sp>
        <p:nvSpPr>
          <p:cNvPr id="13" name="text-12">
            <a:extLst>
              <a:ext uri="{FF2B5EF4-FFF2-40B4-BE49-F238E27FC236}">
                <a16:creationId xmlns:a16="http://schemas.microsoft.com/office/drawing/2014/main" id="{942291BE-9020-4BA5-8DF8-7C974BCF5FA6}"/>
              </a:ext>
            </a:extLst>
          </p:cNvPr>
          <p:cNvSpPr>
            <a:spLocks noGrp="1"/>
          </p:cNvSpPr>
          <p:nvPr/>
        </p:nvSpPr>
        <p:spPr>
          <a:xfrm>
            <a:off x="609600" y="5848350"/>
            <a:ext cx="1371600" cy="257175"/>
          </a:xfrm>
          <a:prstGeom prst="rect">
            <a:avLst/>
          </a:prstGeom>
          <a:noFill/>
          <a:ln w="0">
            <a:noFill/>
          </a:ln>
        </p:spPr>
        <p:txBody>
          <a:bodyPr wrap="square" lIns="0" tIns="0" rIns="0" bIns="0" anchor="t">
            <a:noAutofit/>
          </a:bodyPr>
          <a:lstStyle/>
          <a:p>
            <a:pPr>
              <a:defRPr sz="1200" b="1">
                <a:solidFill>
                  <a:srgbClr val="62DCCB"/>
                </a:solidFill>
                <a:latin typeface="Nimbus Sans"/>
                <a:ea typeface="Nimbus Sans"/>
                <a:cs typeface="Nimbus Sans"/>
              </a:defRPr>
            </a:pPr>
            <a:r>
              <a:rPr sz="1200" b="1">
                <a:solidFill>
                  <a:srgbClr val="62DCCB"/>
                </a:solidFill>
                <a:latin typeface="Nimbus Sans"/>
                <a:ea typeface="Nimbus Sans"/>
                <a:cs typeface="Nimbus Sans"/>
              </a:rPr>
              <a:t>REZULTAT</a:t>
            </a:r>
          </a:p>
        </p:txBody>
      </p:sp>
      <p:sp>
        <p:nvSpPr>
          <p:cNvPr id="14" name="text-13">
            <a:extLst>
              <a:ext uri="{FF2B5EF4-FFF2-40B4-BE49-F238E27FC236}">
                <a16:creationId xmlns:a16="http://schemas.microsoft.com/office/drawing/2014/main" id="{95E86986-056F-4EBA-AC1C-73490C12017C}"/>
              </a:ext>
            </a:extLst>
          </p:cNvPr>
          <p:cNvSpPr>
            <a:spLocks noGrp="1"/>
          </p:cNvSpPr>
          <p:nvPr/>
        </p:nvSpPr>
        <p:spPr>
          <a:xfrm>
            <a:off x="2057400" y="5791200"/>
            <a:ext cx="9525000" cy="457200"/>
          </a:xfrm>
          <a:prstGeom prst="rect">
            <a:avLst/>
          </a:prstGeom>
          <a:noFill/>
          <a:ln w="0">
            <a:noFill/>
          </a:ln>
        </p:spPr>
        <p:txBody>
          <a:bodyPr wrap="square" lIns="0" tIns="0" rIns="0" bIns="0" anchor="t">
            <a:noAutofit/>
          </a:bodyPr>
          <a:lstStyle/>
          <a:p>
            <a:pPr>
              <a:defRPr sz="1800" b="0">
                <a:solidFill>
                  <a:srgbClr val="D7E3E8"/>
                </a:solidFill>
                <a:latin typeface="Nimbus Sans"/>
                <a:ea typeface="Nimbus Sans"/>
                <a:cs typeface="Nimbus Sans"/>
              </a:defRPr>
            </a:pPr>
            <a:r>
              <a:rPr sz="1800" b="0">
                <a:solidFill>
                  <a:srgbClr val="D7E3E8"/>
                </a:solidFill>
                <a:latin typeface="Nimbus Sans"/>
                <a:ea typeface="Nimbus Sans"/>
                <a:cs typeface="Nimbus Sans"/>
              </a:rPr>
              <a:t>Projekt pipeline i lista testów jakości przed treningiem.</a:t>
            </a:r>
          </a:p>
        </p:txBody>
      </p:sp>
    </p:spTree>
    <p:extLst>
      <p:ext uri="{BB962C8B-B14F-4D97-AF65-F5344CB8AC3E}">
        <p14:creationId xmlns:p14="http://schemas.microsoft.com/office/powerpoint/2010/main" val="16828647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4AC712A4-717C-45E5-81CF-11F75DD37D7B}"/>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05  /  SIECI NEURONOWE</a:t>
            </a:r>
          </a:p>
        </p:txBody>
      </p:sp>
      <p:sp>
        <p:nvSpPr>
          <p:cNvPr id="2" name="text-1">
            <a:extLst>
              <a:ext uri="{FF2B5EF4-FFF2-40B4-BE49-F238E27FC236}">
                <a16:creationId xmlns:a16="http://schemas.microsoft.com/office/drawing/2014/main" id="{B6E1C783-70D0-4A23-A233-1C49DE91178F}"/>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Granice zastosowania sieci</a:t>
            </a:r>
          </a:p>
        </p:txBody>
      </p:sp>
      <p:sp>
        <p:nvSpPr>
          <p:cNvPr id="3" name="text-2">
            <a:extLst>
              <a:ext uri="{FF2B5EF4-FFF2-40B4-BE49-F238E27FC236}">
                <a16:creationId xmlns:a16="http://schemas.microsoft.com/office/drawing/2014/main" id="{3A552652-B7F2-4FFF-B2B5-2DD1FCDB5D48}"/>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A212C9AA-A180-496C-AEDA-B1A070E674D6}"/>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80</a:t>
            </a:r>
          </a:p>
        </p:txBody>
      </p:sp>
      <p:sp>
        <p:nvSpPr>
          <p:cNvPr id="5" name="text-4">
            <a:extLst>
              <a:ext uri="{FF2B5EF4-FFF2-40B4-BE49-F238E27FC236}">
                <a16:creationId xmlns:a16="http://schemas.microsoft.com/office/drawing/2014/main" id="{33E0122D-0421-4088-A41C-A0393564DE2A}"/>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DANE I KOSZT</a:t>
            </a:r>
          </a:p>
        </p:txBody>
      </p:sp>
      <p:sp>
        <p:nvSpPr>
          <p:cNvPr id="6" name="text-5">
            <a:extLst>
              <a:ext uri="{FF2B5EF4-FFF2-40B4-BE49-F238E27FC236}">
                <a16:creationId xmlns:a16="http://schemas.microsoft.com/office/drawing/2014/main" id="{67D04F30-BE00-40CD-AE15-996F21A91171}"/>
              </a:ext>
            </a:extLst>
          </p:cNvPr>
          <p:cNvSpPr>
            <a:spLocks noGrp="1"/>
          </p:cNvSpPr>
          <p:nvPr/>
        </p:nvSpPr>
        <p:spPr>
          <a:xfrm>
            <a:off x="609600" y="267652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Mały zbiór może nie wystarczyć do uczenia wielu parametrów.</a:t>
            </a:r>
          </a:p>
        </p:txBody>
      </p:sp>
      <p:sp>
        <p:nvSpPr>
          <p:cNvPr id="7" name="text-6">
            <a:extLst>
              <a:ext uri="{FF2B5EF4-FFF2-40B4-BE49-F238E27FC236}">
                <a16:creationId xmlns:a16="http://schemas.microsoft.com/office/drawing/2014/main" id="{BE5816CD-9774-4DA1-A9B0-A926CD00EBC0}"/>
              </a:ext>
            </a:extLst>
          </p:cNvPr>
          <p:cNvSpPr>
            <a:spLocks noGrp="1"/>
          </p:cNvSpPr>
          <p:nvPr/>
        </p:nvSpPr>
        <p:spPr>
          <a:xfrm>
            <a:off x="609600" y="3607689"/>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Zmiana rozkładu danych pogarsza predykcje.</a:t>
            </a:r>
          </a:p>
        </p:txBody>
      </p:sp>
      <p:sp>
        <p:nvSpPr>
          <p:cNvPr id="8" name="text-7">
            <a:extLst>
              <a:ext uri="{FF2B5EF4-FFF2-40B4-BE49-F238E27FC236}">
                <a16:creationId xmlns:a16="http://schemas.microsoft.com/office/drawing/2014/main" id="{41C1F15E-6380-4C2C-BD7D-F67917199E6A}"/>
              </a:ext>
            </a:extLst>
          </p:cNvPr>
          <p:cNvSpPr>
            <a:spLocks noGrp="1"/>
          </p:cNvSpPr>
          <p:nvPr/>
        </p:nvSpPr>
        <p:spPr>
          <a:xfrm>
            <a:off x="609600" y="4538853"/>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Wynik zależy od reprezentacji i procedury uczenia.</a:t>
            </a:r>
          </a:p>
        </p:txBody>
      </p:sp>
      <p:sp>
        <p:nvSpPr>
          <p:cNvPr id="9" name="text-8">
            <a:extLst>
              <a:ext uri="{FF2B5EF4-FFF2-40B4-BE49-F238E27FC236}">
                <a16:creationId xmlns:a16="http://schemas.microsoft.com/office/drawing/2014/main" id="{D64732E1-5E2E-4D16-92BF-77CA19E3CDA1}"/>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ODPOWIEDZIALNOŚĆ</a:t>
            </a:r>
          </a:p>
        </p:txBody>
      </p:sp>
      <p:sp>
        <p:nvSpPr>
          <p:cNvPr id="10" name="text-9">
            <a:extLst>
              <a:ext uri="{FF2B5EF4-FFF2-40B4-BE49-F238E27FC236}">
                <a16:creationId xmlns:a16="http://schemas.microsoft.com/office/drawing/2014/main" id="{18086F90-EAB3-46EB-A427-0011FDF36F7C}"/>
              </a:ext>
            </a:extLst>
          </p:cNvPr>
          <p:cNvSpPr>
            <a:spLocks noGrp="1"/>
          </p:cNvSpPr>
          <p:nvPr/>
        </p:nvSpPr>
        <p:spPr>
          <a:xfrm>
            <a:off x="6515100" y="267652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Niska pewność wymaga reguły dalszego postępowania.</a:t>
            </a:r>
          </a:p>
        </p:txBody>
      </p:sp>
      <p:sp>
        <p:nvSpPr>
          <p:cNvPr id="11" name="text-10">
            <a:extLst>
              <a:ext uri="{FF2B5EF4-FFF2-40B4-BE49-F238E27FC236}">
                <a16:creationId xmlns:a16="http://schemas.microsoft.com/office/drawing/2014/main" id="{04FB3581-0365-49C9-A474-25B87DE9F5F7}"/>
              </a:ext>
            </a:extLst>
          </p:cNvPr>
          <p:cNvSpPr>
            <a:spLocks noGrp="1"/>
          </p:cNvSpPr>
          <p:nvPr/>
        </p:nvSpPr>
        <p:spPr>
          <a:xfrm>
            <a:off x="6515100" y="3607689"/>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Model może odtwarzać błędy etykiet.</a:t>
            </a:r>
          </a:p>
        </p:txBody>
      </p:sp>
      <p:sp>
        <p:nvSpPr>
          <p:cNvPr id="12" name="text-11">
            <a:extLst>
              <a:ext uri="{FF2B5EF4-FFF2-40B4-BE49-F238E27FC236}">
                <a16:creationId xmlns:a16="http://schemas.microsoft.com/office/drawing/2014/main" id="{137CA0DD-1E5D-472E-8882-F4C1896C515D}"/>
              </a:ext>
            </a:extLst>
          </p:cNvPr>
          <p:cNvSpPr>
            <a:spLocks noGrp="1"/>
          </p:cNvSpPr>
          <p:nvPr/>
        </p:nvSpPr>
        <p:spPr>
          <a:xfrm>
            <a:off x="6515100" y="4201859"/>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Wdrożenie wymaga monitorowania po uruchomieniu.</a:t>
            </a:r>
          </a:p>
        </p:txBody>
      </p:sp>
    </p:spTree>
    <p:extLst>
      <p:ext uri="{BB962C8B-B14F-4D97-AF65-F5344CB8AC3E}">
        <p14:creationId xmlns:p14="http://schemas.microsoft.com/office/powerpoint/2010/main" val="73619779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pic>
        <p:nvPicPr>
          <p:cNvPr id="7" name="Obraz 6"/>
          <p:cNvPicPr>
            <a:picLocks noChangeAspect="1"/>
          </p:cNvPicPr>
          <p:nvPr/>
        </p:nvPicPr>
        <p:blipFill>
          <a:blip r:embed="rId3"/>
          <a:srcRect t="27" b="27"/>
          <a:stretch>
            <a:fillRect/>
          </a:stretch>
        </p:blipFill>
        <p:spPr>
          <a:xfrm>
            <a:off x="0" y="0"/>
            <a:ext cx="12192000" cy="6858000"/>
          </a:xfrm>
          <a:prstGeom prst="rect">
            <a:avLst/>
          </a:prstGeom>
        </p:spPr>
      </p:pic>
      <p:sp>
        <p:nvSpPr>
          <p:cNvPr id="2" name="text-0">
            <a:extLst>
              <a:ext uri="{FF2B5EF4-FFF2-40B4-BE49-F238E27FC236}">
                <a16:creationId xmlns:a16="http://schemas.microsoft.com/office/drawing/2014/main" id="{DBB1B29E-A14B-4D19-A741-C9900F37F317}"/>
              </a:ext>
            </a:extLst>
          </p:cNvPr>
          <p:cNvSpPr>
            <a:spLocks noGrp="1"/>
          </p:cNvSpPr>
          <p:nvPr/>
        </p:nvSpPr>
        <p:spPr>
          <a:xfrm>
            <a:off x="581025" y="504825"/>
            <a:ext cx="2857500" cy="1428750"/>
          </a:xfrm>
          <a:prstGeom prst="rect">
            <a:avLst/>
          </a:prstGeom>
          <a:noFill/>
          <a:ln w="0">
            <a:noFill/>
          </a:ln>
        </p:spPr>
        <p:txBody>
          <a:bodyPr wrap="square" lIns="0" tIns="0" rIns="0" bIns="0" anchor="t">
            <a:noAutofit/>
          </a:bodyPr>
          <a:lstStyle/>
          <a:p>
            <a:pPr>
              <a:defRPr sz="9300" b="1">
                <a:solidFill>
                  <a:srgbClr val="62DCCB"/>
                </a:solidFill>
                <a:latin typeface="Nimbus Sans"/>
                <a:ea typeface="Nimbus Sans"/>
                <a:cs typeface="Nimbus Sans"/>
              </a:defRPr>
            </a:pPr>
            <a:r>
              <a:rPr sz="9300" b="1">
                <a:solidFill>
                  <a:srgbClr val="62DCCB"/>
                </a:solidFill>
                <a:latin typeface="Nimbus Sans"/>
                <a:ea typeface="Nimbus Sans"/>
                <a:cs typeface="Nimbus Sans"/>
              </a:rPr>
              <a:t>06</a:t>
            </a:r>
          </a:p>
        </p:txBody>
      </p:sp>
      <p:sp>
        <p:nvSpPr>
          <p:cNvPr id="3" name="text-1">
            <a:extLst>
              <a:ext uri="{FF2B5EF4-FFF2-40B4-BE49-F238E27FC236}">
                <a16:creationId xmlns:a16="http://schemas.microsoft.com/office/drawing/2014/main" id="{42D3538D-9FDF-4BD2-A352-9E7E89C72B28}"/>
              </a:ext>
            </a:extLst>
          </p:cNvPr>
          <p:cNvSpPr>
            <a:spLocks noGrp="1"/>
          </p:cNvSpPr>
          <p:nvPr/>
        </p:nvSpPr>
        <p:spPr>
          <a:xfrm>
            <a:off x="609600" y="2219325"/>
            <a:ext cx="8858250" cy="1885950"/>
          </a:xfrm>
          <a:prstGeom prst="rect">
            <a:avLst/>
          </a:prstGeom>
          <a:noFill/>
          <a:ln w="0">
            <a:noFill/>
          </a:ln>
        </p:spPr>
        <p:txBody>
          <a:bodyPr wrap="square" lIns="0" tIns="0" rIns="0" bIns="0" anchor="t">
            <a:noAutofit/>
          </a:bodyPr>
          <a:lstStyle/>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Podsumowanie</a:t>
            </a:r>
          </a:p>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i dalszy rozwój</a:t>
            </a:r>
          </a:p>
        </p:txBody>
      </p:sp>
      <p:sp>
        <p:nvSpPr>
          <p:cNvPr id="4" name="text-2">
            <a:extLst>
              <a:ext uri="{FF2B5EF4-FFF2-40B4-BE49-F238E27FC236}">
                <a16:creationId xmlns:a16="http://schemas.microsoft.com/office/drawing/2014/main" id="{0F04B766-41F1-4AF3-89BD-85F775534170}"/>
              </a:ext>
            </a:extLst>
          </p:cNvPr>
          <p:cNvSpPr>
            <a:spLocks noGrp="1"/>
          </p:cNvSpPr>
          <p:nvPr/>
        </p:nvSpPr>
        <p:spPr>
          <a:xfrm>
            <a:off x="638175" y="4314825"/>
            <a:ext cx="5048250" cy="1047750"/>
          </a:xfrm>
          <a:prstGeom prst="rect">
            <a:avLst/>
          </a:prstGeom>
          <a:noFill/>
          <a:ln w="0">
            <a:noFill/>
          </a:ln>
        </p:spPr>
        <p:txBody>
          <a:bodyPr wrap="square" lIns="0" tIns="0" rIns="0" bIns="0" anchor="t">
            <a:noAutofit/>
          </a:bodyPr>
          <a:lstStyle/>
          <a:p>
            <a:pPr>
              <a:defRPr sz="2100" b="0">
                <a:solidFill>
                  <a:srgbClr val="D7E3E8"/>
                </a:solidFill>
                <a:latin typeface="Nimbus Sans"/>
                <a:ea typeface="Nimbus Sans"/>
                <a:cs typeface="Nimbus Sans"/>
              </a:defRPr>
            </a:pPr>
            <a:r>
              <a:rPr sz="2100" b="0">
                <a:solidFill>
                  <a:srgbClr val="D7E3E8"/>
                </a:solidFill>
                <a:latin typeface="Nimbus Sans"/>
                <a:ea typeface="Nimbus Sans"/>
                <a:cs typeface="Nimbus Sans"/>
              </a:rPr>
              <a:t>Dobór metod, projekt przekrojowy i plan kolejnych kroków</a:t>
            </a:r>
          </a:p>
        </p:txBody>
      </p:sp>
      <p:sp>
        <p:nvSpPr>
          <p:cNvPr id="5" name="text-3">
            <a:extLst>
              <a:ext uri="{FF2B5EF4-FFF2-40B4-BE49-F238E27FC236}">
                <a16:creationId xmlns:a16="http://schemas.microsoft.com/office/drawing/2014/main" id="{DC55246F-C0EB-43FD-81E1-04A3B8E74900}"/>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6" name="text-4">
            <a:extLst>
              <a:ext uri="{FF2B5EF4-FFF2-40B4-BE49-F238E27FC236}">
                <a16:creationId xmlns:a16="http://schemas.microsoft.com/office/drawing/2014/main" id="{BE29325B-58F3-42F8-AF40-08557E29B0CE}"/>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81</a:t>
            </a:r>
          </a:p>
        </p:txBody>
      </p:sp>
    </p:spTree>
    <p:extLst>
      <p:ext uri="{BB962C8B-B14F-4D97-AF65-F5344CB8AC3E}">
        <p14:creationId xmlns:p14="http://schemas.microsoft.com/office/powerpoint/2010/main" val="10710657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A401E958-CFFD-467C-B1EA-619968C770D7}"/>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06  /  PODSUMOWANIE I DALSZY ROZWÓJ</a:t>
            </a:r>
          </a:p>
        </p:txBody>
      </p:sp>
      <p:sp>
        <p:nvSpPr>
          <p:cNvPr id="2" name="text-1">
            <a:extLst>
              <a:ext uri="{FF2B5EF4-FFF2-40B4-BE49-F238E27FC236}">
                <a16:creationId xmlns:a16="http://schemas.microsoft.com/office/drawing/2014/main" id="{0A6C8914-0639-41E5-921B-1DC2D752D310}"/>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Mapa doboru metod</a:t>
            </a:r>
          </a:p>
        </p:txBody>
      </p:sp>
      <p:sp>
        <p:nvSpPr>
          <p:cNvPr id="3" name="text-2">
            <a:extLst>
              <a:ext uri="{FF2B5EF4-FFF2-40B4-BE49-F238E27FC236}">
                <a16:creationId xmlns:a16="http://schemas.microsoft.com/office/drawing/2014/main" id="{1523B83E-4D63-4D30-9D1C-4A87158AF670}"/>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FA633654-2EE5-4CFA-876A-9DBA9B892130}"/>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82</a:t>
            </a:r>
          </a:p>
        </p:txBody>
      </p:sp>
      <p:graphicFrame>
        <p:nvGraphicFramePr>
          <p:cNvPr id="10" name="Tabela 9"/>
          <p:cNvGraphicFramePr/>
          <p:nvPr/>
        </p:nvGraphicFramePr>
        <p:xfrm>
          <a:off x="609600" y="1971675"/>
          <a:ext cx="10972800" cy="3886200"/>
        </p:xfrm>
        <a:graphic>
          <a:graphicData uri="http://schemas.openxmlformats.org/drawingml/2006/table">
            <a:tbl>
              <a:tblPr/>
              <a:tblGrid>
                <a:gridCol w="2743200">
                  <a:extLst>
                    <a:ext uri="{9D8B030D-6E8A-4147-A177-3AD203B41FA5}">
                      <a16:colId xmlns:a16="http://schemas.microsoft.com/office/drawing/2014/main" val="20000"/>
                    </a:ext>
                  </a:extLst>
                </a:gridCol>
                <a:gridCol w="4334256">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555171">
                <a:tc>
                  <a:txBody>
                    <a:bodyPr/>
                    <a:lstStyle/>
                    <a:p>
                      <a:r>
                        <a:rPr sz="1725" b="1">
                          <a:solidFill>
                            <a:srgbClr val="FFFFFF"/>
                          </a:solidFill>
                          <a:latin typeface="Nimbus Sans"/>
                          <a:ea typeface="Nimbus Sans"/>
                          <a:cs typeface="Nimbus Sans"/>
                        </a:rPr>
                        <a:t>Potrzeba</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Pierwszy kandydat</a:t>
                      </a:r>
                    </a:p>
                  </a:txBody>
                  <a:tcPr marL="133350" marR="114300" marT="123825" marB="104775" anchor="ctr">
                    <a:solidFill>
                      <a:srgbClr val="0B1426"/>
                    </a:solidFill>
                  </a:tcPr>
                </a:tc>
                <a:tc>
                  <a:txBody>
                    <a:bodyPr/>
                    <a:lstStyle/>
                    <a:p>
                      <a:r>
                        <a:rPr sz="1725" b="1">
                          <a:solidFill>
                            <a:srgbClr val="FFFFFF"/>
                          </a:solidFill>
                          <a:latin typeface="Nimbus Sans"/>
                          <a:ea typeface="Nimbus Sans"/>
                          <a:cs typeface="Nimbus Sans"/>
                        </a:rPr>
                        <a:t>Następny krok</a:t>
                      </a:r>
                    </a:p>
                  </a:txBody>
                  <a:tcPr marL="133350" marR="114300" marT="123825" marB="104775" anchor="ctr">
                    <a:solidFill>
                      <a:srgbClr val="0B1426"/>
                    </a:solidFill>
                  </a:tcPr>
                </a:tc>
                <a:extLst>
                  <a:ext uri="{0D108BD9-81ED-4DB2-BD59-A6C34878D82A}">
                    <a16:rowId xmlns:a16="http://schemas.microsoft.com/office/drawing/2014/main" val="10000"/>
                  </a:ext>
                </a:extLst>
              </a:tr>
              <a:tr h="555171">
                <a:tc>
                  <a:txBody>
                    <a:bodyPr/>
                    <a:lstStyle/>
                    <a:p>
                      <a:r>
                        <a:rPr sz="1875" b="1">
                          <a:solidFill>
                            <a:srgbClr val="17243A"/>
                          </a:solidFill>
                          <a:latin typeface="Nimbus Sans"/>
                          <a:ea typeface="Nimbus Sans"/>
                          <a:cs typeface="Nimbus Sans"/>
                        </a:rPr>
                        <a:t>Dane z etykietą</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Regresja logistyczna</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SVM lub zespoły drzew</a:t>
                      </a:r>
                    </a:p>
                  </a:txBody>
                  <a:tcPr marL="133350" marR="114300" marT="123825" marB="104775" anchor="ctr">
                    <a:solidFill>
                      <a:srgbClr val="FFFFFF"/>
                    </a:solidFill>
                  </a:tcPr>
                </a:tc>
                <a:extLst>
                  <a:ext uri="{0D108BD9-81ED-4DB2-BD59-A6C34878D82A}">
                    <a16:rowId xmlns:a16="http://schemas.microsoft.com/office/drawing/2014/main" val="10001"/>
                  </a:ext>
                </a:extLst>
              </a:tr>
              <a:tr h="555171">
                <a:tc>
                  <a:txBody>
                    <a:bodyPr/>
                    <a:lstStyle/>
                    <a:p>
                      <a:r>
                        <a:rPr sz="1875" b="1">
                          <a:solidFill>
                            <a:srgbClr val="17243A"/>
                          </a:solidFill>
                          <a:latin typeface="Nimbus Sans"/>
                          <a:ea typeface="Nimbus Sans"/>
                          <a:cs typeface="Nimbus Sans"/>
                        </a:rPr>
                        <a:t>Wartość ciągła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Regresja liniowa / Ridge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SVR lub boosting</a:t>
                      </a:r>
                    </a:p>
                  </a:txBody>
                  <a:tcPr marL="133350" marR="114300" marT="123825" marB="104775" anchor="ctr">
                    <a:solidFill>
                      <a:srgbClr val="E9EFED"/>
                    </a:solidFill>
                  </a:tcPr>
                </a:tc>
                <a:extLst>
                  <a:ext uri="{0D108BD9-81ED-4DB2-BD59-A6C34878D82A}">
                    <a16:rowId xmlns:a16="http://schemas.microsoft.com/office/drawing/2014/main" val="10002"/>
                  </a:ext>
                </a:extLst>
              </a:tr>
              <a:tr h="555171">
                <a:tc>
                  <a:txBody>
                    <a:bodyPr/>
                    <a:lstStyle/>
                    <a:p>
                      <a:r>
                        <a:rPr sz="1875" b="1">
                          <a:solidFill>
                            <a:srgbClr val="17243A"/>
                          </a:solidFill>
                          <a:latin typeface="Nimbus Sans"/>
                          <a:ea typeface="Nimbus Sans"/>
                          <a:cs typeface="Nimbus Sans"/>
                        </a:rPr>
                        <a:t>Grupy bez etykiet</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k-means</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DBSCAN</a:t>
                      </a:r>
                    </a:p>
                  </a:txBody>
                  <a:tcPr marL="133350" marR="114300" marT="123825" marB="104775" anchor="ctr">
                    <a:solidFill>
                      <a:srgbClr val="FFFFFF"/>
                    </a:solidFill>
                  </a:tcPr>
                </a:tc>
                <a:extLst>
                  <a:ext uri="{0D108BD9-81ED-4DB2-BD59-A6C34878D82A}">
                    <a16:rowId xmlns:a16="http://schemas.microsoft.com/office/drawing/2014/main" val="10003"/>
                  </a:ext>
                </a:extLst>
              </a:tr>
              <a:tr h="555171">
                <a:tc>
                  <a:txBody>
                    <a:bodyPr/>
                    <a:lstStyle/>
                    <a:p>
                      <a:r>
                        <a:rPr sz="1875" b="1">
                          <a:solidFill>
                            <a:srgbClr val="17243A"/>
                          </a:solidFill>
                          <a:latin typeface="Nimbus Sans"/>
                          <a:ea typeface="Nimbus Sans"/>
                          <a:cs typeface="Nimbus Sans"/>
                        </a:rPr>
                        <a:t>Ograniczenia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Heurystyka / solver</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Algorytm genetyczny</a:t>
                      </a:r>
                    </a:p>
                  </a:txBody>
                  <a:tcPr marL="133350" marR="114300" marT="123825" marB="104775" anchor="ctr">
                    <a:solidFill>
                      <a:srgbClr val="E9EFED"/>
                    </a:solidFill>
                  </a:tcPr>
                </a:tc>
                <a:extLst>
                  <a:ext uri="{0D108BD9-81ED-4DB2-BD59-A6C34878D82A}">
                    <a16:rowId xmlns:a16="http://schemas.microsoft.com/office/drawing/2014/main" val="10004"/>
                  </a:ext>
                </a:extLst>
              </a:tr>
              <a:tr h="555171">
                <a:tc>
                  <a:txBody>
                    <a:bodyPr/>
                    <a:lstStyle/>
                    <a:p>
                      <a:r>
                        <a:rPr sz="1875" b="1">
                          <a:solidFill>
                            <a:srgbClr val="17243A"/>
                          </a:solidFill>
                          <a:latin typeface="Nimbus Sans"/>
                          <a:ea typeface="Nimbus Sans"/>
                          <a:cs typeface="Nimbus Sans"/>
                        </a:rPr>
                        <a:t>Reguły eksperckie</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System rozmyty</a:t>
                      </a:r>
                    </a:p>
                  </a:txBody>
                  <a:tcPr marL="133350" marR="114300" marT="123825" marB="104775" anchor="ctr">
                    <a:solidFill>
                      <a:srgbClr val="FFFFFF"/>
                    </a:solidFill>
                  </a:tcPr>
                </a:tc>
                <a:tc>
                  <a:txBody>
                    <a:bodyPr/>
                    <a:lstStyle/>
                    <a:p>
                      <a:r>
                        <a:rPr sz="1875" b="0">
                          <a:solidFill>
                            <a:srgbClr val="17243A"/>
                          </a:solidFill>
                          <a:latin typeface="Nimbus Sans"/>
                          <a:ea typeface="Nimbus Sans"/>
                          <a:cs typeface="Nimbus Sans"/>
                        </a:rPr>
                        <a:t>Strojenie funkcji i reguł</a:t>
                      </a:r>
                    </a:p>
                  </a:txBody>
                  <a:tcPr marL="133350" marR="114300" marT="123825" marB="104775" anchor="ctr">
                    <a:solidFill>
                      <a:srgbClr val="FFFFFF"/>
                    </a:solidFill>
                  </a:tcPr>
                </a:tc>
                <a:extLst>
                  <a:ext uri="{0D108BD9-81ED-4DB2-BD59-A6C34878D82A}">
                    <a16:rowId xmlns:a16="http://schemas.microsoft.com/office/drawing/2014/main" val="10005"/>
                  </a:ext>
                </a:extLst>
              </a:tr>
              <a:tr h="555171">
                <a:tc>
                  <a:txBody>
                    <a:bodyPr/>
                    <a:lstStyle/>
                    <a:p>
                      <a:r>
                        <a:rPr sz="1875" b="1">
                          <a:solidFill>
                            <a:srgbClr val="17243A"/>
                          </a:solidFill>
                          <a:latin typeface="Nimbus Sans"/>
                          <a:ea typeface="Nimbus Sans"/>
                          <a:cs typeface="Nimbus Sans"/>
                        </a:rPr>
                        <a:t>Złożone reprezentacje</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Model odniesienia</a:t>
                      </a:r>
                    </a:p>
                  </a:txBody>
                  <a:tcPr marL="133350" marR="114300" marT="123825" marB="104775" anchor="ctr">
                    <a:solidFill>
                      <a:srgbClr val="E9EFED"/>
                    </a:solidFill>
                  </a:tcPr>
                </a:tc>
                <a:tc>
                  <a:txBody>
                    <a:bodyPr/>
                    <a:lstStyle/>
                    <a:p>
                      <a:r>
                        <a:rPr sz="1875" b="0">
                          <a:solidFill>
                            <a:srgbClr val="17243A"/>
                          </a:solidFill>
                          <a:latin typeface="Nimbus Sans"/>
                          <a:ea typeface="Nimbus Sans"/>
                          <a:cs typeface="Nimbus Sans"/>
                        </a:rPr>
                        <a:t>Sieć i ocena kosztu</a:t>
                      </a:r>
                    </a:p>
                  </a:txBody>
                  <a:tcPr marL="133350" marR="114300" marT="123825" marB="104775" anchor="ctr">
                    <a:solidFill>
                      <a:srgbClr val="E9EFED"/>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661702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A193D658-E75F-457C-AAA2-C6D7E366EA4A}"/>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2" name="text-1">
            <a:extLst>
              <a:ext uri="{FF2B5EF4-FFF2-40B4-BE49-F238E27FC236}">
                <a16:creationId xmlns:a16="http://schemas.microsoft.com/office/drawing/2014/main" id="{AE93E239-42E9-4E83-8D00-F8532647AF69}"/>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83</a:t>
            </a:r>
          </a:p>
        </p:txBody>
      </p:sp>
      <p:sp>
        <p:nvSpPr>
          <p:cNvPr id="3" name="text-2">
            <a:extLst>
              <a:ext uri="{FF2B5EF4-FFF2-40B4-BE49-F238E27FC236}">
                <a16:creationId xmlns:a16="http://schemas.microsoft.com/office/drawing/2014/main" id="{5C31B2FF-DB66-44FA-B6D7-12FF18106AE5}"/>
              </a:ext>
            </a:extLst>
          </p:cNvPr>
          <p:cNvSpPr>
            <a:spLocks noGrp="1"/>
          </p:cNvSpPr>
          <p:nvPr/>
        </p:nvSpPr>
        <p:spPr>
          <a:xfrm>
            <a:off x="609600" y="400050"/>
            <a:ext cx="10477500" cy="28575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LABORATORIUM 09  /  30 MIN</a:t>
            </a:r>
          </a:p>
        </p:txBody>
      </p:sp>
      <p:sp>
        <p:nvSpPr>
          <p:cNvPr id="4" name="text-3">
            <a:extLst>
              <a:ext uri="{FF2B5EF4-FFF2-40B4-BE49-F238E27FC236}">
                <a16:creationId xmlns:a16="http://schemas.microsoft.com/office/drawing/2014/main" id="{4621CE63-8F2A-4875-A1FF-59D8DF57459E}"/>
              </a:ext>
            </a:extLst>
          </p:cNvPr>
          <p:cNvSpPr>
            <a:spLocks noGrp="1"/>
          </p:cNvSpPr>
          <p:nvPr/>
        </p:nvSpPr>
        <p:spPr>
          <a:xfrm>
            <a:off x="609600" y="971550"/>
            <a:ext cx="10972800" cy="1000125"/>
          </a:xfrm>
          <a:prstGeom prst="rect">
            <a:avLst/>
          </a:prstGeom>
          <a:noFill/>
          <a:ln w="0">
            <a:noFill/>
          </a:ln>
        </p:spPr>
        <p:txBody>
          <a:bodyPr wrap="square" lIns="0" tIns="0" rIns="0" bIns="0" anchor="t">
            <a:noAutofit/>
          </a:bodyPr>
          <a:lstStyle/>
          <a:p>
            <a:pPr>
              <a:defRPr sz="3375" b="1">
                <a:solidFill>
                  <a:srgbClr val="FFFFFF"/>
                </a:solidFill>
                <a:latin typeface="Nimbus Sans"/>
                <a:ea typeface="Nimbus Sans"/>
                <a:cs typeface="Nimbus Sans"/>
              </a:defRPr>
            </a:pPr>
            <a:r>
              <a:rPr sz="3375" b="1">
                <a:solidFill>
                  <a:srgbClr val="FFFFFF"/>
                </a:solidFill>
                <a:latin typeface="Nimbus Sans"/>
                <a:ea typeface="Nimbus Sans"/>
                <a:cs typeface="Nimbus Sans"/>
              </a:rPr>
              <a:t>Projekt przekrojowy: wybór rozwiązania</a:t>
            </a:r>
          </a:p>
        </p:txBody>
      </p:sp>
      <p:sp>
        <p:nvSpPr>
          <p:cNvPr id="5" name="text-4">
            <a:extLst>
              <a:ext uri="{FF2B5EF4-FFF2-40B4-BE49-F238E27FC236}">
                <a16:creationId xmlns:a16="http://schemas.microsoft.com/office/drawing/2014/main" id="{1EC29441-12E6-4857-B052-862D34F6A300}"/>
              </a:ext>
            </a:extLst>
          </p:cNvPr>
          <p:cNvSpPr>
            <a:spLocks noGrp="1"/>
          </p:cNvSpPr>
          <p:nvPr/>
        </p:nvSpPr>
        <p:spPr>
          <a:xfrm>
            <a:off x="609600" y="23145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01</a:t>
            </a:r>
          </a:p>
        </p:txBody>
      </p:sp>
      <p:sp>
        <p:nvSpPr>
          <p:cNvPr id="6" name="text-5">
            <a:extLst>
              <a:ext uri="{FF2B5EF4-FFF2-40B4-BE49-F238E27FC236}">
                <a16:creationId xmlns:a16="http://schemas.microsoft.com/office/drawing/2014/main" id="{409CBB65-4B85-4AB3-B9FC-0065BA78AA1D}"/>
              </a:ext>
            </a:extLst>
          </p:cNvPr>
          <p:cNvSpPr>
            <a:spLocks noGrp="1"/>
          </p:cNvSpPr>
          <p:nvPr/>
        </p:nvSpPr>
        <p:spPr>
          <a:xfrm>
            <a:off x="1485900" y="22764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Wybierz problem i zapisz, jaka decyzja ma się poprawić.</a:t>
            </a:r>
          </a:p>
        </p:txBody>
      </p:sp>
      <p:sp>
        <p:nvSpPr>
          <p:cNvPr id="7" name="text-6">
            <a:extLst>
              <a:ext uri="{FF2B5EF4-FFF2-40B4-BE49-F238E27FC236}">
                <a16:creationId xmlns:a16="http://schemas.microsoft.com/office/drawing/2014/main" id="{89DE4E0F-B0F7-4700-84A4-7A12D77201EF}"/>
              </a:ext>
            </a:extLst>
          </p:cNvPr>
          <p:cNvSpPr>
            <a:spLocks noGrp="1"/>
          </p:cNvSpPr>
          <p:nvPr/>
        </p:nvSpPr>
        <p:spPr>
          <a:xfrm>
            <a:off x="609600" y="31527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02</a:t>
            </a:r>
          </a:p>
        </p:txBody>
      </p:sp>
      <p:sp>
        <p:nvSpPr>
          <p:cNvPr id="8" name="text-7">
            <a:extLst>
              <a:ext uri="{FF2B5EF4-FFF2-40B4-BE49-F238E27FC236}">
                <a16:creationId xmlns:a16="http://schemas.microsoft.com/office/drawing/2014/main" id="{ADB4B786-CD11-42FB-A163-69F0469344A7}"/>
              </a:ext>
            </a:extLst>
          </p:cNvPr>
          <p:cNvSpPr>
            <a:spLocks noGrp="1"/>
          </p:cNvSpPr>
          <p:nvPr/>
        </p:nvSpPr>
        <p:spPr>
          <a:xfrm>
            <a:off x="1485900" y="31146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Zdefiniuj dane, etykietę oraz moment predykcji.</a:t>
            </a:r>
          </a:p>
        </p:txBody>
      </p:sp>
      <p:sp>
        <p:nvSpPr>
          <p:cNvPr id="9" name="text-8">
            <a:extLst>
              <a:ext uri="{FF2B5EF4-FFF2-40B4-BE49-F238E27FC236}">
                <a16:creationId xmlns:a16="http://schemas.microsoft.com/office/drawing/2014/main" id="{47C15A67-7E35-49D5-910F-FC1D8C2C3402}"/>
              </a:ext>
            </a:extLst>
          </p:cNvPr>
          <p:cNvSpPr>
            <a:spLocks noGrp="1"/>
          </p:cNvSpPr>
          <p:nvPr/>
        </p:nvSpPr>
        <p:spPr>
          <a:xfrm>
            <a:off x="609600" y="39909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03</a:t>
            </a:r>
          </a:p>
        </p:txBody>
      </p:sp>
      <p:sp>
        <p:nvSpPr>
          <p:cNvPr id="10" name="text-9">
            <a:extLst>
              <a:ext uri="{FF2B5EF4-FFF2-40B4-BE49-F238E27FC236}">
                <a16:creationId xmlns:a16="http://schemas.microsoft.com/office/drawing/2014/main" id="{0E38CA22-E83D-4984-B02D-A3F686AF245A}"/>
              </a:ext>
            </a:extLst>
          </p:cNvPr>
          <p:cNvSpPr>
            <a:spLocks noGrp="1"/>
          </p:cNvSpPr>
          <p:nvPr/>
        </p:nvSpPr>
        <p:spPr>
          <a:xfrm>
            <a:off x="1485900" y="39528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Zaproponuj baseline, podział i metrykę.</a:t>
            </a:r>
          </a:p>
        </p:txBody>
      </p:sp>
      <p:sp>
        <p:nvSpPr>
          <p:cNvPr id="11" name="text-10">
            <a:extLst>
              <a:ext uri="{FF2B5EF4-FFF2-40B4-BE49-F238E27FC236}">
                <a16:creationId xmlns:a16="http://schemas.microsoft.com/office/drawing/2014/main" id="{F394BC4B-AAF7-435C-9C61-25AE885EA6F0}"/>
              </a:ext>
            </a:extLst>
          </p:cNvPr>
          <p:cNvSpPr>
            <a:spLocks noGrp="1"/>
          </p:cNvSpPr>
          <p:nvPr/>
        </p:nvSpPr>
        <p:spPr>
          <a:xfrm>
            <a:off x="609600" y="4829175"/>
            <a:ext cx="619125" cy="419100"/>
          </a:xfrm>
          <a:prstGeom prst="rect">
            <a:avLst/>
          </a:prstGeom>
          <a:noFill/>
          <a:ln w="0">
            <a:noFill/>
          </a:ln>
        </p:spPr>
        <p:txBody>
          <a:bodyPr wrap="square" lIns="0" tIns="0" rIns="0" bIns="0" anchor="t">
            <a:noAutofit/>
          </a:bodyPr>
          <a:lstStyle/>
          <a:p>
            <a:pPr>
              <a:defRPr sz="2100" b="1">
                <a:solidFill>
                  <a:srgbClr val="62DCCB"/>
                </a:solidFill>
                <a:latin typeface="Nimbus Sans"/>
                <a:ea typeface="Nimbus Sans"/>
                <a:cs typeface="Nimbus Sans"/>
              </a:defRPr>
            </a:pPr>
            <a:r>
              <a:rPr sz="2100" b="1">
                <a:solidFill>
                  <a:srgbClr val="62DCCB"/>
                </a:solidFill>
                <a:latin typeface="Nimbus Sans"/>
                <a:ea typeface="Nimbus Sans"/>
                <a:cs typeface="Nimbus Sans"/>
              </a:rPr>
              <a:t>04</a:t>
            </a:r>
          </a:p>
        </p:txBody>
      </p:sp>
      <p:sp>
        <p:nvSpPr>
          <p:cNvPr id="12" name="text-11">
            <a:extLst>
              <a:ext uri="{FF2B5EF4-FFF2-40B4-BE49-F238E27FC236}">
                <a16:creationId xmlns:a16="http://schemas.microsoft.com/office/drawing/2014/main" id="{45334D4D-D458-497F-8A6A-6BE9B9E8806C}"/>
              </a:ext>
            </a:extLst>
          </p:cNvPr>
          <p:cNvSpPr>
            <a:spLocks noGrp="1"/>
          </p:cNvSpPr>
          <p:nvPr/>
        </p:nvSpPr>
        <p:spPr>
          <a:xfrm>
            <a:off x="1485900" y="4791075"/>
            <a:ext cx="9686925" cy="695325"/>
          </a:xfrm>
          <a:prstGeom prst="rect">
            <a:avLst/>
          </a:prstGeom>
          <a:noFill/>
          <a:ln w="0">
            <a:noFill/>
          </a:ln>
        </p:spPr>
        <p:txBody>
          <a:bodyPr wrap="square" lIns="0" tIns="0" rIns="0" bIns="0" anchor="t">
            <a:noAutofit/>
          </a:bodyPr>
          <a:lstStyle/>
          <a:p>
            <a:pPr>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Ustal warunek akceptacji i sposób monitorowania.</a:t>
            </a:r>
          </a:p>
        </p:txBody>
      </p:sp>
      <p:sp>
        <p:nvSpPr>
          <p:cNvPr id="13" name="text-12">
            <a:extLst>
              <a:ext uri="{FF2B5EF4-FFF2-40B4-BE49-F238E27FC236}">
                <a16:creationId xmlns:a16="http://schemas.microsoft.com/office/drawing/2014/main" id="{A3142E28-1038-424B-ABAC-7CDBC92FC343}"/>
              </a:ext>
            </a:extLst>
          </p:cNvPr>
          <p:cNvSpPr>
            <a:spLocks noGrp="1"/>
          </p:cNvSpPr>
          <p:nvPr/>
        </p:nvSpPr>
        <p:spPr>
          <a:xfrm>
            <a:off x="609600" y="5848350"/>
            <a:ext cx="1371600" cy="257175"/>
          </a:xfrm>
          <a:prstGeom prst="rect">
            <a:avLst/>
          </a:prstGeom>
          <a:noFill/>
          <a:ln w="0">
            <a:noFill/>
          </a:ln>
        </p:spPr>
        <p:txBody>
          <a:bodyPr wrap="square" lIns="0" tIns="0" rIns="0" bIns="0" anchor="t">
            <a:noAutofit/>
          </a:bodyPr>
          <a:lstStyle/>
          <a:p>
            <a:pPr>
              <a:defRPr sz="1200" b="1">
                <a:solidFill>
                  <a:srgbClr val="62DCCB"/>
                </a:solidFill>
                <a:latin typeface="Nimbus Sans"/>
                <a:ea typeface="Nimbus Sans"/>
                <a:cs typeface="Nimbus Sans"/>
              </a:defRPr>
            </a:pPr>
            <a:r>
              <a:rPr sz="1200" b="1">
                <a:solidFill>
                  <a:srgbClr val="62DCCB"/>
                </a:solidFill>
                <a:latin typeface="Nimbus Sans"/>
                <a:ea typeface="Nimbus Sans"/>
                <a:cs typeface="Nimbus Sans"/>
              </a:rPr>
              <a:t>REZULTAT</a:t>
            </a:r>
          </a:p>
        </p:txBody>
      </p:sp>
      <p:sp>
        <p:nvSpPr>
          <p:cNvPr id="14" name="text-13">
            <a:extLst>
              <a:ext uri="{FF2B5EF4-FFF2-40B4-BE49-F238E27FC236}">
                <a16:creationId xmlns:a16="http://schemas.microsoft.com/office/drawing/2014/main" id="{7513BF6F-B04A-42B5-BB62-5E523DA4856E}"/>
              </a:ext>
            </a:extLst>
          </p:cNvPr>
          <p:cNvSpPr>
            <a:spLocks noGrp="1"/>
          </p:cNvSpPr>
          <p:nvPr/>
        </p:nvSpPr>
        <p:spPr>
          <a:xfrm>
            <a:off x="2057400" y="5791200"/>
            <a:ext cx="9525000" cy="457200"/>
          </a:xfrm>
          <a:prstGeom prst="rect">
            <a:avLst/>
          </a:prstGeom>
          <a:noFill/>
          <a:ln w="0">
            <a:noFill/>
          </a:ln>
        </p:spPr>
        <p:txBody>
          <a:bodyPr wrap="square" lIns="0" tIns="0" rIns="0" bIns="0" anchor="t">
            <a:noAutofit/>
          </a:bodyPr>
          <a:lstStyle/>
          <a:p>
            <a:pPr>
              <a:defRPr sz="1800" b="0">
                <a:solidFill>
                  <a:srgbClr val="D7E3E8"/>
                </a:solidFill>
                <a:latin typeface="Nimbus Sans"/>
                <a:ea typeface="Nimbus Sans"/>
                <a:cs typeface="Nimbus Sans"/>
              </a:defRPr>
            </a:pPr>
            <a:r>
              <a:rPr sz="1800" b="0">
                <a:solidFill>
                  <a:srgbClr val="D7E3E8"/>
                </a:solidFill>
                <a:latin typeface="Nimbus Sans"/>
                <a:ea typeface="Nimbus Sans"/>
                <a:cs typeface="Nimbus Sans"/>
              </a:rPr>
              <a:t>Jednostronicowa karta projektu i 3-minutowa obrona wyboru.</a:t>
            </a:r>
          </a:p>
        </p:txBody>
      </p:sp>
    </p:spTree>
    <p:extLst>
      <p:ext uri="{BB962C8B-B14F-4D97-AF65-F5344CB8AC3E}">
        <p14:creationId xmlns:p14="http://schemas.microsoft.com/office/powerpoint/2010/main" val="18216460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0" name="text-0">
            <a:extLst>
              <a:ext uri="{FF2B5EF4-FFF2-40B4-BE49-F238E27FC236}">
                <a16:creationId xmlns:a16="http://schemas.microsoft.com/office/drawing/2014/main" id="{80DA782C-53C9-4BA4-AB2F-8BC8D2AF7F3E}"/>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06  /  PODSUMOWANIE I DALSZY ROZWÓJ</a:t>
            </a:r>
          </a:p>
        </p:txBody>
      </p:sp>
      <p:sp>
        <p:nvSpPr>
          <p:cNvPr id="2" name="text-1">
            <a:extLst>
              <a:ext uri="{FF2B5EF4-FFF2-40B4-BE49-F238E27FC236}">
                <a16:creationId xmlns:a16="http://schemas.microsoft.com/office/drawing/2014/main" id="{AC3B47C0-BC2D-4C80-B090-5BC0634332AA}"/>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Kontrola przed uznaniem modelu za gotowy</a:t>
            </a:r>
          </a:p>
        </p:txBody>
      </p:sp>
      <p:sp>
        <p:nvSpPr>
          <p:cNvPr id="3" name="text-2">
            <a:extLst>
              <a:ext uri="{FF2B5EF4-FFF2-40B4-BE49-F238E27FC236}">
                <a16:creationId xmlns:a16="http://schemas.microsoft.com/office/drawing/2014/main" id="{F2A73409-C9EE-4D57-81FF-482B83BECB65}"/>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874DADBD-1A99-4901-BB77-3E527EE89EA5}"/>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84</a:t>
            </a:r>
          </a:p>
        </p:txBody>
      </p:sp>
      <p:sp>
        <p:nvSpPr>
          <p:cNvPr id="5" name="text-4">
            <a:extLst>
              <a:ext uri="{FF2B5EF4-FFF2-40B4-BE49-F238E27FC236}">
                <a16:creationId xmlns:a16="http://schemas.microsoft.com/office/drawing/2014/main" id="{F53DB3A2-5368-477E-A16C-074B5AFAF1B5}"/>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DDB39ABB-C2AE-46C9-BD50-988252099D34}"/>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Zgodność zadania</a:t>
            </a:r>
          </a:p>
        </p:txBody>
      </p:sp>
      <p:sp>
        <p:nvSpPr>
          <p:cNvPr id="7" name="text-6">
            <a:extLst>
              <a:ext uri="{FF2B5EF4-FFF2-40B4-BE49-F238E27FC236}">
                <a16:creationId xmlns:a16="http://schemas.microsoft.com/office/drawing/2014/main" id="{F2AE14E7-7596-4F98-9E1E-245AD0363B88}"/>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Czy etykieta i metryka odpowiadają decyzji?</a:t>
            </a:r>
          </a:p>
        </p:txBody>
      </p:sp>
      <p:sp>
        <p:nvSpPr>
          <p:cNvPr id="8" name="text-7">
            <a:extLst>
              <a:ext uri="{FF2B5EF4-FFF2-40B4-BE49-F238E27FC236}">
                <a16:creationId xmlns:a16="http://schemas.microsoft.com/office/drawing/2014/main" id="{08DC3156-5B04-41CB-BC2F-8EA349A66CBA}"/>
              </a:ext>
            </a:extLst>
          </p:cNvPr>
          <p:cNvSpPr>
            <a:spLocks noGrp="1"/>
          </p:cNvSpPr>
          <p:nvPr/>
        </p:nvSpPr>
        <p:spPr>
          <a:xfrm>
            <a:off x="609600" y="27527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B06B1C88-A823-4CE5-B722-850667670816}"/>
              </a:ext>
            </a:extLst>
          </p:cNvPr>
          <p:cNvSpPr>
            <a:spLocks noGrp="1"/>
          </p:cNvSpPr>
          <p:nvPr/>
        </p:nvSpPr>
        <p:spPr>
          <a:xfrm>
            <a:off x="1562100" y="27527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Uczciwa ocena</a:t>
            </a:r>
          </a:p>
        </p:txBody>
      </p:sp>
      <p:sp>
        <p:nvSpPr>
          <p:cNvPr id="10" name="text-9">
            <a:extLst>
              <a:ext uri="{FF2B5EF4-FFF2-40B4-BE49-F238E27FC236}">
                <a16:creationId xmlns:a16="http://schemas.microsoft.com/office/drawing/2014/main" id="{4BCC0B8A-4F5F-40C6-83EC-071E88CE8860}"/>
              </a:ext>
            </a:extLst>
          </p:cNvPr>
          <p:cNvSpPr>
            <a:spLocks noGrp="1"/>
          </p:cNvSpPr>
          <p:nvPr/>
        </p:nvSpPr>
        <p:spPr>
          <a:xfrm>
            <a:off x="1562100" y="31242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Czy podział odzwierciedla przyszłe użycie?</a:t>
            </a:r>
          </a:p>
        </p:txBody>
      </p:sp>
      <p:sp>
        <p:nvSpPr>
          <p:cNvPr id="11" name="text-10">
            <a:extLst>
              <a:ext uri="{FF2B5EF4-FFF2-40B4-BE49-F238E27FC236}">
                <a16:creationId xmlns:a16="http://schemas.microsoft.com/office/drawing/2014/main" id="{C9756698-D912-4282-9DE8-267809612269}"/>
              </a:ext>
            </a:extLst>
          </p:cNvPr>
          <p:cNvSpPr>
            <a:spLocks noGrp="1"/>
          </p:cNvSpPr>
          <p:nvPr/>
        </p:nvSpPr>
        <p:spPr>
          <a:xfrm>
            <a:off x="609600" y="3590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DD3BFFDD-1B09-4A1D-83BE-3A607A4962B1}"/>
              </a:ext>
            </a:extLst>
          </p:cNvPr>
          <p:cNvSpPr>
            <a:spLocks noGrp="1"/>
          </p:cNvSpPr>
          <p:nvPr/>
        </p:nvSpPr>
        <p:spPr>
          <a:xfrm>
            <a:off x="1562100" y="35909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Przewaga nad baseline</a:t>
            </a:r>
          </a:p>
        </p:txBody>
      </p:sp>
      <p:sp>
        <p:nvSpPr>
          <p:cNvPr id="13" name="text-12">
            <a:extLst>
              <a:ext uri="{FF2B5EF4-FFF2-40B4-BE49-F238E27FC236}">
                <a16:creationId xmlns:a16="http://schemas.microsoft.com/office/drawing/2014/main" id="{80E4A990-11D9-4BA7-8EF1-571FAE18412B}"/>
              </a:ext>
            </a:extLst>
          </p:cNvPr>
          <p:cNvSpPr>
            <a:spLocks noGrp="1"/>
          </p:cNvSpPr>
          <p:nvPr/>
        </p:nvSpPr>
        <p:spPr>
          <a:xfrm>
            <a:off x="1562100" y="39624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Czy korzyść uzasadnia koszt i złożoność?</a:t>
            </a:r>
          </a:p>
        </p:txBody>
      </p:sp>
      <p:sp>
        <p:nvSpPr>
          <p:cNvPr id="14" name="text-13">
            <a:extLst>
              <a:ext uri="{FF2B5EF4-FFF2-40B4-BE49-F238E27FC236}">
                <a16:creationId xmlns:a16="http://schemas.microsoft.com/office/drawing/2014/main" id="{8E5928E7-327D-419B-917B-4EED93E88230}"/>
              </a:ext>
            </a:extLst>
          </p:cNvPr>
          <p:cNvSpPr>
            <a:spLocks noGrp="1"/>
          </p:cNvSpPr>
          <p:nvPr/>
        </p:nvSpPr>
        <p:spPr>
          <a:xfrm>
            <a:off x="609600" y="44291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F754D21F-4820-40BB-B8DB-491B3A35843C}"/>
              </a:ext>
            </a:extLst>
          </p:cNvPr>
          <p:cNvSpPr>
            <a:spLocks noGrp="1"/>
          </p:cNvSpPr>
          <p:nvPr/>
        </p:nvSpPr>
        <p:spPr>
          <a:xfrm>
            <a:off x="1562100" y="44291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Powtarzalność</a:t>
            </a:r>
          </a:p>
        </p:txBody>
      </p:sp>
      <p:sp>
        <p:nvSpPr>
          <p:cNvPr id="16" name="text-15">
            <a:extLst>
              <a:ext uri="{FF2B5EF4-FFF2-40B4-BE49-F238E27FC236}">
                <a16:creationId xmlns:a16="http://schemas.microsoft.com/office/drawing/2014/main" id="{12CF8F24-8166-4753-A738-A1C01BDD0219}"/>
              </a:ext>
            </a:extLst>
          </p:cNvPr>
          <p:cNvSpPr>
            <a:spLocks noGrp="1"/>
          </p:cNvSpPr>
          <p:nvPr/>
        </p:nvSpPr>
        <p:spPr>
          <a:xfrm>
            <a:off x="1562100" y="48006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Czy umiemy odtworzyć dane, konfigurację i wynik?</a:t>
            </a:r>
          </a:p>
        </p:txBody>
      </p:sp>
      <p:sp>
        <p:nvSpPr>
          <p:cNvPr id="17" name="text-16">
            <a:extLst>
              <a:ext uri="{FF2B5EF4-FFF2-40B4-BE49-F238E27FC236}">
                <a16:creationId xmlns:a16="http://schemas.microsoft.com/office/drawing/2014/main" id="{8F7041B4-F2A6-4CB2-8ECD-B75B992659B8}"/>
              </a:ext>
            </a:extLst>
          </p:cNvPr>
          <p:cNvSpPr>
            <a:spLocks noGrp="1"/>
          </p:cNvSpPr>
          <p:nvPr/>
        </p:nvSpPr>
        <p:spPr>
          <a:xfrm>
            <a:off x="609600" y="52673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05</a:t>
            </a:r>
          </a:p>
        </p:txBody>
      </p:sp>
      <p:sp>
        <p:nvSpPr>
          <p:cNvPr id="18" name="text-17">
            <a:extLst>
              <a:ext uri="{FF2B5EF4-FFF2-40B4-BE49-F238E27FC236}">
                <a16:creationId xmlns:a16="http://schemas.microsoft.com/office/drawing/2014/main" id="{5D08229F-BA05-4313-BB73-60A6BF0A96E8}"/>
              </a:ext>
            </a:extLst>
          </p:cNvPr>
          <p:cNvSpPr>
            <a:spLocks noGrp="1"/>
          </p:cNvSpPr>
          <p:nvPr/>
        </p:nvSpPr>
        <p:spPr>
          <a:xfrm>
            <a:off x="1562100" y="52673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Dalsza obserwacja</a:t>
            </a:r>
          </a:p>
        </p:txBody>
      </p:sp>
      <p:sp>
        <p:nvSpPr>
          <p:cNvPr id="19" name="text-18">
            <a:extLst>
              <a:ext uri="{FF2B5EF4-FFF2-40B4-BE49-F238E27FC236}">
                <a16:creationId xmlns:a16="http://schemas.microsoft.com/office/drawing/2014/main" id="{BD86BAE3-180D-4146-BCC6-FF37DE4AF928}"/>
              </a:ext>
            </a:extLst>
          </p:cNvPr>
          <p:cNvSpPr>
            <a:spLocks noGrp="1"/>
          </p:cNvSpPr>
          <p:nvPr/>
        </p:nvSpPr>
        <p:spPr>
          <a:xfrm>
            <a:off x="1562100" y="56388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Czy wykryjemy pogorszenie po wdrożeniu?</a:t>
            </a:r>
          </a:p>
        </p:txBody>
      </p:sp>
    </p:spTree>
    <p:extLst>
      <p:ext uri="{BB962C8B-B14F-4D97-AF65-F5344CB8AC3E}">
        <p14:creationId xmlns:p14="http://schemas.microsoft.com/office/powerpoint/2010/main" val="568644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7FCA54E5-BBBF-4783-BA7A-867B6CE2245B}"/>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06  /  PODSUMOWANIE I DALSZY ROZWÓJ</a:t>
            </a:r>
          </a:p>
        </p:txBody>
      </p:sp>
      <p:sp>
        <p:nvSpPr>
          <p:cNvPr id="2" name="text-1">
            <a:extLst>
              <a:ext uri="{FF2B5EF4-FFF2-40B4-BE49-F238E27FC236}">
                <a16:creationId xmlns:a16="http://schemas.microsoft.com/office/drawing/2014/main" id="{89EE319E-1DEB-47D0-9129-FEFC9A44CF98}"/>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Pytania kontrolne</a:t>
            </a:r>
          </a:p>
        </p:txBody>
      </p:sp>
      <p:sp>
        <p:nvSpPr>
          <p:cNvPr id="3" name="text-2">
            <a:extLst>
              <a:ext uri="{FF2B5EF4-FFF2-40B4-BE49-F238E27FC236}">
                <a16:creationId xmlns:a16="http://schemas.microsoft.com/office/drawing/2014/main" id="{F2049FA3-6F57-4AEF-AA4D-4730FB636CF7}"/>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5317C72D-E81A-4573-A3D6-BBF058D3DEAC}"/>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85</a:t>
            </a:r>
          </a:p>
        </p:txBody>
      </p:sp>
      <p:sp>
        <p:nvSpPr>
          <p:cNvPr id="5" name="text-4">
            <a:extLst>
              <a:ext uri="{FF2B5EF4-FFF2-40B4-BE49-F238E27FC236}">
                <a16:creationId xmlns:a16="http://schemas.microsoft.com/office/drawing/2014/main" id="{40061827-50FF-4D45-8B04-80979C9CDDD0}"/>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BACE877B-8B97-4645-A4E3-75D56D51C7B1}"/>
              </a:ext>
            </a:extLst>
          </p:cNvPr>
          <p:cNvSpPr>
            <a:spLocks noGrp="1"/>
          </p:cNvSpPr>
          <p:nvPr/>
        </p:nvSpPr>
        <p:spPr>
          <a:xfrm>
            <a:off x="1562100" y="1914525"/>
            <a:ext cx="10020300" cy="619125"/>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Dlaczego skaler powinien być w pipeline?</a:t>
            </a:r>
          </a:p>
        </p:txBody>
      </p:sp>
      <p:sp>
        <p:nvSpPr>
          <p:cNvPr id="7" name="text-6">
            <a:extLst>
              <a:ext uri="{FF2B5EF4-FFF2-40B4-BE49-F238E27FC236}">
                <a16:creationId xmlns:a16="http://schemas.microsoft.com/office/drawing/2014/main" id="{8542CA57-8FF8-45AD-A23F-FE7F2C5B22B3}"/>
              </a:ext>
            </a:extLst>
          </p:cNvPr>
          <p:cNvSpPr>
            <a:spLocks noGrp="1"/>
          </p:cNvSpPr>
          <p:nvPr/>
        </p:nvSpPr>
        <p:spPr>
          <a:xfrm>
            <a:off x="609600" y="27527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8" name="text-7">
            <a:extLst>
              <a:ext uri="{FF2B5EF4-FFF2-40B4-BE49-F238E27FC236}">
                <a16:creationId xmlns:a16="http://schemas.microsoft.com/office/drawing/2014/main" id="{CD9DC7B5-45B8-422D-AA62-6BC3E6AF54F5}"/>
              </a:ext>
            </a:extLst>
          </p:cNvPr>
          <p:cNvSpPr>
            <a:spLocks noGrp="1"/>
          </p:cNvSpPr>
          <p:nvPr/>
        </p:nvSpPr>
        <p:spPr>
          <a:xfrm>
            <a:off x="1562100" y="2752725"/>
            <a:ext cx="10020300" cy="619125"/>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Kiedy 99% accuracy oznacza bezużyteczny model?</a:t>
            </a:r>
          </a:p>
        </p:txBody>
      </p:sp>
      <p:sp>
        <p:nvSpPr>
          <p:cNvPr id="9" name="text-8">
            <a:extLst>
              <a:ext uri="{FF2B5EF4-FFF2-40B4-BE49-F238E27FC236}">
                <a16:creationId xmlns:a16="http://schemas.microsoft.com/office/drawing/2014/main" id="{0DA7D8F4-F534-4E86-AC69-DC99D08F9B85}"/>
              </a:ext>
            </a:extLst>
          </p:cNvPr>
          <p:cNvSpPr>
            <a:spLocks noGrp="1"/>
          </p:cNvSpPr>
          <p:nvPr/>
        </p:nvSpPr>
        <p:spPr>
          <a:xfrm>
            <a:off x="609600" y="3590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0" name="text-9">
            <a:extLst>
              <a:ext uri="{FF2B5EF4-FFF2-40B4-BE49-F238E27FC236}">
                <a16:creationId xmlns:a16="http://schemas.microsoft.com/office/drawing/2014/main" id="{64B1605B-94E2-4AF2-8FE0-953B98ECE17F}"/>
              </a:ext>
            </a:extLst>
          </p:cNvPr>
          <p:cNvSpPr>
            <a:spLocks noGrp="1"/>
          </p:cNvSpPr>
          <p:nvPr/>
        </p:nvSpPr>
        <p:spPr>
          <a:xfrm>
            <a:off x="1562100" y="3590925"/>
            <a:ext cx="10020300" cy="619125"/>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Co odróżnia stopień przynależności od prawdopodobieństwa?</a:t>
            </a:r>
          </a:p>
        </p:txBody>
      </p:sp>
      <p:sp>
        <p:nvSpPr>
          <p:cNvPr id="11" name="text-10">
            <a:extLst>
              <a:ext uri="{FF2B5EF4-FFF2-40B4-BE49-F238E27FC236}">
                <a16:creationId xmlns:a16="http://schemas.microsoft.com/office/drawing/2014/main" id="{8DE2AB83-96F9-42F2-B0A0-9D157953928F}"/>
              </a:ext>
            </a:extLst>
          </p:cNvPr>
          <p:cNvSpPr>
            <a:spLocks noGrp="1"/>
          </p:cNvSpPr>
          <p:nvPr/>
        </p:nvSpPr>
        <p:spPr>
          <a:xfrm>
            <a:off x="609600" y="44291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2" name="text-11">
            <a:extLst>
              <a:ext uri="{FF2B5EF4-FFF2-40B4-BE49-F238E27FC236}">
                <a16:creationId xmlns:a16="http://schemas.microsoft.com/office/drawing/2014/main" id="{41AD476D-14FC-4990-976F-E987A1646DE4}"/>
              </a:ext>
            </a:extLst>
          </p:cNvPr>
          <p:cNvSpPr>
            <a:spLocks noGrp="1"/>
          </p:cNvSpPr>
          <p:nvPr/>
        </p:nvSpPr>
        <p:spPr>
          <a:xfrm>
            <a:off x="1562100" y="4429125"/>
            <a:ext cx="10020300" cy="619125"/>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Jak porównać GA z losowym wyszukiwaniem?</a:t>
            </a:r>
          </a:p>
        </p:txBody>
      </p:sp>
      <p:sp>
        <p:nvSpPr>
          <p:cNvPr id="13" name="text-12">
            <a:extLst>
              <a:ext uri="{FF2B5EF4-FFF2-40B4-BE49-F238E27FC236}">
                <a16:creationId xmlns:a16="http://schemas.microsoft.com/office/drawing/2014/main" id="{AD08D92F-B8CD-4505-A5AF-4BCC2ACFCD1B}"/>
              </a:ext>
            </a:extLst>
          </p:cNvPr>
          <p:cNvSpPr>
            <a:spLocks noGrp="1"/>
          </p:cNvSpPr>
          <p:nvPr/>
        </p:nvSpPr>
        <p:spPr>
          <a:xfrm>
            <a:off x="609600" y="52673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05</a:t>
            </a:r>
          </a:p>
        </p:txBody>
      </p:sp>
      <p:sp>
        <p:nvSpPr>
          <p:cNvPr id="14" name="text-13">
            <a:extLst>
              <a:ext uri="{FF2B5EF4-FFF2-40B4-BE49-F238E27FC236}">
                <a16:creationId xmlns:a16="http://schemas.microsoft.com/office/drawing/2014/main" id="{ED7BD43B-092B-436E-98A3-7BF0B1D1C998}"/>
              </a:ext>
            </a:extLst>
          </p:cNvPr>
          <p:cNvSpPr>
            <a:spLocks noGrp="1"/>
          </p:cNvSpPr>
          <p:nvPr/>
        </p:nvSpPr>
        <p:spPr>
          <a:xfrm>
            <a:off x="1562100" y="5267325"/>
            <a:ext cx="10020300" cy="619125"/>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Co oznacza rosnąca luka trening–walidacja?</a:t>
            </a:r>
          </a:p>
        </p:txBody>
      </p:sp>
    </p:spTree>
    <p:extLst>
      <p:ext uri="{BB962C8B-B14F-4D97-AF65-F5344CB8AC3E}">
        <p14:creationId xmlns:p14="http://schemas.microsoft.com/office/powerpoint/2010/main" val="11467318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0" name="text-0">
            <a:extLst>
              <a:ext uri="{FF2B5EF4-FFF2-40B4-BE49-F238E27FC236}">
                <a16:creationId xmlns:a16="http://schemas.microsoft.com/office/drawing/2014/main" id="{2784BB5C-2F2D-4656-8425-51373E36E3E8}"/>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06  /  PODSUMOWANIE I DALSZY ROZWÓJ</a:t>
            </a:r>
          </a:p>
        </p:txBody>
      </p:sp>
      <p:sp>
        <p:nvSpPr>
          <p:cNvPr id="2" name="text-1">
            <a:extLst>
              <a:ext uri="{FF2B5EF4-FFF2-40B4-BE49-F238E27FC236}">
                <a16:creationId xmlns:a16="http://schemas.microsoft.com/office/drawing/2014/main" id="{04DBF33A-03BC-45F2-BFBD-1DD0764DCBD8}"/>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Odpowiedzi i uzasadnienia</a:t>
            </a:r>
          </a:p>
        </p:txBody>
      </p:sp>
      <p:sp>
        <p:nvSpPr>
          <p:cNvPr id="3" name="text-2">
            <a:extLst>
              <a:ext uri="{FF2B5EF4-FFF2-40B4-BE49-F238E27FC236}">
                <a16:creationId xmlns:a16="http://schemas.microsoft.com/office/drawing/2014/main" id="{0BAD6463-DFFC-463F-92D2-4267235C619B}"/>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228F825D-EF76-45FB-BB16-E36D3916113A}"/>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86</a:t>
            </a:r>
          </a:p>
        </p:txBody>
      </p:sp>
      <p:sp>
        <p:nvSpPr>
          <p:cNvPr id="5" name="text-4">
            <a:extLst>
              <a:ext uri="{FF2B5EF4-FFF2-40B4-BE49-F238E27FC236}">
                <a16:creationId xmlns:a16="http://schemas.microsoft.com/office/drawing/2014/main" id="{AA2205A3-6A5D-4FC7-B8D4-323352B35297}"/>
              </a:ext>
            </a:extLst>
          </p:cNvPr>
          <p:cNvSpPr>
            <a:spLocks noGrp="1"/>
          </p:cNvSpPr>
          <p:nvPr/>
        </p:nvSpPr>
        <p:spPr>
          <a:xfrm>
            <a:off x="609600" y="19145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01</a:t>
            </a:r>
          </a:p>
        </p:txBody>
      </p:sp>
      <p:sp>
        <p:nvSpPr>
          <p:cNvPr id="6" name="text-5">
            <a:extLst>
              <a:ext uri="{FF2B5EF4-FFF2-40B4-BE49-F238E27FC236}">
                <a16:creationId xmlns:a16="http://schemas.microsoft.com/office/drawing/2014/main" id="{9296F80C-5C9C-4B78-A1D8-8529DAC64583}"/>
              </a:ext>
            </a:extLst>
          </p:cNvPr>
          <p:cNvSpPr>
            <a:spLocks noGrp="1"/>
          </p:cNvSpPr>
          <p:nvPr/>
        </p:nvSpPr>
        <p:spPr>
          <a:xfrm>
            <a:off x="1562100" y="19145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Pipeline</a:t>
            </a:r>
          </a:p>
        </p:txBody>
      </p:sp>
      <p:sp>
        <p:nvSpPr>
          <p:cNvPr id="7" name="text-6">
            <a:extLst>
              <a:ext uri="{FF2B5EF4-FFF2-40B4-BE49-F238E27FC236}">
                <a16:creationId xmlns:a16="http://schemas.microsoft.com/office/drawing/2014/main" id="{C67746D4-55E8-4052-9844-A976AFC3CB76}"/>
              </a:ext>
            </a:extLst>
          </p:cNvPr>
          <p:cNvSpPr>
            <a:spLocks noGrp="1"/>
          </p:cNvSpPr>
          <p:nvPr/>
        </p:nvSpPr>
        <p:spPr>
          <a:xfrm>
            <a:off x="1562100" y="22860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Transformacje uczą się osobno w każdym foldzie.</a:t>
            </a:r>
          </a:p>
        </p:txBody>
      </p:sp>
      <p:sp>
        <p:nvSpPr>
          <p:cNvPr id="8" name="text-7">
            <a:extLst>
              <a:ext uri="{FF2B5EF4-FFF2-40B4-BE49-F238E27FC236}">
                <a16:creationId xmlns:a16="http://schemas.microsoft.com/office/drawing/2014/main" id="{7B10D333-8C7A-43A6-8AF8-C126D6909876}"/>
              </a:ext>
            </a:extLst>
          </p:cNvPr>
          <p:cNvSpPr>
            <a:spLocks noGrp="1"/>
          </p:cNvSpPr>
          <p:nvPr/>
        </p:nvSpPr>
        <p:spPr>
          <a:xfrm>
            <a:off x="609600" y="27527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02</a:t>
            </a:r>
          </a:p>
        </p:txBody>
      </p:sp>
      <p:sp>
        <p:nvSpPr>
          <p:cNvPr id="9" name="text-8">
            <a:extLst>
              <a:ext uri="{FF2B5EF4-FFF2-40B4-BE49-F238E27FC236}">
                <a16:creationId xmlns:a16="http://schemas.microsoft.com/office/drawing/2014/main" id="{D7464DE8-7D3A-44F3-869E-8C89C4945F1D}"/>
              </a:ext>
            </a:extLst>
          </p:cNvPr>
          <p:cNvSpPr>
            <a:spLocks noGrp="1"/>
          </p:cNvSpPr>
          <p:nvPr/>
        </p:nvSpPr>
        <p:spPr>
          <a:xfrm>
            <a:off x="1562100" y="27527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Nierównowaga klas</a:t>
            </a:r>
          </a:p>
        </p:txBody>
      </p:sp>
      <p:sp>
        <p:nvSpPr>
          <p:cNvPr id="10" name="text-9">
            <a:extLst>
              <a:ext uri="{FF2B5EF4-FFF2-40B4-BE49-F238E27FC236}">
                <a16:creationId xmlns:a16="http://schemas.microsoft.com/office/drawing/2014/main" id="{079C5B44-E4D1-4D79-A062-C28DCD06A929}"/>
              </a:ext>
            </a:extLst>
          </p:cNvPr>
          <p:cNvSpPr>
            <a:spLocks noGrp="1"/>
          </p:cNvSpPr>
          <p:nvPr/>
        </p:nvSpPr>
        <p:spPr>
          <a:xfrm>
            <a:off x="1562100" y="31242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Dominująca klasa może ukryć brak wykrywania zdarzeń.</a:t>
            </a:r>
          </a:p>
        </p:txBody>
      </p:sp>
      <p:sp>
        <p:nvSpPr>
          <p:cNvPr id="11" name="text-10">
            <a:extLst>
              <a:ext uri="{FF2B5EF4-FFF2-40B4-BE49-F238E27FC236}">
                <a16:creationId xmlns:a16="http://schemas.microsoft.com/office/drawing/2014/main" id="{4D751254-ADD6-4A5E-B0EA-BB0E90A192EF}"/>
              </a:ext>
            </a:extLst>
          </p:cNvPr>
          <p:cNvSpPr>
            <a:spLocks noGrp="1"/>
          </p:cNvSpPr>
          <p:nvPr/>
        </p:nvSpPr>
        <p:spPr>
          <a:xfrm>
            <a:off x="609600" y="35909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03</a:t>
            </a:r>
          </a:p>
        </p:txBody>
      </p:sp>
      <p:sp>
        <p:nvSpPr>
          <p:cNvPr id="12" name="text-11">
            <a:extLst>
              <a:ext uri="{FF2B5EF4-FFF2-40B4-BE49-F238E27FC236}">
                <a16:creationId xmlns:a16="http://schemas.microsoft.com/office/drawing/2014/main" id="{2BF6E031-7148-425C-AEF3-BAD280066B65}"/>
              </a:ext>
            </a:extLst>
          </p:cNvPr>
          <p:cNvSpPr>
            <a:spLocks noGrp="1"/>
          </p:cNvSpPr>
          <p:nvPr/>
        </p:nvSpPr>
        <p:spPr>
          <a:xfrm>
            <a:off x="1562100" y="35909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Znaczenie liczby</a:t>
            </a:r>
          </a:p>
        </p:txBody>
      </p:sp>
      <p:sp>
        <p:nvSpPr>
          <p:cNvPr id="13" name="text-12">
            <a:extLst>
              <a:ext uri="{FF2B5EF4-FFF2-40B4-BE49-F238E27FC236}">
                <a16:creationId xmlns:a16="http://schemas.microsoft.com/office/drawing/2014/main" id="{0643B926-1CC6-41FD-A3E8-9CB77C2EBEEA}"/>
              </a:ext>
            </a:extLst>
          </p:cNvPr>
          <p:cNvSpPr>
            <a:spLocks noGrp="1"/>
          </p:cNvSpPr>
          <p:nvPr/>
        </p:nvSpPr>
        <p:spPr>
          <a:xfrm>
            <a:off x="1562100" y="39624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Przynależność opisuje stopień spełnienia pojęcia.</a:t>
            </a:r>
          </a:p>
        </p:txBody>
      </p:sp>
      <p:sp>
        <p:nvSpPr>
          <p:cNvPr id="14" name="text-13">
            <a:extLst>
              <a:ext uri="{FF2B5EF4-FFF2-40B4-BE49-F238E27FC236}">
                <a16:creationId xmlns:a16="http://schemas.microsoft.com/office/drawing/2014/main" id="{592C7E45-3757-4A5B-B2E7-93C51E0162D3}"/>
              </a:ext>
            </a:extLst>
          </p:cNvPr>
          <p:cNvSpPr>
            <a:spLocks noGrp="1"/>
          </p:cNvSpPr>
          <p:nvPr/>
        </p:nvSpPr>
        <p:spPr>
          <a:xfrm>
            <a:off x="609600" y="44291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04</a:t>
            </a:r>
          </a:p>
        </p:txBody>
      </p:sp>
      <p:sp>
        <p:nvSpPr>
          <p:cNvPr id="15" name="text-14">
            <a:extLst>
              <a:ext uri="{FF2B5EF4-FFF2-40B4-BE49-F238E27FC236}">
                <a16:creationId xmlns:a16="http://schemas.microsoft.com/office/drawing/2014/main" id="{39295FB6-F321-4558-A7EE-0D2ACA77B44A}"/>
              </a:ext>
            </a:extLst>
          </p:cNvPr>
          <p:cNvSpPr>
            <a:spLocks noGrp="1"/>
          </p:cNvSpPr>
          <p:nvPr/>
        </p:nvSpPr>
        <p:spPr>
          <a:xfrm>
            <a:off x="1562100" y="44291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Równe warunki</a:t>
            </a:r>
          </a:p>
        </p:txBody>
      </p:sp>
      <p:sp>
        <p:nvSpPr>
          <p:cNvPr id="16" name="text-15">
            <a:extLst>
              <a:ext uri="{FF2B5EF4-FFF2-40B4-BE49-F238E27FC236}">
                <a16:creationId xmlns:a16="http://schemas.microsoft.com/office/drawing/2014/main" id="{625651BA-4676-4233-AC8D-CEDBB86DF791}"/>
              </a:ext>
            </a:extLst>
          </p:cNvPr>
          <p:cNvSpPr>
            <a:spLocks noGrp="1"/>
          </p:cNvSpPr>
          <p:nvPr/>
        </p:nvSpPr>
        <p:spPr>
          <a:xfrm>
            <a:off x="1562100" y="48006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Ten sam budżet ocen, ograniczenia i wiele ziaren.</a:t>
            </a:r>
          </a:p>
        </p:txBody>
      </p:sp>
      <p:sp>
        <p:nvSpPr>
          <p:cNvPr id="17" name="text-16">
            <a:extLst>
              <a:ext uri="{FF2B5EF4-FFF2-40B4-BE49-F238E27FC236}">
                <a16:creationId xmlns:a16="http://schemas.microsoft.com/office/drawing/2014/main" id="{CAF0A069-524D-4363-A465-08E2FC99FB1A}"/>
              </a:ext>
            </a:extLst>
          </p:cNvPr>
          <p:cNvSpPr>
            <a:spLocks noGrp="1"/>
          </p:cNvSpPr>
          <p:nvPr/>
        </p:nvSpPr>
        <p:spPr>
          <a:xfrm>
            <a:off x="609600" y="5267325"/>
            <a:ext cx="742950" cy="476250"/>
          </a:xfrm>
          <a:prstGeom prst="rect">
            <a:avLst/>
          </a:prstGeom>
          <a:noFill/>
          <a:ln w="0">
            <a:noFill/>
          </a:ln>
        </p:spPr>
        <p:txBody>
          <a:bodyPr wrap="square" lIns="0" tIns="0" rIns="0" bIns="0" anchor="t">
            <a:noAutofit/>
          </a:bodyPr>
          <a:lstStyle/>
          <a:p>
            <a:pPr>
              <a:defRPr sz="2325" b="1">
                <a:solidFill>
                  <a:srgbClr val="007F7A"/>
                </a:solidFill>
                <a:latin typeface="Nimbus Sans"/>
                <a:ea typeface="Nimbus Sans"/>
                <a:cs typeface="Nimbus Sans"/>
              </a:defRPr>
            </a:pPr>
            <a:r>
              <a:rPr sz="2325" b="1">
                <a:solidFill>
                  <a:srgbClr val="007F7A"/>
                </a:solidFill>
                <a:latin typeface="Nimbus Sans"/>
                <a:ea typeface="Nimbus Sans"/>
                <a:cs typeface="Nimbus Sans"/>
              </a:rPr>
              <a:t>05</a:t>
            </a:r>
          </a:p>
        </p:txBody>
      </p:sp>
      <p:sp>
        <p:nvSpPr>
          <p:cNvPr id="18" name="text-17">
            <a:extLst>
              <a:ext uri="{FF2B5EF4-FFF2-40B4-BE49-F238E27FC236}">
                <a16:creationId xmlns:a16="http://schemas.microsoft.com/office/drawing/2014/main" id="{9B8667CE-AD40-44B1-804C-DD1DE95BACE8}"/>
              </a:ext>
            </a:extLst>
          </p:cNvPr>
          <p:cNvSpPr>
            <a:spLocks noGrp="1"/>
          </p:cNvSpPr>
          <p:nvPr/>
        </p:nvSpPr>
        <p:spPr>
          <a:xfrm>
            <a:off x="1562100" y="5267325"/>
            <a:ext cx="10020300" cy="34290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Generalizacja</a:t>
            </a:r>
          </a:p>
        </p:txBody>
      </p:sp>
      <p:sp>
        <p:nvSpPr>
          <p:cNvPr id="19" name="text-18">
            <a:extLst>
              <a:ext uri="{FF2B5EF4-FFF2-40B4-BE49-F238E27FC236}">
                <a16:creationId xmlns:a16="http://schemas.microsoft.com/office/drawing/2014/main" id="{D12D0FF8-4487-4C27-8C66-3633651F2F64}"/>
              </a:ext>
            </a:extLst>
          </p:cNvPr>
          <p:cNvSpPr>
            <a:spLocks noGrp="1"/>
          </p:cNvSpPr>
          <p:nvPr/>
        </p:nvSpPr>
        <p:spPr>
          <a:xfrm>
            <a:off x="1562100" y="5638800"/>
            <a:ext cx="10020300" cy="523875"/>
          </a:xfrm>
          <a:prstGeom prst="rect">
            <a:avLst/>
          </a:prstGeom>
          <a:noFill/>
          <a:ln w="0">
            <a:noFill/>
          </a:ln>
        </p:spPr>
        <p:txBody>
          <a:bodyPr wrap="square" lIns="0" tIns="0" rIns="0" bIns="0" anchor="t">
            <a:noAutofit/>
          </a:bodyPr>
          <a:lstStyle/>
          <a:p>
            <a:pPr>
              <a:defRPr sz="1725" b="0">
                <a:solidFill>
                  <a:srgbClr val="586779"/>
                </a:solidFill>
                <a:latin typeface="Nimbus Sans"/>
                <a:ea typeface="Nimbus Sans"/>
                <a:cs typeface="Nimbus Sans"/>
              </a:defRPr>
            </a:pPr>
            <a:r>
              <a:rPr sz="1725" b="0">
                <a:solidFill>
                  <a:srgbClr val="586779"/>
                </a:solidFill>
                <a:latin typeface="Nimbus Sans"/>
                <a:ea typeface="Nimbus Sans"/>
                <a:cs typeface="Nimbus Sans"/>
              </a:rPr>
              <a:t>Może wskazywać przeuczenie. Potrzebna jest diagnostyka.</a:t>
            </a:r>
          </a:p>
        </p:txBody>
      </p:sp>
    </p:spTree>
    <p:extLst>
      <p:ext uri="{BB962C8B-B14F-4D97-AF65-F5344CB8AC3E}">
        <p14:creationId xmlns:p14="http://schemas.microsoft.com/office/powerpoint/2010/main" val="18325364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4" name="text-0">
            <a:extLst>
              <a:ext uri="{FF2B5EF4-FFF2-40B4-BE49-F238E27FC236}">
                <a16:creationId xmlns:a16="http://schemas.microsoft.com/office/drawing/2014/main" id="{E47FE720-0D81-4BA1-874E-131E1BCDE94A}"/>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06  /  PODSUMOWANIE I DALSZY ROZWÓJ</a:t>
            </a:r>
          </a:p>
        </p:txBody>
      </p:sp>
      <p:sp>
        <p:nvSpPr>
          <p:cNvPr id="2" name="text-1">
            <a:extLst>
              <a:ext uri="{FF2B5EF4-FFF2-40B4-BE49-F238E27FC236}">
                <a16:creationId xmlns:a16="http://schemas.microsoft.com/office/drawing/2014/main" id="{1AF7A177-AFCA-4801-8A54-9549CA51ED40}"/>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Dalszy rozwój</a:t>
            </a:r>
          </a:p>
        </p:txBody>
      </p:sp>
      <p:sp>
        <p:nvSpPr>
          <p:cNvPr id="3" name="text-2">
            <a:extLst>
              <a:ext uri="{FF2B5EF4-FFF2-40B4-BE49-F238E27FC236}">
                <a16:creationId xmlns:a16="http://schemas.microsoft.com/office/drawing/2014/main" id="{D54EEFE0-988B-4E94-8AA7-2B8F69EAA2C2}"/>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F93F0FB8-AC14-40BC-8A2A-A61FE1DE5D63}"/>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87</a:t>
            </a:r>
          </a:p>
        </p:txBody>
      </p:sp>
      <p:sp>
        <p:nvSpPr>
          <p:cNvPr id="5" name="text-4">
            <a:extLst>
              <a:ext uri="{FF2B5EF4-FFF2-40B4-BE49-F238E27FC236}">
                <a16:creationId xmlns:a16="http://schemas.microsoft.com/office/drawing/2014/main" id="{D972D608-1D14-44B1-AEB4-ACA1BF56ACE6}"/>
              </a:ext>
            </a:extLst>
          </p:cNvPr>
          <p:cNvSpPr>
            <a:spLocks noGrp="1"/>
          </p:cNvSpPr>
          <p:nvPr/>
        </p:nvSpPr>
        <p:spPr>
          <a:xfrm>
            <a:off x="609600" y="2076450"/>
            <a:ext cx="508635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PO TYM SZKOLENIU</a:t>
            </a:r>
          </a:p>
        </p:txBody>
      </p:sp>
      <p:sp>
        <p:nvSpPr>
          <p:cNvPr id="6" name="text-5">
            <a:extLst>
              <a:ext uri="{FF2B5EF4-FFF2-40B4-BE49-F238E27FC236}">
                <a16:creationId xmlns:a16="http://schemas.microsoft.com/office/drawing/2014/main" id="{EAFF0FAC-9865-4696-B4A3-FA0631B07EC0}"/>
              </a:ext>
            </a:extLst>
          </p:cNvPr>
          <p:cNvSpPr>
            <a:spLocks noGrp="1"/>
          </p:cNvSpPr>
          <p:nvPr/>
        </p:nvSpPr>
        <p:spPr>
          <a:xfrm>
            <a:off x="609600" y="2676525"/>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Jeden odtwarzalny projekt na własnych danych</a:t>
            </a:r>
          </a:p>
        </p:txBody>
      </p:sp>
      <p:sp>
        <p:nvSpPr>
          <p:cNvPr id="7" name="text-6">
            <a:extLst>
              <a:ext uri="{FF2B5EF4-FFF2-40B4-BE49-F238E27FC236}">
                <a16:creationId xmlns:a16="http://schemas.microsoft.com/office/drawing/2014/main" id="{2BC8FE98-137D-4AB3-899E-7E404856BEAB}"/>
              </a:ext>
            </a:extLst>
          </p:cNvPr>
          <p:cNvSpPr>
            <a:spLocks noGrp="1"/>
          </p:cNvSpPr>
          <p:nvPr/>
        </p:nvSpPr>
        <p:spPr>
          <a:xfrm>
            <a:off x="609600" y="3607689"/>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Automatyzacja eksperymentów i logowania</a:t>
            </a:r>
          </a:p>
        </p:txBody>
      </p:sp>
      <p:sp>
        <p:nvSpPr>
          <p:cNvPr id="8" name="text-7">
            <a:extLst>
              <a:ext uri="{FF2B5EF4-FFF2-40B4-BE49-F238E27FC236}">
                <a16:creationId xmlns:a16="http://schemas.microsoft.com/office/drawing/2014/main" id="{4949AA77-1299-4263-A893-6BB2542A147A}"/>
              </a:ext>
            </a:extLst>
          </p:cNvPr>
          <p:cNvSpPr>
            <a:spLocks noGrp="1"/>
          </p:cNvSpPr>
          <p:nvPr/>
        </p:nvSpPr>
        <p:spPr>
          <a:xfrm>
            <a:off x="609600" y="4538853"/>
            <a:ext cx="508635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Interpretacja błędów oraz monitoring</a:t>
            </a:r>
          </a:p>
        </p:txBody>
      </p:sp>
      <p:sp>
        <p:nvSpPr>
          <p:cNvPr id="9" name="text-8">
            <a:extLst>
              <a:ext uri="{FF2B5EF4-FFF2-40B4-BE49-F238E27FC236}">
                <a16:creationId xmlns:a16="http://schemas.microsoft.com/office/drawing/2014/main" id="{644F8940-CC75-4F1C-8BC1-4DA48E655321}"/>
              </a:ext>
            </a:extLst>
          </p:cNvPr>
          <p:cNvSpPr>
            <a:spLocks noGrp="1"/>
          </p:cNvSpPr>
          <p:nvPr/>
        </p:nvSpPr>
        <p:spPr>
          <a:xfrm>
            <a:off x="6515100" y="2076450"/>
            <a:ext cx="5067300" cy="495300"/>
          </a:xfrm>
          <a:prstGeom prst="rect">
            <a:avLst/>
          </a:prstGeom>
          <a:noFill/>
          <a:ln w="0">
            <a:noFill/>
          </a:ln>
        </p:spPr>
        <p:txBody>
          <a:bodyPr wrap="square" lIns="0" tIns="0" rIns="0" bIns="0" anchor="t">
            <a:noAutofit/>
          </a:bodyPr>
          <a:lstStyle/>
          <a:p>
            <a:pPr>
              <a:defRPr sz="1575" b="1">
                <a:solidFill>
                  <a:srgbClr val="007F7A"/>
                </a:solidFill>
                <a:latin typeface="Nimbus Sans"/>
                <a:ea typeface="Nimbus Sans"/>
                <a:cs typeface="Nimbus Sans"/>
              </a:defRPr>
            </a:pPr>
            <a:r>
              <a:rPr sz="1575" b="1">
                <a:solidFill>
                  <a:srgbClr val="007F7A"/>
                </a:solidFill>
                <a:latin typeface="Nimbus Sans"/>
                <a:ea typeface="Nimbus Sans"/>
                <a:cs typeface="Nimbus Sans"/>
              </a:rPr>
              <a:t>KOLEJNE OBSZARY</a:t>
            </a:r>
          </a:p>
        </p:txBody>
      </p:sp>
      <p:sp>
        <p:nvSpPr>
          <p:cNvPr id="10" name="text-9">
            <a:extLst>
              <a:ext uri="{FF2B5EF4-FFF2-40B4-BE49-F238E27FC236}">
                <a16:creationId xmlns:a16="http://schemas.microsoft.com/office/drawing/2014/main" id="{F3D11B51-0A71-463F-874B-04FF7358337B}"/>
              </a:ext>
            </a:extLst>
          </p:cNvPr>
          <p:cNvSpPr>
            <a:spLocks noGrp="1"/>
          </p:cNvSpPr>
          <p:nvPr/>
        </p:nvSpPr>
        <p:spPr>
          <a:xfrm>
            <a:off x="6515100" y="2676525"/>
            <a:ext cx="5067300" cy="759714"/>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Uczenie głębokie: CNN i modele tekstowe</a:t>
            </a:r>
          </a:p>
        </p:txBody>
      </p:sp>
      <p:sp>
        <p:nvSpPr>
          <p:cNvPr id="11" name="text-10">
            <a:extLst>
              <a:ext uri="{FF2B5EF4-FFF2-40B4-BE49-F238E27FC236}">
                <a16:creationId xmlns:a16="http://schemas.microsoft.com/office/drawing/2014/main" id="{68FF45D1-CD15-47E6-8974-60F019FD6C75}"/>
              </a:ext>
            </a:extLst>
          </p:cNvPr>
          <p:cNvSpPr>
            <a:spLocks noGrp="1"/>
          </p:cNvSpPr>
          <p:nvPr/>
        </p:nvSpPr>
        <p:spPr>
          <a:xfrm>
            <a:off x="6515100" y="3607689"/>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Wyjaśnialność, kalibracja i MLOps</a:t>
            </a:r>
          </a:p>
        </p:txBody>
      </p:sp>
      <p:sp>
        <p:nvSpPr>
          <p:cNvPr id="12" name="text-11">
            <a:extLst>
              <a:ext uri="{FF2B5EF4-FFF2-40B4-BE49-F238E27FC236}">
                <a16:creationId xmlns:a16="http://schemas.microsoft.com/office/drawing/2014/main" id="{49C8ACBC-D362-4808-86B6-CDD25296E600}"/>
              </a:ext>
            </a:extLst>
          </p:cNvPr>
          <p:cNvSpPr>
            <a:spLocks noGrp="1"/>
          </p:cNvSpPr>
          <p:nvPr/>
        </p:nvSpPr>
        <p:spPr>
          <a:xfrm>
            <a:off x="6515100" y="4201859"/>
            <a:ext cx="5067300" cy="422720"/>
          </a:xfrm>
          <a:prstGeom prst="rect">
            <a:avLst/>
          </a:prstGeom>
          <a:noFill/>
          <a:ln w="0">
            <a:noFill/>
          </a:ln>
        </p:spPr>
        <p:txBody>
          <a:bodyPr wrap="square" lIns="0" tIns="0" rIns="0" bIns="0" anchor="t">
            <a:noAutofit/>
          </a:bodyPr>
          <a:lstStyle/>
          <a:p>
            <a:pPr>
              <a:defRPr sz="2175" b="0">
                <a:solidFill>
                  <a:srgbClr val="17243A"/>
                </a:solidFill>
                <a:latin typeface="Nimbus Sans"/>
                <a:ea typeface="Nimbus Sans"/>
                <a:cs typeface="Nimbus Sans"/>
              </a:defRPr>
            </a:pPr>
            <a:r>
              <a:rPr sz="2175" b="0">
                <a:solidFill>
                  <a:srgbClr val="17243A"/>
                </a:solidFill>
                <a:latin typeface="Nimbus Sans"/>
                <a:ea typeface="Nimbus Sans"/>
                <a:cs typeface="Nimbus Sans"/>
              </a:rPr>
              <a:t>Optymalizacja wielokryterialna</a:t>
            </a:r>
          </a:p>
        </p:txBody>
      </p:sp>
      <p:sp>
        <p:nvSpPr>
          <p:cNvPr id="13" name="text-12">
            <a:extLst>
              <a:ext uri="{FF2B5EF4-FFF2-40B4-BE49-F238E27FC236}">
                <a16:creationId xmlns:a16="http://schemas.microsoft.com/office/drawing/2014/main" id="{B211F448-01D2-4741-B70C-D037C60D47D6}"/>
              </a:ext>
            </a:extLst>
          </p:cNvPr>
          <p:cNvSpPr>
            <a:spLocks noGrp="1"/>
          </p:cNvSpPr>
          <p:nvPr/>
        </p:nvSpPr>
        <p:spPr>
          <a:xfrm>
            <a:off x="609600" y="6029325"/>
            <a:ext cx="10715625" cy="342900"/>
          </a:xfrm>
          <a:prstGeom prst="rect">
            <a:avLst/>
          </a:prstGeom>
          <a:noFill/>
          <a:ln w="0">
            <a:noFill/>
          </a:ln>
        </p:spPr>
        <p:txBody>
          <a:bodyPr wrap="square" lIns="0" tIns="0" rIns="0" bIns="0" anchor="t">
            <a:noAutofit/>
          </a:bodyPr>
          <a:lstStyle/>
          <a:p>
            <a:pPr>
              <a:defRPr sz="1275" b="0">
                <a:solidFill>
                  <a:srgbClr val="586779"/>
                </a:solidFill>
                <a:latin typeface="Nimbus Sans"/>
                <a:ea typeface="Nimbus Sans"/>
                <a:cs typeface="Nimbus Sans"/>
              </a:defRPr>
            </a:pPr>
            <a:r>
              <a:rPr sz="1275" b="0">
                <a:solidFill>
                  <a:srgbClr val="586779"/>
                </a:solidFill>
                <a:latin typeface="Nimbus Sans"/>
                <a:ea typeface="Nimbus Sans"/>
                <a:cs typeface="Nimbus Sans"/>
              </a:rPr>
              <a:t>Ścieżka Comarch: poziom zaawansowany I, zaawansowany II, ekspercki i przygotowanie projektów.</a:t>
            </a:r>
          </a:p>
        </p:txBody>
      </p:sp>
    </p:spTree>
    <p:extLst>
      <p:ext uri="{BB962C8B-B14F-4D97-AF65-F5344CB8AC3E}">
        <p14:creationId xmlns:p14="http://schemas.microsoft.com/office/powerpoint/2010/main" val="8372803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C30599C9-192A-4A79-88F5-A5C1631834AA}"/>
              </a:ext>
            </a:extLst>
          </p:cNvPr>
          <p:cNvSpPr>
            <a:spLocks noGrp="1"/>
          </p:cNvSpPr>
          <p:nvPr/>
        </p:nvSpPr>
        <p:spPr>
          <a:xfrm>
            <a:off x="609600" y="323850"/>
            <a:ext cx="10477500" cy="190500"/>
          </a:xfrm>
          <a:prstGeom prst="rect">
            <a:avLst/>
          </a:prstGeom>
          <a:noFill/>
          <a:ln w="0">
            <a:noFill/>
          </a:ln>
        </p:spPr>
        <p:txBody>
          <a:bodyPr wrap="square" lIns="0" tIns="0" rIns="0" bIns="0" anchor="t">
            <a:noAutofit/>
          </a:bodyPr>
          <a:lstStyle/>
          <a:p>
            <a:pPr>
              <a:defRPr sz="1050" b="1">
                <a:solidFill>
                  <a:srgbClr val="007F7A"/>
                </a:solidFill>
                <a:latin typeface="Nimbus Sans"/>
                <a:ea typeface="Nimbus Sans"/>
                <a:cs typeface="Nimbus Sans"/>
              </a:defRPr>
            </a:pPr>
            <a:r>
              <a:rPr sz="1050" b="1">
                <a:solidFill>
                  <a:srgbClr val="007F7A"/>
                </a:solidFill>
                <a:latin typeface="Nimbus Sans"/>
                <a:ea typeface="Nimbus Sans"/>
                <a:cs typeface="Nimbus Sans"/>
              </a:rPr>
              <a:t>06  /  PODSUMOWANIE I DALSZY ROZWÓJ</a:t>
            </a:r>
          </a:p>
        </p:txBody>
      </p:sp>
      <p:sp>
        <p:nvSpPr>
          <p:cNvPr id="2" name="text-1">
            <a:extLst>
              <a:ext uri="{FF2B5EF4-FFF2-40B4-BE49-F238E27FC236}">
                <a16:creationId xmlns:a16="http://schemas.microsoft.com/office/drawing/2014/main" id="{F5E72963-2C86-4015-9BAA-0676F16D0687}"/>
              </a:ext>
            </a:extLst>
          </p:cNvPr>
          <p:cNvSpPr>
            <a:spLocks noGrp="1"/>
          </p:cNvSpPr>
          <p:nvPr/>
        </p:nvSpPr>
        <p:spPr>
          <a:xfrm>
            <a:off x="609600" y="752475"/>
            <a:ext cx="10972800" cy="1066800"/>
          </a:xfrm>
          <a:prstGeom prst="rect">
            <a:avLst/>
          </a:prstGeom>
          <a:noFill/>
          <a:ln w="0">
            <a:noFill/>
          </a:ln>
        </p:spPr>
        <p:txBody>
          <a:bodyPr wrap="square" lIns="0" tIns="0" rIns="0" bIns="0" anchor="t">
            <a:noAutofit/>
          </a:bodyPr>
          <a:lstStyle/>
          <a:p>
            <a:pPr>
              <a:defRPr sz="3375" b="1">
                <a:solidFill>
                  <a:srgbClr val="17243A"/>
                </a:solidFill>
                <a:latin typeface="Nimbus Sans"/>
                <a:ea typeface="Nimbus Sans"/>
                <a:cs typeface="Nimbus Sans"/>
              </a:defRPr>
            </a:pPr>
            <a:r>
              <a:rPr sz="3375" b="1">
                <a:solidFill>
                  <a:srgbClr val="17243A"/>
                </a:solidFill>
                <a:latin typeface="Nimbus Sans"/>
                <a:ea typeface="Nimbus Sans"/>
                <a:cs typeface="Nimbus Sans"/>
              </a:rPr>
              <a:t>Materiały do dalszej pracy</a:t>
            </a:r>
          </a:p>
        </p:txBody>
      </p:sp>
      <p:sp>
        <p:nvSpPr>
          <p:cNvPr id="3" name="text-2">
            <a:extLst>
              <a:ext uri="{FF2B5EF4-FFF2-40B4-BE49-F238E27FC236}">
                <a16:creationId xmlns:a16="http://schemas.microsoft.com/office/drawing/2014/main" id="{E2F706BD-1B68-492F-AF33-9E6647146D5C}"/>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586779"/>
                </a:solidFill>
                <a:latin typeface="Nimbus Sans"/>
                <a:ea typeface="Nimbus Sans"/>
                <a:cs typeface="Nimbus Sans"/>
              </a:defRPr>
            </a:pPr>
            <a:r>
              <a:rPr sz="975" b="0">
                <a:solidFill>
                  <a:srgbClr val="586779"/>
                </a:solidFill>
                <a:latin typeface="Nimbus Sans"/>
                <a:ea typeface="Nimbus Sans"/>
                <a:cs typeface="Nimbus Sans"/>
              </a:rPr>
              <a:t>MARCIN ALBINIAK  /  MACHINE LEARNING</a:t>
            </a:r>
          </a:p>
        </p:txBody>
      </p:sp>
      <p:sp>
        <p:nvSpPr>
          <p:cNvPr id="4" name="text-3">
            <a:extLst>
              <a:ext uri="{FF2B5EF4-FFF2-40B4-BE49-F238E27FC236}">
                <a16:creationId xmlns:a16="http://schemas.microsoft.com/office/drawing/2014/main" id="{D131EB8A-CB2D-4FB9-B064-EF6CC43A1487}"/>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007F7A"/>
                </a:solidFill>
                <a:latin typeface="Nimbus Sans"/>
                <a:ea typeface="Nimbus Sans"/>
                <a:cs typeface="Nimbus Sans"/>
              </a:defRPr>
            </a:pPr>
            <a:r>
              <a:rPr sz="1350" b="1">
                <a:solidFill>
                  <a:srgbClr val="007F7A"/>
                </a:solidFill>
                <a:latin typeface="Nimbus Sans"/>
                <a:ea typeface="Nimbus Sans"/>
                <a:cs typeface="Nimbus Sans"/>
              </a:rPr>
              <a:t>88</a:t>
            </a:r>
          </a:p>
        </p:txBody>
      </p:sp>
      <p:sp>
        <p:nvSpPr>
          <p:cNvPr id="5" name="text-4">
            <a:extLst>
              <a:ext uri="{FF2B5EF4-FFF2-40B4-BE49-F238E27FC236}">
                <a16:creationId xmlns:a16="http://schemas.microsoft.com/office/drawing/2014/main" id="{9E41C8CF-8E43-45CB-B18B-016A4CF125E9}"/>
              </a:ext>
            </a:extLst>
          </p:cNvPr>
          <p:cNvSpPr>
            <a:spLocks noGrp="1"/>
          </p:cNvSpPr>
          <p:nvPr/>
        </p:nvSpPr>
        <p:spPr>
          <a:xfrm>
            <a:off x="609600" y="1943100"/>
            <a:ext cx="10477500" cy="32385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Program szkolenia</a:t>
            </a:r>
          </a:p>
        </p:txBody>
      </p:sp>
      <p:sp>
        <p:nvSpPr>
          <p:cNvPr id="6" name="text-5">
            <a:extLst>
              <a:ext uri="{FF2B5EF4-FFF2-40B4-BE49-F238E27FC236}">
                <a16:creationId xmlns:a16="http://schemas.microsoft.com/office/drawing/2014/main" id="{8950D112-095B-4D6B-9302-09EA029EC8EE}"/>
              </a:ext>
            </a:extLst>
          </p:cNvPr>
          <p:cNvSpPr>
            <a:spLocks noGrp="1"/>
          </p:cNvSpPr>
          <p:nvPr/>
        </p:nvSpPr>
        <p:spPr>
          <a:xfrm>
            <a:off x="609600" y="2314575"/>
            <a:ext cx="10858500" cy="419100"/>
          </a:xfrm>
          <a:prstGeom prst="rect">
            <a:avLst/>
          </a:prstGeom>
          <a:noFill/>
          <a:ln w="0">
            <a:noFill/>
          </a:ln>
        </p:spPr>
        <p:txBody>
          <a:bodyPr wrap="square" lIns="0" tIns="0" rIns="0" bIns="0" anchor="t">
            <a:noAutofit/>
          </a:bodyPr>
          <a:lstStyle/>
          <a:p>
            <a:pPr>
              <a:defRPr sz="1725" b="0">
                <a:solidFill>
                  <a:srgbClr val="007F7A"/>
                </a:solidFill>
                <a:latin typeface="Nimbus Sans"/>
                <a:ea typeface="Nimbus Sans"/>
                <a:cs typeface="Nimbus Sans"/>
              </a:defRPr>
            </a:pPr>
            <a:r>
              <a:rPr sz="1725" b="0">
                <a:solidFill>
                  <a:srgbClr val="007F7A"/>
                </a:solidFill>
                <a:latin typeface="Nimbus Sans"/>
                <a:ea typeface="Nimbus Sans"/>
                <a:cs typeface="Nimbus Sans"/>
              </a:rPr>
              <a:t>Załączony PDF Centrum Szkoleniowego Comarch</a:t>
            </a:r>
          </a:p>
        </p:txBody>
      </p:sp>
      <p:sp>
        <p:nvSpPr>
          <p:cNvPr id="7" name="text-6">
            <a:extLst>
              <a:ext uri="{FF2B5EF4-FFF2-40B4-BE49-F238E27FC236}">
                <a16:creationId xmlns:a16="http://schemas.microsoft.com/office/drawing/2014/main" id="{C2201BC3-128B-4553-AA73-8E8486E53AA7}"/>
              </a:ext>
            </a:extLst>
          </p:cNvPr>
          <p:cNvSpPr>
            <a:spLocks noGrp="1"/>
          </p:cNvSpPr>
          <p:nvPr/>
        </p:nvSpPr>
        <p:spPr>
          <a:xfrm>
            <a:off x="609600" y="2790825"/>
            <a:ext cx="10477500" cy="32385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scikit-learn User Guide</a:t>
            </a:r>
          </a:p>
        </p:txBody>
      </p:sp>
      <p:sp>
        <p:nvSpPr>
          <p:cNvPr id="8" name="text-7">
            <a:extLst>
              <a:ext uri="{FF2B5EF4-FFF2-40B4-BE49-F238E27FC236}">
                <a16:creationId xmlns:a16="http://schemas.microsoft.com/office/drawing/2014/main" id="{B9CC0397-8BEF-4B7B-B3FE-1372F4ECCD3A}"/>
              </a:ext>
            </a:extLst>
          </p:cNvPr>
          <p:cNvSpPr>
            <a:spLocks noGrp="1"/>
          </p:cNvSpPr>
          <p:nvPr/>
        </p:nvSpPr>
        <p:spPr>
          <a:xfrm>
            <a:off x="609600" y="3162300"/>
            <a:ext cx="10858500" cy="419100"/>
          </a:xfrm>
          <a:prstGeom prst="rect">
            <a:avLst/>
          </a:prstGeom>
          <a:noFill/>
          <a:ln w="0">
            <a:noFill/>
          </a:ln>
        </p:spPr>
        <p:txBody>
          <a:bodyPr wrap="square" lIns="0" tIns="0" rIns="0" bIns="0" anchor="t">
            <a:noAutofit/>
          </a:bodyPr>
          <a:lstStyle/>
          <a:p>
            <a:pPr>
              <a:defRPr sz="1725" b="0">
                <a:solidFill>
                  <a:srgbClr val="007F7A"/>
                </a:solidFill>
                <a:latin typeface="Nimbus Sans"/>
                <a:ea typeface="Nimbus Sans"/>
                <a:cs typeface="Nimbus Sans"/>
              </a:defRPr>
            </a:pPr>
            <a:r>
              <a:rPr sz="1725" b="0">
                <a:solidFill>
                  <a:srgbClr val="007F7A"/>
                </a:solidFill>
                <a:latin typeface="Nimbus Sans"/>
                <a:ea typeface="Nimbus Sans"/>
                <a:cs typeface="Nimbus Sans"/>
              </a:rPr>
              <a:t>scikit-learn.org/stable/user_guide.html</a:t>
            </a:r>
          </a:p>
        </p:txBody>
      </p:sp>
      <p:sp>
        <p:nvSpPr>
          <p:cNvPr id="9" name="text-8">
            <a:extLst>
              <a:ext uri="{FF2B5EF4-FFF2-40B4-BE49-F238E27FC236}">
                <a16:creationId xmlns:a16="http://schemas.microsoft.com/office/drawing/2014/main" id="{2EBECDF9-AB63-4844-94E4-86B3B666D5D9}"/>
              </a:ext>
            </a:extLst>
          </p:cNvPr>
          <p:cNvSpPr>
            <a:spLocks noGrp="1"/>
          </p:cNvSpPr>
          <p:nvPr/>
        </p:nvSpPr>
        <p:spPr>
          <a:xfrm>
            <a:off x="609600" y="3638550"/>
            <a:ext cx="10477500" cy="32385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Model selection and evaluation</a:t>
            </a:r>
          </a:p>
        </p:txBody>
      </p:sp>
      <p:sp>
        <p:nvSpPr>
          <p:cNvPr id="10" name="text-9">
            <a:extLst>
              <a:ext uri="{FF2B5EF4-FFF2-40B4-BE49-F238E27FC236}">
                <a16:creationId xmlns:a16="http://schemas.microsoft.com/office/drawing/2014/main" id="{B22F22A2-1A95-4974-B1A9-C5AED60D91EF}"/>
              </a:ext>
            </a:extLst>
          </p:cNvPr>
          <p:cNvSpPr>
            <a:spLocks noGrp="1"/>
          </p:cNvSpPr>
          <p:nvPr/>
        </p:nvSpPr>
        <p:spPr>
          <a:xfrm>
            <a:off x="609600" y="4010025"/>
            <a:ext cx="10858500" cy="419100"/>
          </a:xfrm>
          <a:prstGeom prst="rect">
            <a:avLst/>
          </a:prstGeom>
          <a:noFill/>
          <a:ln w="0">
            <a:noFill/>
          </a:ln>
        </p:spPr>
        <p:txBody>
          <a:bodyPr wrap="square" lIns="0" tIns="0" rIns="0" bIns="0" anchor="t">
            <a:noAutofit/>
          </a:bodyPr>
          <a:lstStyle/>
          <a:p>
            <a:pPr>
              <a:defRPr sz="1725" b="0">
                <a:solidFill>
                  <a:srgbClr val="007F7A"/>
                </a:solidFill>
                <a:latin typeface="Nimbus Sans"/>
                <a:ea typeface="Nimbus Sans"/>
                <a:cs typeface="Nimbus Sans"/>
              </a:defRPr>
            </a:pPr>
            <a:r>
              <a:rPr sz="1725" b="0">
                <a:solidFill>
                  <a:srgbClr val="007F7A"/>
                </a:solidFill>
                <a:latin typeface="Nimbus Sans"/>
                <a:ea typeface="Nimbus Sans"/>
                <a:cs typeface="Nimbus Sans"/>
              </a:rPr>
              <a:t>scikit-learn.org/stable/model_selection.html</a:t>
            </a:r>
          </a:p>
        </p:txBody>
      </p:sp>
      <p:sp>
        <p:nvSpPr>
          <p:cNvPr id="11" name="text-10">
            <a:extLst>
              <a:ext uri="{FF2B5EF4-FFF2-40B4-BE49-F238E27FC236}">
                <a16:creationId xmlns:a16="http://schemas.microsoft.com/office/drawing/2014/main" id="{0C2FD2DD-50B5-424F-82E7-1149E62B626F}"/>
              </a:ext>
            </a:extLst>
          </p:cNvPr>
          <p:cNvSpPr>
            <a:spLocks noGrp="1"/>
          </p:cNvSpPr>
          <p:nvPr/>
        </p:nvSpPr>
        <p:spPr>
          <a:xfrm>
            <a:off x="609600" y="4486275"/>
            <a:ext cx="10477500" cy="32385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DEAP: operatory ewolucyjne</a:t>
            </a:r>
          </a:p>
        </p:txBody>
      </p:sp>
      <p:sp>
        <p:nvSpPr>
          <p:cNvPr id="12" name="text-11">
            <a:extLst>
              <a:ext uri="{FF2B5EF4-FFF2-40B4-BE49-F238E27FC236}">
                <a16:creationId xmlns:a16="http://schemas.microsoft.com/office/drawing/2014/main" id="{646EE61B-03BF-49C6-B925-14FF34C8E973}"/>
              </a:ext>
            </a:extLst>
          </p:cNvPr>
          <p:cNvSpPr>
            <a:spLocks noGrp="1"/>
          </p:cNvSpPr>
          <p:nvPr/>
        </p:nvSpPr>
        <p:spPr>
          <a:xfrm>
            <a:off x="609600" y="4857750"/>
            <a:ext cx="10858500" cy="419100"/>
          </a:xfrm>
          <a:prstGeom prst="rect">
            <a:avLst/>
          </a:prstGeom>
          <a:noFill/>
          <a:ln w="0">
            <a:noFill/>
          </a:ln>
        </p:spPr>
        <p:txBody>
          <a:bodyPr wrap="square" lIns="0" tIns="0" rIns="0" bIns="0" anchor="t">
            <a:noAutofit/>
          </a:bodyPr>
          <a:lstStyle/>
          <a:p>
            <a:pPr>
              <a:defRPr sz="1725" b="0">
                <a:solidFill>
                  <a:srgbClr val="007F7A"/>
                </a:solidFill>
                <a:latin typeface="Nimbus Sans"/>
                <a:ea typeface="Nimbus Sans"/>
                <a:cs typeface="Nimbus Sans"/>
              </a:defRPr>
            </a:pPr>
            <a:r>
              <a:rPr sz="1725" b="0">
                <a:solidFill>
                  <a:srgbClr val="007F7A"/>
                </a:solidFill>
                <a:latin typeface="Nimbus Sans"/>
                <a:ea typeface="Nimbus Sans"/>
                <a:cs typeface="Nimbus Sans"/>
              </a:rPr>
              <a:t>deap.readthedocs.io/en/master/tutorials/basic/part2.html</a:t>
            </a:r>
          </a:p>
        </p:txBody>
      </p:sp>
      <p:sp>
        <p:nvSpPr>
          <p:cNvPr id="13" name="text-12">
            <a:extLst>
              <a:ext uri="{FF2B5EF4-FFF2-40B4-BE49-F238E27FC236}">
                <a16:creationId xmlns:a16="http://schemas.microsoft.com/office/drawing/2014/main" id="{FD0B6494-5809-47B3-A2C8-A841F034EDBF}"/>
              </a:ext>
            </a:extLst>
          </p:cNvPr>
          <p:cNvSpPr>
            <a:spLocks noGrp="1"/>
          </p:cNvSpPr>
          <p:nvPr/>
        </p:nvSpPr>
        <p:spPr>
          <a:xfrm>
            <a:off x="609600" y="5334000"/>
            <a:ext cx="10477500" cy="323850"/>
          </a:xfrm>
          <a:prstGeom prst="rect">
            <a:avLst/>
          </a:prstGeom>
          <a:noFill/>
          <a:ln w="0">
            <a:noFill/>
          </a:ln>
        </p:spPr>
        <p:txBody>
          <a:bodyPr wrap="square" lIns="0" tIns="0" rIns="0" bIns="0" anchor="t">
            <a:noAutofit/>
          </a:bodyPr>
          <a:lstStyle/>
          <a:p>
            <a:pPr>
              <a:defRPr sz="2025" b="1">
                <a:solidFill>
                  <a:srgbClr val="17243A"/>
                </a:solidFill>
                <a:latin typeface="Nimbus Sans"/>
                <a:ea typeface="Nimbus Sans"/>
                <a:cs typeface="Nimbus Sans"/>
              </a:defRPr>
            </a:pPr>
            <a:r>
              <a:rPr sz="2025" b="1">
                <a:solidFill>
                  <a:srgbClr val="17243A"/>
                </a:solidFill>
                <a:latin typeface="Nimbus Sans"/>
                <a:ea typeface="Nimbus Sans"/>
                <a:cs typeface="Nimbus Sans"/>
              </a:rPr>
              <a:t>scikit-fuzzy: systemy sterowania</a:t>
            </a:r>
          </a:p>
        </p:txBody>
      </p:sp>
      <p:sp>
        <p:nvSpPr>
          <p:cNvPr id="14" name="text-13">
            <a:extLst>
              <a:ext uri="{FF2B5EF4-FFF2-40B4-BE49-F238E27FC236}">
                <a16:creationId xmlns:a16="http://schemas.microsoft.com/office/drawing/2014/main" id="{216E8D7E-2837-4944-B7E2-846B9EB093E7}"/>
              </a:ext>
            </a:extLst>
          </p:cNvPr>
          <p:cNvSpPr>
            <a:spLocks noGrp="1"/>
          </p:cNvSpPr>
          <p:nvPr/>
        </p:nvSpPr>
        <p:spPr>
          <a:xfrm>
            <a:off x="609600" y="5705475"/>
            <a:ext cx="10858500" cy="419100"/>
          </a:xfrm>
          <a:prstGeom prst="rect">
            <a:avLst/>
          </a:prstGeom>
          <a:noFill/>
          <a:ln w="0">
            <a:noFill/>
          </a:ln>
        </p:spPr>
        <p:txBody>
          <a:bodyPr wrap="square" lIns="0" tIns="0" rIns="0" bIns="0" anchor="t">
            <a:noAutofit/>
          </a:bodyPr>
          <a:lstStyle/>
          <a:p>
            <a:pPr>
              <a:defRPr sz="1725" b="0">
                <a:solidFill>
                  <a:srgbClr val="007F7A"/>
                </a:solidFill>
                <a:latin typeface="Nimbus Sans"/>
                <a:ea typeface="Nimbus Sans"/>
                <a:cs typeface="Nimbus Sans"/>
              </a:defRPr>
            </a:pPr>
            <a:r>
              <a:rPr sz="1725" b="0">
                <a:solidFill>
                  <a:srgbClr val="007F7A"/>
                </a:solidFill>
                <a:latin typeface="Nimbus Sans"/>
                <a:ea typeface="Nimbus Sans"/>
                <a:cs typeface="Nimbus Sans"/>
              </a:rPr>
              <a:t>scikit-fuzzy.readthedocs.io/en/latest/auto_examples/</a:t>
            </a:r>
          </a:p>
        </p:txBody>
      </p:sp>
    </p:spTree>
    <p:extLst>
      <p:ext uri="{BB962C8B-B14F-4D97-AF65-F5344CB8AC3E}">
        <p14:creationId xmlns:p14="http://schemas.microsoft.com/office/powerpoint/2010/main" val="12411461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pic>
        <p:nvPicPr>
          <p:cNvPr id="7" name="Obraz 6"/>
          <p:cNvPicPr>
            <a:picLocks noChangeAspect="1"/>
          </p:cNvPicPr>
          <p:nvPr/>
        </p:nvPicPr>
        <p:blipFill>
          <a:blip r:embed="rId3"/>
          <a:srcRect t="27" b="27"/>
          <a:stretch>
            <a:fillRect/>
          </a:stretch>
        </p:blipFill>
        <p:spPr>
          <a:xfrm>
            <a:off x="0" y="0"/>
            <a:ext cx="12192000" cy="6858000"/>
          </a:xfrm>
          <a:prstGeom prst="rect">
            <a:avLst/>
          </a:prstGeom>
        </p:spPr>
      </p:pic>
      <p:sp>
        <p:nvSpPr>
          <p:cNvPr id="2" name="text-0">
            <a:extLst>
              <a:ext uri="{FF2B5EF4-FFF2-40B4-BE49-F238E27FC236}">
                <a16:creationId xmlns:a16="http://schemas.microsoft.com/office/drawing/2014/main" id="{D5A64FA4-3BB2-486D-8258-86249FFF19C6}"/>
              </a:ext>
            </a:extLst>
          </p:cNvPr>
          <p:cNvSpPr>
            <a:spLocks noGrp="1"/>
          </p:cNvSpPr>
          <p:nvPr/>
        </p:nvSpPr>
        <p:spPr>
          <a:xfrm>
            <a:off x="609600" y="1657350"/>
            <a:ext cx="10096500" cy="2095500"/>
          </a:xfrm>
          <a:prstGeom prst="rect">
            <a:avLst/>
          </a:prstGeom>
          <a:noFill/>
          <a:ln w="0">
            <a:noFill/>
          </a:ln>
        </p:spPr>
        <p:txBody>
          <a:bodyPr wrap="square" lIns="0" tIns="0" rIns="0" bIns="0" anchor="t">
            <a:noAutofit/>
          </a:bodyPr>
          <a:lstStyle/>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Jaki eksperyment</a:t>
            </a:r>
          </a:p>
          <a:p>
            <a:pPr>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zrobisz jako pierwszy?</a:t>
            </a:r>
          </a:p>
        </p:txBody>
      </p:sp>
      <p:sp>
        <p:nvSpPr>
          <p:cNvPr id="3" name="text-1">
            <a:extLst>
              <a:ext uri="{FF2B5EF4-FFF2-40B4-BE49-F238E27FC236}">
                <a16:creationId xmlns:a16="http://schemas.microsoft.com/office/drawing/2014/main" id="{097DB819-CD18-4575-B160-BA406DD4B51F}"/>
              </a:ext>
            </a:extLst>
          </p:cNvPr>
          <p:cNvSpPr>
            <a:spLocks noGrp="1"/>
          </p:cNvSpPr>
          <p:nvPr/>
        </p:nvSpPr>
        <p:spPr>
          <a:xfrm>
            <a:off x="647700" y="4114800"/>
            <a:ext cx="6858000" cy="1104900"/>
          </a:xfrm>
          <a:prstGeom prst="rect">
            <a:avLst/>
          </a:prstGeom>
          <a:noFill/>
          <a:ln w="0">
            <a:noFill/>
          </a:ln>
        </p:spPr>
        <p:txBody>
          <a:bodyPr wrap="square" lIns="0" tIns="0" rIns="0" bIns="0" anchor="t">
            <a:noAutofit/>
          </a:bodyPr>
          <a:lstStyle/>
          <a:p>
            <a:pPr>
              <a:defRPr sz="2175" b="0">
                <a:solidFill>
                  <a:srgbClr val="D7E3E8"/>
                </a:solidFill>
                <a:latin typeface="Nimbus Sans"/>
                <a:ea typeface="Nimbus Sans"/>
                <a:cs typeface="Nimbus Sans"/>
              </a:defRPr>
            </a:pPr>
            <a:r>
              <a:rPr sz="2175" b="0">
                <a:solidFill>
                  <a:srgbClr val="D7E3E8"/>
                </a:solidFill>
                <a:latin typeface="Nimbus Sans"/>
                <a:ea typeface="Nimbus Sans"/>
                <a:cs typeface="Nimbus Sans"/>
              </a:rPr>
              <a:t>Jedno pytanie. Jeden punkt odniesienia.</a:t>
            </a:r>
          </a:p>
          <a:p>
            <a:pPr>
              <a:defRPr sz="2175" b="0">
                <a:solidFill>
                  <a:srgbClr val="D7E3E8"/>
                </a:solidFill>
                <a:latin typeface="Nimbus Sans"/>
                <a:ea typeface="Nimbus Sans"/>
                <a:cs typeface="Nimbus Sans"/>
              </a:defRPr>
            </a:pPr>
            <a:r>
              <a:rPr sz="2175" b="0">
                <a:solidFill>
                  <a:srgbClr val="D7E3E8"/>
                </a:solidFill>
                <a:latin typeface="Nimbus Sans"/>
                <a:ea typeface="Nimbus Sans"/>
                <a:cs typeface="Nimbus Sans"/>
              </a:rPr>
              <a:t>Wynik, który można odtworzyć.</a:t>
            </a:r>
          </a:p>
        </p:txBody>
      </p:sp>
      <p:sp>
        <p:nvSpPr>
          <p:cNvPr id="4" name="text-2">
            <a:extLst>
              <a:ext uri="{FF2B5EF4-FFF2-40B4-BE49-F238E27FC236}">
                <a16:creationId xmlns:a16="http://schemas.microsoft.com/office/drawing/2014/main" id="{F9FE6CBD-0D24-49F0-B3A7-964F9F6DCCD7}"/>
              </a:ext>
            </a:extLst>
          </p:cNvPr>
          <p:cNvSpPr>
            <a:spLocks noGrp="1"/>
          </p:cNvSpPr>
          <p:nvPr/>
        </p:nvSpPr>
        <p:spPr>
          <a:xfrm>
            <a:off x="647700" y="5705475"/>
            <a:ext cx="7620000" cy="381000"/>
          </a:xfrm>
          <a:prstGeom prst="rect">
            <a:avLst/>
          </a:prstGeom>
          <a:noFill/>
          <a:ln w="0">
            <a:noFill/>
          </a:ln>
        </p:spPr>
        <p:txBody>
          <a:bodyPr wrap="square" lIns="0" tIns="0" rIns="0" bIns="0" anchor="t">
            <a:noAutofit/>
          </a:bodyPr>
          <a:lstStyle/>
          <a:p>
            <a:pPr>
              <a:defRPr sz="1875" b="1">
                <a:solidFill>
                  <a:srgbClr val="62DCCB"/>
                </a:solidFill>
                <a:latin typeface="Nimbus Sans"/>
                <a:ea typeface="Nimbus Sans"/>
                <a:cs typeface="Nimbus Sans"/>
              </a:defRPr>
            </a:pPr>
            <a:r>
              <a:rPr sz="1875" b="1">
                <a:solidFill>
                  <a:srgbClr val="62DCCB"/>
                </a:solidFill>
                <a:latin typeface="Nimbus Sans"/>
                <a:ea typeface="Nimbus Sans"/>
                <a:cs typeface="Nimbus Sans"/>
              </a:rPr>
              <a:t>Marcin Albiniak, Ph.D.</a:t>
            </a:r>
          </a:p>
        </p:txBody>
      </p:sp>
      <p:sp>
        <p:nvSpPr>
          <p:cNvPr id="5" name="text-3">
            <a:extLst>
              <a:ext uri="{FF2B5EF4-FFF2-40B4-BE49-F238E27FC236}">
                <a16:creationId xmlns:a16="http://schemas.microsoft.com/office/drawing/2014/main" id="{CD343D16-D0BC-4FB4-92AB-63CCB611E7FA}"/>
              </a:ext>
            </a:extLst>
          </p:cNvPr>
          <p:cNvSpPr>
            <a:spLocks noGrp="1"/>
          </p:cNvSpPr>
          <p:nvPr/>
        </p:nvSpPr>
        <p:spPr>
          <a:xfrm>
            <a:off x="609600" y="6448425"/>
            <a:ext cx="9525000" cy="190500"/>
          </a:xfrm>
          <a:prstGeom prst="rect">
            <a:avLst/>
          </a:prstGeom>
          <a:noFill/>
          <a:ln w="0">
            <a:noFill/>
          </a:ln>
        </p:spPr>
        <p:txBody>
          <a:bodyPr wrap="square" lIns="0" tIns="0" rIns="0" bIns="0" anchor="t">
            <a:noAutofit/>
          </a:bodyPr>
          <a:lstStyle/>
          <a:p>
            <a:pPr>
              <a:defRPr sz="975" b="0">
                <a:solidFill>
                  <a:srgbClr val="A7B8C6"/>
                </a:solidFill>
                <a:latin typeface="Nimbus Sans"/>
                <a:ea typeface="Nimbus Sans"/>
                <a:cs typeface="Nimbus Sans"/>
              </a:defRPr>
            </a:pPr>
            <a:r>
              <a:rPr sz="975" b="0">
                <a:solidFill>
                  <a:srgbClr val="A7B8C6"/>
                </a:solidFill>
                <a:latin typeface="Nimbus Sans"/>
                <a:ea typeface="Nimbus Sans"/>
                <a:cs typeface="Nimbus Sans"/>
              </a:rPr>
              <a:t>MARCIN ALBINIAK  /  MACHINE LEARNING</a:t>
            </a:r>
          </a:p>
        </p:txBody>
      </p:sp>
      <p:sp>
        <p:nvSpPr>
          <p:cNvPr id="6" name="text-4">
            <a:extLst>
              <a:ext uri="{FF2B5EF4-FFF2-40B4-BE49-F238E27FC236}">
                <a16:creationId xmlns:a16="http://schemas.microsoft.com/office/drawing/2014/main" id="{6FF83CF8-3E18-4A39-A8D8-CAEC6918CF20}"/>
              </a:ext>
            </a:extLst>
          </p:cNvPr>
          <p:cNvSpPr>
            <a:spLocks noGrp="1"/>
          </p:cNvSpPr>
          <p:nvPr/>
        </p:nvSpPr>
        <p:spPr>
          <a:xfrm>
            <a:off x="11144250" y="6419850"/>
            <a:ext cx="438150" cy="228600"/>
          </a:xfrm>
          <a:prstGeom prst="rect">
            <a:avLst/>
          </a:prstGeom>
          <a:noFill/>
          <a:ln w="0">
            <a:noFill/>
          </a:ln>
        </p:spPr>
        <p:txBody>
          <a:bodyPr wrap="square" lIns="0" tIns="0" rIns="0" bIns="0" anchor="t">
            <a:noAutofit/>
          </a:bodyPr>
          <a:lstStyle/>
          <a:p>
            <a:pPr>
              <a:defRPr sz="1350" b="1">
                <a:solidFill>
                  <a:srgbClr val="62DCCB"/>
                </a:solidFill>
                <a:latin typeface="Nimbus Sans"/>
                <a:ea typeface="Nimbus Sans"/>
                <a:cs typeface="Nimbus Sans"/>
              </a:defRPr>
            </a:pPr>
            <a:r>
              <a:rPr sz="1350" b="1">
                <a:solidFill>
                  <a:srgbClr val="62DCCB"/>
                </a:solidFill>
                <a:latin typeface="Nimbus Sans"/>
                <a:ea typeface="Nimbus Sans"/>
                <a:cs typeface="Nimbus Sans"/>
              </a:rPr>
              <a:t>89</a:t>
            </a:r>
          </a:p>
        </p:txBody>
      </p:sp>
    </p:spTree>
    <p:extLst>
      <p:ext uri="{BB962C8B-B14F-4D97-AF65-F5344CB8AC3E}">
        <p14:creationId xmlns:p14="http://schemas.microsoft.com/office/powerpoint/2010/main" val="18662001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Pismo odręczne 1">
                <a:extLst>
                  <a:ext uri="{FF2B5EF4-FFF2-40B4-BE49-F238E27FC236}">
                    <a16:creationId xmlns:a16="http://schemas.microsoft.com/office/drawing/2014/main" id="{BAA93470-C948-9A63-A263-2E88CD82D40E}"/>
                  </a:ext>
                </a:extLst>
              </p14:cNvPr>
              <p14:cNvContentPartPr/>
              <p14:nvPr/>
            </p14:nvContentPartPr>
            <p14:xfrm>
              <a:off x="1873080" y="0"/>
              <a:ext cx="10312920" cy="5861520"/>
            </p14:xfrm>
          </p:contentPart>
        </mc:Choice>
        <mc:Fallback xmlns="">
          <p:pic>
            <p:nvPicPr>
              <p:cNvPr id="2" name="Pismo odręczne 1">
                <a:extLst>
                  <a:ext uri="{FF2B5EF4-FFF2-40B4-BE49-F238E27FC236}">
                    <a16:creationId xmlns:a16="http://schemas.microsoft.com/office/drawing/2014/main" id="{BAA93470-C948-9A63-A263-2E88CD82D40E}"/>
                  </a:ext>
                </a:extLst>
              </p:cNvPr>
              <p:cNvPicPr/>
              <p:nvPr/>
            </p:nvPicPr>
            <p:blipFill>
              <a:blip r:embed="rId3"/>
              <a:stretch>
                <a:fillRect/>
              </a:stretch>
            </p:blipFill>
            <p:spPr>
              <a:xfrm>
                <a:off x="1863720" y="-9360"/>
                <a:ext cx="10331640" cy="5880240"/>
              </a:xfrm>
              <a:prstGeom prst="rect">
                <a:avLst/>
              </a:prstGeom>
            </p:spPr>
          </p:pic>
        </mc:Fallback>
      </mc:AlternateContent>
    </p:spTree>
    <p:extLst>
      <p:ext uri="{BB962C8B-B14F-4D97-AF65-F5344CB8AC3E}">
        <p14:creationId xmlns:p14="http://schemas.microsoft.com/office/powerpoint/2010/main" val="8096750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Pismo odręczne 1">
                <a:extLst>
                  <a:ext uri="{FF2B5EF4-FFF2-40B4-BE49-F238E27FC236}">
                    <a16:creationId xmlns:a16="http://schemas.microsoft.com/office/drawing/2014/main" id="{FD545785-F599-4267-6778-9A3F4D31A704}"/>
                  </a:ext>
                </a:extLst>
              </p14:cNvPr>
              <p14:cNvContentPartPr/>
              <p14:nvPr/>
            </p14:nvContentPartPr>
            <p14:xfrm>
              <a:off x="3422520" y="768240"/>
              <a:ext cx="7906320" cy="3404160"/>
            </p14:xfrm>
          </p:contentPart>
        </mc:Choice>
        <mc:Fallback xmlns="">
          <p:pic>
            <p:nvPicPr>
              <p:cNvPr id="2" name="Pismo odręczne 1">
                <a:extLst>
                  <a:ext uri="{FF2B5EF4-FFF2-40B4-BE49-F238E27FC236}">
                    <a16:creationId xmlns:a16="http://schemas.microsoft.com/office/drawing/2014/main" id="{FD545785-F599-4267-6778-9A3F4D31A704}"/>
                  </a:ext>
                </a:extLst>
              </p:cNvPr>
              <p:cNvPicPr/>
              <p:nvPr/>
            </p:nvPicPr>
            <p:blipFill>
              <a:blip r:embed="rId3"/>
              <a:stretch>
                <a:fillRect/>
              </a:stretch>
            </p:blipFill>
            <p:spPr>
              <a:xfrm>
                <a:off x="3413160" y="758880"/>
                <a:ext cx="7925040" cy="3422880"/>
              </a:xfrm>
              <a:prstGeom prst="rect">
                <a:avLst/>
              </a:prstGeom>
            </p:spPr>
          </p:pic>
        </mc:Fallback>
      </mc:AlternateContent>
    </p:spTree>
    <p:extLst>
      <p:ext uri="{BB962C8B-B14F-4D97-AF65-F5344CB8AC3E}">
        <p14:creationId xmlns:p14="http://schemas.microsoft.com/office/powerpoint/2010/main" val="10721298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Pismo odręczne 1">
                <a:extLst>
                  <a:ext uri="{FF2B5EF4-FFF2-40B4-BE49-F238E27FC236}">
                    <a16:creationId xmlns:a16="http://schemas.microsoft.com/office/drawing/2014/main" id="{C4A7B948-26AC-9BEB-BEE2-02642A7F7914}"/>
                  </a:ext>
                </a:extLst>
              </p14:cNvPr>
              <p14:cNvContentPartPr/>
              <p14:nvPr/>
            </p14:nvContentPartPr>
            <p14:xfrm>
              <a:off x="495360" y="63360"/>
              <a:ext cx="11550960" cy="6325200"/>
            </p14:xfrm>
          </p:contentPart>
        </mc:Choice>
        <mc:Fallback xmlns="">
          <p:pic>
            <p:nvPicPr>
              <p:cNvPr id="2" name="Pismo odręczne 1">
                <a:extLst>
                  <a:ext uri="{FF2B5EF4-FFF2-40B4-BE49-F238E27FC236}">
                    <a16:creationId xmlns:a16="http://schemas.microsoft.com/office/drawing/2014/main" id="{C4A7B948-26AC-9BEB-BEE2-02642A7F7914}"/>
                  </a:ext>
                </a:extLst>
              </p:cNvPr>
              <p:cNvPicPr/>
              <p:nvPr/>
            </p:nvPicPr>
            <p:blipFill>
              <a:blip r:embed="rId3"/>
              <a:stretch>
                <a:fillRect/>
              </a:stretch>
            </p:blipFill>
            <p:spPr>
              <a:xfrm>
                <a:off x="486000" y="54000"/>
                <a:ext cx="11569680" cy="6343920"/>
              </a:xfrm>
              <a:prstGeom prst="rect">
                <a:avLst/>
              </a:prstGeom>
            </p:spPr>
          </p:pic>
        </mc:Fallback>
      </mc:AlternateContent>
    </p:spTree>
    <p:extLst>
      <p:ext uri="{BB962C8B-B14F-4D97-AF65-F5344CB8AC3E}">
        <p14:creationId xmlns:p14="http://schemas.microsoft.com/office/powerpoint/2010/main" val="27783000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9459</Words>
  <Application>Microsoft Office PowerPoint</Application>
  <DocSecurity>0</DocSecurity>
  <PresentationFormat>Panoramiczny</PresentationFormat>
  <Paragraphs>1412</Paragraphs>
  <Slides>92</Slides>
  <Notes>89</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92</vt:i4>
      </vt:variant>
    </vt:vector>
  </HeadingPairs>
  <TitlesOfParts>
    <vt:vector size="96" baseType="lpstr">
      <vt:lpstr>Aptos</vt:lpstr>
      <vt:lpstr>DejaVu Sans Mono</vt:lpstr>
      <vt:lpstr>Nimbus Sans</vt:lpstr>
      <vt:lpstr>ChatGPT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Marcin Albiniak</cp:lastModifiedBy>
  <cp:revision>3</cp:revision>
  <dcterms:created xsi:type="dcterms:W3CDTF">2026-10-05T06:51:59Z</dcterms:created>
  <dcterms:modified xsi:type="dcterms:W3CDTF">2026-10-07T13:52:09Z</dcterms:modified>
</cp:coreProperties>
</file>